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Balsamiq Sans Bold" charset="1" panose="02000603000000000000"/>
      <p:regular r:id="rId25"/>
    </p:embeddedFont>
    <p:embeddedFont>
      <p:font typeface="Sniglet" charset="1" panose="04070505030100020000"/>
      <p:regular r:id="rId26"/>
    </p:embeddedFont>
    <p:embeddedFont>
      <p:font typeface="Jua" charset="1" panose="0000000000000000000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svg" Type="http://schemas.openxmlformats.org/officeDocument/2006/relationships/image"/><Relationship Id="rId11" Target="../media/image25.png" Type="http://schemas.openxmlformats.org/officeDocument/2006/relationships/image"/><Relationship Id="rId12" Target="../media/image26.svg" Type="http://schemas.openxmlformats.org/officeDocument/2006/relationships/image"/><Relationship Id="rId2" Target="../media/image16.jpeg" Type="http://schemas.openxmlformats.org/officeDocument/2006/relationships/image"/><Relationship Id="rId3" Target="../media/image17.png" Type="http://schemas.openxmlformats.org/officeDocument/2006/relationships/image"/><Relationship Id="rId4" Target="../media/image18.svg" Type="http://schemas.openxmlformats.org/officeDocument/2006/relationships/image"/><Relationship Id="rId5" Target="../media/image19.png" Type="http://schemas.openxmlformats.org/officeDocument/2006/relationships/image"/><Relationship Id="rId6" Target="../media/image20.svg" Type="http://schemas.openxmlformats.org/officeDocument/2006/relationships/image"/><Relationship Id="rId7" Target="../media/image21.png" Type="http://schemas.openxmlformats.org/officeDocument/2006/relationships/image"/><Relationship Id="rId8" Target="../media/image22.svg" Type="http://schemas.openxmlformats.org/officeDocument/2006/relationships/image"/><Relationship Id="rId9" Target="../media/image2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svg" Type="http://schemas.openxmlformats.org/officeDocument/2006/relationships/image"/><Relationship Id="rId2" Target="../media/image16.jpeg" Type="http://schemas.openxmlformats.org/officeDocument/2006/relationships/image"/><Relationship Id="rId3" Target="../media/image17.png" Type="http://schemas.openxmlformats.org/officeDocument/2006/relationships/image"/><Relationship Id="rId4" Target="../media/image18.svg" Type="http://schemas.openxmlformats.org/officeDocument/2006/relationships/image"/><Relationship Id="rId5" Target="../media/image27.png" Type="http://schemas.openxmlformats.org/officeDocument/2006/relationships/image"/><Relationship Id="rId6" Target="../media/image28.svg" Type="http://schemas.openxmlformats.org/officeDocument/2006/relationships/image"/><Relationship Id="rId7" Target="../media/image29.png" Type="http://schemas.openxmlformats.org/officeDocument/2006/relationships/image"/><Relationship Id="rId8" Target="../media/image30.svg" Type="http://schemas.openxmlformats.org/officeDocument/2006/relationships/image"/><Relationship Id="rId9" Target="../media/image2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6.svg" Type="http://schemas.openxmlformats.org/officeDocument/2006/relationships/image"/><Relationship Id="rId11" Target="../media/image37.png" Type="http://schemas.openxmlformats.org/officeDocument/2006/relationships/image"/><Relationship Id="rId12" Target="../media/image38.svg" Type="http://schemas.openxmlformats.org/officeDocument/2006/relationships/image"/><Relationship Id="rId13" Target="../media/image25.png" Type="http://schemas.openxmlformats.org/officeDocument/2006/relationships/image"/><Relationship Id="rId14" Target="../media/image26.svg" Type="http://schemas.openxmlformats.org/officeDocument/2006/relationships/image"/><Relationship Id="rId2" Target="../media/image1.jpeg" Type="http://schemas.openxmlformats.org/officeDocument/2006/relationships/image"/><Relationship Id="rId3" Target="../media/image31.png" Type="http://schemas.openxmlformats.org/officeDocument/2006/relationships/image"/><Relationship Id="rId4" Target="../media/image32.svg" Type="http://schemas.openxmlformats.org/officeDocument/2006/relationships/image"/><Relationship Id="rId5" Target="../media/image33.png" Type="http://schemas.openxmlformats.org/officeDocument/2006/relationships/image"/><Relationship Id="rId6" Target="../media/image34.svg" Type="http://schemas.openxmlformats.org/officeDocument/2006/relationships/image"/><Relationship Id="rId7" Target="../media/image14.png" Type="http://schemas.openxmlformats.org/officeDocument/2006/relationships/image"/><Relationship Id="rId8" Target="../media/image15.svg" Type="http://schemas.openxmlformats.org/officeDocument/2006/relationships/image"/><Relationship Id="rId9" Target="../media/image3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9.png" Type="http://schemas.openxmlformats.org/officeDocument/2006/relationships/image"/><Relationship Id="rId4" Target="../media/image40.svg" Type="http://schemas.openxmlformats.org/officeDocument/2006/relationships/image"/><Relationship Id="rId5" Target="../media/image31.png" Type="http://schemas.openxmlformats.org/officeDocument/2006/relationships/image"/><Relationship Id="rId6" Target="../media/image32.svg" Type="http://schemas.openxmlformats.org/officeDocument/2006/relationships/image"/><Relationship Id="rId7" Target="../media/image25.png" Type="http://schemas.openxmlformats.org/officeDocument/2006/relationships/image"/><Relationship Id="rId8" Target="../media/image2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4.svg" Type="http://schemas.openxmlformats.org/officeDocument/2006/relationships/image"/><Relationship Id="rId11" Target="../media/image45.png" Type="http://schemas.openxmlformats.org/officeDocument/2006/relationships/image"/><Relationship Id="rId12" Target="../media/image46.svg" Type="http://schemas.openxmlformats.org/officeDocument/2006/relationships/image"/><Relationship Id="rId13" Target="../media/image47.png" Type="http://schemas.openxmlformats.org/officeDocument/2006/relationships/image"/><Relationship Id="rId14" Target="../media/image48.svg" Type="http://schemas.openxmlformats.org/officeDocument/2006/relationships/image"/><Relationship Id="rId15" Target="../media/image49.png" Type="http://schemas.openxmlformats.org/officeDocument/2006/relationships/image"/><Relationship Id="rId16" Target="../media/image50.svg" Type="http://schemas.openxmlformats.org/officeDocument/2006/relationships/image"/><Relationship Id="rId17" Target="../media/image51.png" Type="http://schemas.openxmlformats.org/officeDocument/2006/relationships/image"/><Relationship Id="rId18" Target="../media/image52.svg" Type="http://schemas.openxmlformats.org/officeDocument/2006/relationships/image"/><Relationship Id="rId2" Target="../media/image1.jpeg" Type="http://schemas.openxmlformats.org/officeDocument/2006/relationships/image"/><Relationship Id="rId3" Target="../media/image39.png" Type="http://schemas.openxmlformats.org/officeDocument/2006/relationships/image"/><Relationship Id="rId4" Target="../media/image40.svg" Type="http://schemas.openxmlformats.org/officeDocument/2006/relationships/image"/><Relationship Id="rId5" Target="../media/image25.png" Type="http://schemas.openxmlformats.org/officeDocument/2006/relationships/image"/><Relationship Id="rId6" Target="../media/image26.svg" Type="http://schemas.openxmlformats.org/officeDocument/2006/relationships/image"/><Relationship Id="rId7" Target="../media/image41.png" Type="http://schemas.openxmlformats.org/officeDocument/2006/relationships/image"/><Relationship Id="rId8" Target="../media/image42.svg" Type="http://schemas.openxmlformats.org/officeDocument/2006/relationships/image"/><Relationship Id="rId9" Target="../media/image4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3.png" Type="http://schemas.openxmlformats.org/officeDocument/2006/relationships/image"/><Relationship Id="rId4" Target="../media/image34.sv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media/image25.png" Type="http://schemas.openxmlformats.org/officeDocument/2006/relationships/image"/><Relationship Id="rId8" Target="../media/image2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Relationship Id="rId3" Target="../media/image53.png" Type="http://schemas.openxmlformats.org/officeDocument/2006/relationships/image"/><Relationship Id="rId4" Target="../media/image54.svg" Type="http://schemas.openxmlformats.org/officeDocument/2006/relationships/image"/><Relationship Id="rId5" Target="../media/image55.png" Type="http://schemas.openxmlformats.org/officeDocument/2006/relationships/image"/><Relationship Id="rId6" Target="../media/image56.svg" Type="http://schemas.openxmlformats.org/officeDocument/2006/relationships/image"/><Relationship Id="rId7" Target="../media/image25.png" Type="http://schemas.openxmlformats.org/officeDocument/2006/relationships/image"/><Relationship Id="rId8" Target="../media/image2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Relationship Id="rId3" Target="../media/image25.png" Type="http://schemas.openxmlformats.org/officeDocument/2006/relationships/image"/><Relationship Id="rId4" Target="../media/image26.svg" Type="http://schemas.openxmlformats.org/officeDocument/2006/relationships/image"/><Relationship Id="rId5" Target="../media/image57.png" Type="http://schemas.openxmlformats.org/officeDocument/2006/relationships/image"/><Relationship Id="rId6" Target="../media/image5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59.png" Type="http://schemas.openxmlformats.org/officeDocument/2006/relationships/image"/><Relationship Id="rId6" Target="../media/image60.png" Type="http://schemas.openxmlformats.org/officeDocument/2006/relationships/image"/><Relationship Id="rId7" Target="../media/image61.svg" Type="http://schemas.openxmlformats.org/officeDocument/2006/relationships/image"/><Relationship Id="rId8" Target="../media/image25.png" Type="http://schemas.openxmlformats.org/officeDocument/2006/relationships/image"/><Relationship Id="rId9" Target="../media/image26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Relationship Id="rId3" Target="../media/image60.png" Type="http://schemas.openxmlformats.org/officeDocument/2006/relationships/image"/><Relationship Id="rId4" Target="../media/image61.svg" Type="http://schemas.openxmlformats.org/officeDocument/2006/relationships/image"/><Relationship Id="rId5" Target="../media/image25.png" Type="http://schemas.openxmlformats.org/officeDocument/2006/relationships/image"/><Relationship Id="rId6" Target="../media/image26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5.svg" Type="http://schemas.openxmlformats.org/officeDocument/2006/relationships/image"/><Relationship Id="rId11" Target="../media/image66.png" Type="http://schemas.openxmlformats.org/officeDocument/2006/relationships/image"/><Relationship Id="rId12" Target="../media/image67.svg" Type="http://schemas.openxmlformats.org/officeDocument/2006/relationships/image"/><Relationship Id="rId13" Target="../media/image68.png" Type="http://schemas.openxmlformats.org/officeDocument/2006/relationships/image"/><Relationship Id="rId14" Target="../media/image69.svg" Type="http://schemas.openxmlformats.org/officeDocument/2006/relationships/image"/><Relationship Id="rId15" Target="../media/image70.png" Type="http://schemas.openxmlformats.org/officeDocument/2006/relationships/image"/><Relationship Id="rId16" Target="../media/image71.svg" Type="http://schemas.openxmlformats.org/officeDocument/2006/relationships/image"/><Relationship Id="rId17" Target="../media/image72.png" Type="http://schemas.openxmlformats.org/officeDocument/2006/relationships/image"/><Relationship Id="rId18" Target="../media/image73.svg" Type="http://schemas.openxmlformats.org/officeDocument/2006/relationships/image"/><Relationship Id="rId19" Target="../media/image74.png" Type="http://schemas.openxmlformats.org/officeDocument/2006/relationships/image"/><Relationship Id="rId2" Target="../media/image1.jpeg" Type="http://schemas.openxmlformats.org/officeDocument/2006/relationships/image"/><Relationship Id="rId20" Target="../media/image75.svg" Type="http://schemas.openxmlformats.org/officeDocument/2006/relationships/image"/><Relationship Id="rId21" Target="../media/image76.png" Type="http://schemas.openxmlformats.org/officeDocument/2006/relationships/image"/><Relationship Id="rId22" Target="../media/image77.svg" Type="http://schemas.openxmlformats.org/officeDocument/2006/relationships/image"/><Relationship Id="rId23" Target="../media/image78.png" Type="http://schemas.openxmlformats.org/officeDocument/2006/relationships/image"/><Relationship Id="rId24" Target="../media/image79.svg" Type="http://schemas.openxmlformats.org/officeDocument/2006/relationships/image"/><Relationship Id="rId3" Target="../media/image60.png" Type="http://schemas.openxmlformats.org/officeDocument/2006/relationships/image"/><Relationship Id="rId4" Target="../media/image61.svg" Type="http://schemas.openxmlformats.org/officeDocument/2006/relationships/image"/><Relationship Id="rId5" Target="../media/image25.png" Type="http://schemas.openxmlformats.org/officeDocument/2006/relationships/image"/><Relationship Id="rId6" Target="../media/image26.svg" Type="http://schemas.openxmlformats.org/officeDocument/2006/relationships/image"/><Relationship Id="rId7" Target="../media/image62.png" Type="http://schemas.openxmlformats.org/officeDocument/2006/relationships/image"/><Relationship Id="rId8" Target="../media/image63.svg" Type="http://schemas.openxmlformats.org/officeDocument/2006/relationships/image"/><Relationship Id="rId9" Target="../media/image6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3.png" Type="http://schemas.openxmlformats.org/officeDocument/2006/relationships/image"/><Relationship Id="rId4" Target="../media/image34.sv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media/image25.png" Type="http://schemas.openxmlformats.org/officeDocument/2006/relationships/image"/><Relationship Id="rId8" Target="../media/image26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Relationship Id="rId3" Target="../media/image60.png" Type="http://schemas.openxmlformats.org/officeDocument/2006/relationships/image"/><Relationship Id="rId4" Target="../media/image61.svg" Type="http://schemas.openxmlformats.org/officeDocument/2006/relationships/image"/><Relationship Id="rId5" Target="../media/image25.png" Type="http://schemas.openxmlformats.org/officeDocument/2006/relationships/image"/><Relationship Id="rId6" Target="../media/image26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Relationship Id="rId3" Target="../media/image25.png" Type="http://schemas.openxmlformats.org/officeDocument/2006/relationships/image"/><Relationship Id="rId4" Target="../media/image26.svg" Type="http://schemas.openxmlformats.org/officeDocument/2006/relationships/image"/><Relationship Id="rId5" Target="../media/image57.png" Type="http://schemas.openxmlformats.org/officeDocument/2006/relationships/image"/><Relationship Id="rId6" Target="../media/image58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5.svg" Type="http://schemas.openxmlformats.org/officeDocument/2006/relationships/image"/><Relationship Id="rId11" Target="../media/image66.png" Type="http://schemas.openxmlformats.org/officeDocument/2006/relationships/image"/><Relationship Id="rId12" Target="../media/image67.svg" Type="http://schemas.openxmlformats.org/officeDocument/2006/relationships/image"/><Relationship Id="rId2" Target="../media/image1.jpeg" Type="http://schemas.openxmlformats.org/officeDocument/2006/relationships/image"/><Relationship Id="rId3" Target="../media/image60.png" Type="http://schemas.openxmlformats.org/officeDocument/2006/relationships/image"/><Relationship Id="rId4" Target="../media/image61.svg" Type="http://schemas.openxmlformats.org/officeDocument/2006/relationships/image"/><Relationship Id="rId5" Target="../media/image25.png" Type="http://schemas.openxmlformats.org/officeDocument/2006/relationships/image"/><Relationship Id="rId6" Target="../media/image26.svg" Type="http://schemas.openxmlformats.org/officeDocument/2006/relationships/image"/><Relationship Id="rId7" Target="../media/image62.png" Type="http://schemas.openxmlformats.org/officeDocument/2006/relationships/image"/><Relationship Id="rId8" Target="../media/image63.svg" Type="http://schemas.openxmlformats.org/officeDocument/2006/relationships/image"/><Relationship Id="rId9" Target="../media/image64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59.png" Type="http://schemas.openxmlformats.org/officeDocument/2006/relationships/image"/><Relationship Id="rId6" Target="../media/image60.png" Type="http://schemas.openxmlformats.org/officeDocument/2006/relationships/image"/><Relationship Id="rId7" Target="../media/image61.svg" Type="http://schemas.openxmlformats.org/officeDocument/2006/relationships/image"/><Relationship Id="rId8" Target="../media/image25.png" Type="http://schemas.openxmlformats.org/officeDocument/2006/relationships/image"/><Relationship Id="rId9" Target="../media/image26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7.png" Type="http://schemas.openxmlformats.org/officeDocument/2006/relationships/image"/><Relationship Id="rId4" Target="../media/image38.svg" Type="http://schemas.openxmlformats.org/officeDocument/2006/relationships/image"/><Relationship Id="rId5" Target="../media/image25.png" Type="http://schemas.openxmlformats.org/officeDocument/2006/relationships/image"/><Relationship Id="rId6" Target="../media/image26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png" Type="http://schemas.openxmlformats.org/officeDocument/2006/relationships/image"/><Relationship Id="rId11" Target="../media/image28.svg" Type="http://schemas.openxmlformats.org/officeDocument/2006/relationships/image"/><Relationship Id="rId12" Target="../media/image83.png" Type="http://schemas.openxmlformats.org/officeDocument/2006/relationships/image"/><Relationship Id="rId13" Target="../media/image84.svg" Type="http://schemas.openxmlformats.org/officeDocument/2006/relationships/image"/><Relationship Id="rId14" Target="../media/image25.png" Type="http://schemas.openxmlformats.org/officeDocument/2006/relationships/image"/><Relationship Id="rId15" Target="../media/image26.svg" Type="http://schemas.openxmlformats.org/officeDocument/2006/relationships/image"/><Relationship Id="rId2" Target="../media/image16.jpeg" Type="http://schemas.openxmlformats.org/officeDocument/2006/relationships/image"/><Relationship Id="rId3" Target="../media/image17.png" Type="http://schemas.openxmlformats.org/officeDocument/2006/relationships/image"/><Relationship Id="rId4" Target="../media/image18.svg" Type="http://schemas.openxmlformats.org/officeDocument/2006/relationships/image"/><Relationship Id="rId5" Target="../media/image80.png" Type="http://schemas.openxmlformats.org/officeDocument/2006/relationships/image"/><Relationship Id="rId6" Target="../media/image81.svg" Type="http://schemas.openxmlformats.org/officeDocument/2006/relationships/image"/><Relationship Id="rId7" Target="../media/image82.png" Type="http://schemas.openxmlformats.org/officeDocument/2006/relationships/image"/><Relationship Id="rId8" Target="../media/image21.png" Type="http://schemas.openxmlformats.org/officeDocument/2006/relationships/image"/><Relationship Id="rId9" Target="../media/image2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73613" y="7994139"/>
            <a:ext cx="19335746" cy="3841030"/>
          </a:xfrm>
          <a:custGeom>
            <a:avLst/>
            <a:gdLst/>
            <a:ahLst/>
            <a:cxnLst/>
            <a:rect r="r" b="b" t="t" l="l"/>
            <a:pathLst>
              <a:path h="3841030" w="19335746">
                <a:moveTo>
                  <a:pt x="0" y="0"/>
                </a:moveTo>
                <a:lnTo>
                  <a:pt x="19335747" y="0"/>
                </a:lnTo>
                <a:lnTo>
                  <a:pt x="19335747" y="3841030"/>
                </a:lnTo>
                <a:lnTo>
                  <a:pt x="0" y="38410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199598" y="6308836"/>
            <a:ext cx="3240278" cy="3685021"/>
          </a:xfrm>
          <a:custGeom>
            <a:avLst/>
            <a:gdLst/>
            <a:ahLst/>
            <a:cxnLst/>
            <a:rect r="r" b="b" t="t" l="l"/>
            <a:pathLst>
              <a:path h="3685021" w="3240278">
                <a:moveTo>
                  <a:pt x="0" y="0"/>
                </a:moveTo>
                <a:lnTo>
                  <a:pt x="3240278" y="0"/>
                </a:lnTo>
                <a:lnTo>
                  <a:pt x="3240278" y="3685021"/>
                </a:lnTo>
                <a:lnTo>
                  <a:pt x="0" y="368502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313804" y="5710329"/>
            <a:ext cx="2738378" cy="4063753"/>
          </a:xfrm>
          <a:custGeom>
            <a:avLst/>
            <a:gdLst/>
            <a:ahLst/>
            <a:cxnLst/>
            <a:rect r="r" b="b" t="t" l="l"/>
            <a:pathLst>
              <a:path h="4063753" w="2738378">
                <a:moveTo>
                  <a:pt x="0" y="0"/>
                </a:moveTo>
                <a:lnTo>
                  <a:pt x="2738378" y="0"/>
                </a:lnTo>
                <a:lnTo>
                  <a:pt x="2738378" y="4063753"/>
                </a:lnTo>
                <a:lnTo>
                  <a:pt x="0" y="406375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192763" y="5574160"/>
            <a:ext cx="3066537" cy="4199922"/>
          </a:xfrm>
          <a:custGeom>
            <a:avLst/>
            <a:gdLst/>
            <a:ahLst/>
            <a:cxnLst/>
            <a:rect r="r" b="b" t="t" l="l"/>
            <a:pathLst>
              <a:path h="4199922" w="3066537">
                <a:moveTo>
                  <a:pt x="0" y="0"/>
                </a:moveTo>
                <a:lnTo>
                  <a:pt x="3066537" y="0"/>
                </a:lnTo>
                <a:lnTo>
                  <a:pt x="3066537" y="4199922"/>
                </a:lnTo>
                <a:lnTo>
                  <a:pt x="0" y="419992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2700000">
            <a:off x="16802951" y="4948079"/>
            <a:ext cx="1323041" cy="1046205"/>
          </a:xfrm>
          <a:custGeom>
            <a:avLst/>
            <a:gdLst/>
            <a:ahLst/>
            <a:cxnLst/>
            <a:rect r="r" b="b" t="t" l="l"/>
            <a:pathLst>
              <a:path h="1046205" w="1323041">
                <a:moveTo>
                  <a:pt x="0" y="0"/>
                </a:moveTo>
                <a:lnTo>
                  <a:pt x="1323041" y="0"/>
                </a:lnTo>
                <a:lnTo>
                  <a:pt x="1323041" y="1046204"/>
                </a:lnTo>
                <a:lnTo>
                  <a:pt x="0" y="104620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2894840">
            <a:off x="-274666" y="3490238"/>
            <a:ext cx="1323041" cy="1046205"/>
          </a:xfrm>
          <a:custGeom>
            <a:avLst/>
            <a:gdLst/>
            <a:ahLst/>
            <a:cxnLst/>
            <a:rect r="r" b="b" t="t" l="l"/>
            <a:pathLst>
              <a:path h="1046205" w="1323041">
                <a:moveTo>
                  <a:pt x="0" y="0"/>
                </a:moveTo>
                <a:lnTo>
                  <a:pt x="1323041" y="0"/>
                </a:lnTo>
                <a:lnTo>
                  <a:pt x="1323041" y="1046205"/>
                </a:lnTo>
                <a:lnTo>
                  <a:pt x="0" y="104620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2700000">
            <a:off x="17574100" y="2527085"/>
            <a:ext cx="823482" cy="651174"/>
          </a:xfrm>
          <a:custGeom>
            <a:avLst/>
            <a:gdLst/>
            <a:ahLst/>
            <a:cxnLst/>
            <a:rect r="r" b="b" t="t" l="l"/>
            <a:pathLst>
              <a:path h="651174" w="823482">
                <a:moveTo>
                  <a:pt x="0" y="0"/>
                </a:moveTo>
                <a:lnTo>
                  <a:pt x="823482" y="0"/>
                </a:lnTo>
                <a:lnTo>
                  <a:pt x="823482" y="651174"/>
                </a:lnTo>
                <a:lnTo>
                  <a:pt x="0" y="65117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2700000">
            <a:off x="1510728" y="875037"/>
            <a:ext cx="823482" cy="651174"/>
          </a:xfrm>
          <a:custGeom>
            <a:avLst/>
            <a:gdLst/>
            <a:ahLst/>
            <a:cxnLst/>
            <a:rect r="r" b="b" t="t" l="l"/>
            <a:pathLst>
              <a:path h="651174" w="823482">
                <a:moveTo>
                  <a:pt x="0" y="0"/>
                </a:moveTo>
                <a:lnTo>
                  <a:pt x="823482" y="0"/>
                </a:lnTo>
                <a:lnTo>
                  <a:pt x="823482" y="651174"/>
                </a:lnTo>
                <a:lnTo>
                  <a:pt x="0" y="65117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379933" y="839320"/>
            <a:ext cx="493767" cy="378761"/>
          </a:xfrm>
          <a:custGeom>
            <a:avLst/>
            <a:gdLst/>
            <a:ahLst/>
            <a:cxnLst/>
            <a:rect r="r" b="b" t="t" l="l"/>
            <a:pathLst>
              <a:path h="378761" w="493767">
                <a:moveTo>
                  <a:pt x="0" y="0"/>
                </a:moveTo>
                <a:lnTo>
                  <a:pt x="493767" y="0"/>
                </a:lnTo>
                <a:lnTo>
                  <a:pt x="493767" y="378760"/>
                </a:lnTo>
                <a:lnTo>
                  <a:pt x="0" y="37876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500683" y="5968019"/>
            <a:ext cx="1800833" cy="1018289"/>
          </a:xfrm>
          <a:custGeom>
            <a:avLst/>
            <a:gdLst/>
            <a:ahLst/>
            <a:cxnLst/>
            <a:rect r="r" b="b" t="t" l="l"/>
            <a:pathLst>
              <a:path h="1018289" w="1800833">
                <a:moveTo>
                  <a:pt x="0" y="0"/>
                </a:moveTo>
                <a:lnTo>
                  <a:pt x="1800833" y="0"/>
                </a:lnTo>
                <a:lnTo>
                  <a:pt x="1800833" y="1018289"/>
                </a:lnTo>
                <a:lnTo>
                  <a:pt x="0" y="1018289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3637617" y="4013341"/>
            <a:ext cx="1800833" cy="1018289"/>
          </a:xfrm>
          <a:custGeom>
            <a:avLst/>
            <a:gdLst/>
            <a:ahLst/>
            <a:cxnLst/>
            <a:rect r="r" b="b" t="t" l="l"/>
            <a:pathLst>
              <a:path h="1018289" w="1800833">
                <a:moveTo>
                  <a:pt x="0" y="0"/>
                </a:moveTo>
                <a:lnTo>
                  <a:pt x="1800833" y="0"/>
                </a:lnTo>
                <a:lnTo>
                  <a:pt x="1800833" y="1018289"/>
                </a:lnTo>
                <a:lnTo>
                  <a:pt x="0" y="1018289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5560916" y="1371600"/>
            <a:ext cx="8076701" cy="1568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66"/>
              </a:lnSpc>
            </a:pPr>
            <a:r>
              <a:rPr lang="en-US" sz="12600" b="true">
                <a:solidFill>
                  <a:srgbClr val="2856AD"/>
                </a:solidFill>
                <a:latin typeface="Balsamiq Sans Bold"/>
                <a:ea typeface="Balsamiq Sans Bold"/>
                <a:cs typeface="Balsamiq Sans Bold"/>
                <a:sym typeface="Balsamiq Sans Bold"/>
              </a:rPr>
              <a:t>MundiPets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052182" y="2962290"/>
            <a:ext cx="8334049" cy="3072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80"/>
              </a:lnSpc>
            </a:pPr>
            <a:r>
              <a:rPr lang="en-US" sz="3000">
                <a:solidFill>
                  <a:srgbClr val="3E75DF"/>
                </a:solidFill>
                <a:latin typeface="Sniglet"/>
                <a:ea typeface="Sniglet"/>
                <a:cs typeface="Sniglet"/>
                <a:sym typeface="Sniglet"/>
              </a:rPr>
              <a:t>Integrantes:</a:t>
            </a:r>
          </a:p>
          <a:p>
            <a:pPr algn="ctr">
              <a:lnSpc>
                <a:spcPts val="4080"/>
              </a:lnSpc>
            </a:pPr>
            <a:r>
              <a:rPr lang="en-US" sz="3000">
                <a:solidFill>
                  <a:srgbClr val="5D3700"/>
                </a:solidFill>
                <a:latin typeface="Sniglet"/>
                <a:ea typeface="Sniglet"/>
                <a:cs typeface="Sniglet"/>
                <a:sym typeface="Sniglet"/>
              </a:rPr>
              <a:t>Fuertes Arraes Edson Daniel</a:t>
            </a:r>
          </a:p>
          <a:p>
            <a:pPr algn="ctr">
              <a:lnSpc>
                <a:spcPts val="4080"/>
              </a:lnSpc>
            </a:pPr>
            <a:r>
              <a:rPr lang="en-US" sz="3000">
                <a:solidFill>
                  <a:srgbClr val="5D3700"/>
                </a:solidFill>
                <a:latin typeface="Sniglet"/>
                <a:ea typeface="Sniglet"/>
                <a:cs typeface="Sniglet"/>
                <a:sym typeface="Sniglet"/>
              </a:rPr>
              <a:t> Gutierrez Ortega Genesis Adriana</a:t>
            </a:r>
          </a:p>
          <a:p>
            <a:pPr algn="ctr">
              <a:lnSpc>
                <a:spcPts val="4080"/>
              </a:lnSpc>
            </a:pPr>
            <a:r>
              <a:rPr lang="en-US" sz="3000">
                <a:solidFill>
                  <a:srgbClr val="5D3700"/>
                </a:solidFill>
                <a:latin typeface="Sniglet"/>
                <a:ea typeface="Sniglet"/>
                <a:cs typeface="Sniglet"/>
                <a:sym typeface="Sniglet"/>
              </a:rPr>
              <a:t> Mendoza Parraga Andy Johel</a:t>
            </a:r>
          </a:p>
          <a:p>
            <a:pPr algn="ctr">
              <a:lnSpc>
                <a:spcPts val="4080"/>
              </a:lnSpc>
            </a:pPr>
            <a:r>
              <a:rPr lang="en-US" sz="3000">
                <a:solidFill>
                  <a:srgbClr val="5D3700"/>
                </a:solidFill>
                <a:latin typeface="Sniglet"/>
                <a:ea typeface="Sniglet"/>
                <a:cs typeface="Sniglet"/>
                <a:sym typeface="Sniglet"/>
              </a:rPr>
              <a:t> Morales Sanchez Gary Alejandro</a:t>
            </a:r>
          </a:p>
          <a:p>
            <a:pPr algn="ctr">
              <a:lnSpc>
                <a:spcPts val="4080"/>
              </a:lnSpc>
            </a:pPr>
            <a:r>
              <a:rPr lang="en-US" sz="3000">
                <a:solidFill>
                  <a:srgbClr val="5D3700"/>
                </a:solidFill>
                <a:latin typeface="Sniglet"/>
                <a:ea typeface="Sniglet"/>
                <a:cs typeface="Sniglet"/>
                <a:sym typeface="Sniglet"/>
              </a:rPr>
              <a:t> Nieves Sanchez Jimmy Samuel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23352" y="7501186"/>
            <a:ext cx="19335746" cy="3841030"/>
          </a:xfrm>
          <a:custGeom>
            <a:avLst/>
            <a:gdLst/>
            <a:ahLst/>
            <a:cxnLst/>
            <a:rect r="r" b="b" t="t" l="l"/>
            <a:pathLst>
              <a:path h="3841030" w="19335746">
                <a:moveTo>
                  <a:pt x="0" y="0"/>
                </a:moveTo>
                <a:lnTo>
                  <a:pt x="19335746" y="0"/>
                </a:lnTo>
                <a:lnTo>
                  <a:pt x="19335746" y="3841030"/>
                </a:lnTo>
                <a:lnTo>
                  <a:pt x="0" y="38410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914772" y="2189706"/>
            <a:ext cx="7015481" cy="7492261"/>
          </a:xfrm>
          <a:custGeom>
            <a:avLst/>
            <a:gdLst/>
            <a:ahLst/>
            <a:cxnLst/>
            <a:rect r="r" b="b" t="t" l="l"/>
            <a:pathLst>
              <a:path h="7492261" w="7015481">
                <a:moveTo>
                  <a:pt x="0" y="0"/>
                </a:moveTo>
                <a:lnTo>
                  <a:pt x="7015481" y="0"/>
                </a:lnTo>
                <a:lnTo>
                  <a:pt x="7015481" y="7492261"/>
                </a:lnTo>
                <a:lnTo>
                  <a:pt x="0" y="749226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253856">
            <a:off x="12195893" y="-806242"/>
            <a:ext cx="5760414" cy="2922101"/>
          </a:xfrm>
          <a:custGeom>
            <a:avLst/>
            <a:gdLst/>
            <a:ahLst/>
            <a:cxnLst/>
            <a:rect r="r" b="b" t="t" l="l"/>
            <a:pathLst>
              <a:path h="2922101" w="5760414">
                <a:moveTo>
                  <a:pt x="0" y="0"/>
                </a:moveTo>
                <a:lnTo>
                  <a:pt x="5760414" y="0"/>
                </a:lnTo>
                <a:lnTo>
                  <a:pt x="5760414" y="2922101"/>
                </a:lnTo>
                <a:lnTo>
                  <a:pt x="0" y="292210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197633" y="3646901"/>
            <a:ext cx="8334049" cy="3587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80"/>
              </a:lnSpc>
            </a:pPr>
            <a:r>
              <a:rPr lang="en-US" sz="3000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Actualmente, la información de las mascotas general y médica está dispersa en distintos medios sin un mecanismo centralizado y confiable. Esto genera registros incompletos o sin respaldo, lo que lleva a que los procesos de adopción y cruza se realicen con información insuficiente para tomar decisiones responsables.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2894840">
            <a:off x="-207492" y="2329570"/>
            <a:ext cx="1323041" cy="1046205"/>
          </a:xfrm>
          <a:custGeom>
            <a:avLst/>
            <a:gdLst/>
            <a:ahLst/>
            <a:cxnLst/>
            <a:rect r="r" b="b" t="t" l="l"/>
            <a:pathLst>
              <a:path h="1046205" w="1323041">
                <a:moveTo>
                  <a:pt x="0" y="0"/>
                </a:moveTo>
                <a:lnTo>
                  <a:pt x="1323041" y="0"/>
                </a:lnTo>
                <a:lnTo>
                  <a:pt x="1323041" y="1046204"/>
                </a:lnTo>
                <a:lnTo>
                  <a:pt x="0" y="104620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5399999">
            <a:off x="17174924" y="5895033"/>
            <a:ext cx="1323041" cy="1046205"/>
          </a:xfrm>
          <a:custGeom>
            <a:avLst/>
            <a:gdLst/>
            <a:ahLst/>
            <a:cxnLst/>
            <a:rect r="r" b="b" t="t" l="l"/>
            <a:pathLst>
              <a:path h="1046205" w="1323041">
                <a:moveTo>
                  <a:pt x="0" y="0"/>
                </a:moveTo>
                <a:lnTo>
                  <a:pt x="1323042" y="0"/>
                </a:lnTo>
                <a:lnTo>
                  <a:pt x="1323042" y="1046204"/>
                </a:lnTo>
                <a:lnTo>
                  <a:pt x="0" y="104620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451846" y="1028700"/>
            <a:ext cx="2770337" cy="378761"/>
            <a:chOff x="0" y="0"/>
            <a:chExt cx="3693782" cy="50501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58357" cy="505014"/>
            </a:xfrm>
            <a:custGeom>
              <a:avLst/>
              <a:gdLst/>
              <a:ahLst/>
              <a:cxnLst/>
              <a:rect r="r" b="b" t="t" l="l"/>
              <a:pathLst>
                <a:path h="505014" w="658357">
                  <a:moveTo>
                    <a:pt x="0" y="0"/>
                  </a:moveTo>
                  <a:lnTo>
                    <a:pt x="658357" y="0"/>
                  </a:lnTo>
                  <a:lnTo>
                    <a:pt x="658357" y="505014"/>
                  </a:lnTo>
                  <a:lnTo>
                    <a:pt x="0" y="5050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930695" y="-57441"/>
              <a:ext cx="2763087" cy="5602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20"/>
                </a:lnSpc>
                <a:spcBef>
                  <a:spcPct val="0"/>
                </a:spcBef>
              </a:pPr>
              <a:r>
                <a:rPr lang="en-US" sz="2300">
                  <a:solidFill>
                    <a:srgbClr val="FFFFFF"/>
                  </a:solidFill>
                  <a:latin typeface="Jua"/>
                  <a:ea typeface="Jua"/>
                  <a:cs typeface="Jua"/>
                  <a:sym typeface="Jua"/>
                </a:rPr>
                <a:t>MundiPets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990937" y="2132529"/>
            <a:ext cx="6747442" cy="1065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34"/>
              </a:lnSpc>
            </a:pPr>
            <a:r>
              <a:rPr lang="en-US" sz="8499" b="true">
                <a:solidFill>
                  <a:srgbClr val="FFFFFF"/>
                </a:solidFill>
                <a:latin typeface="Balsamiq Sans Bold"/>
                <a:ea typeface="Balsamiq Sans Bold"/>
                <a:cs typeface="Balsamiq Sans Bold"/>
                <a:sym typeface="Balsamiq Sans Bold"/>
              </a:rPr>
              <a:t>Problemática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9449640" y="1302780"/>
            <a:ext cx="19335746" cy="3841030"/>
          </a:xfrm>
          <a:custGeom>
            <a:avLst/>
            <a:gdLst/>
            <a:ahLst/>
            <a:cxnLst/>
            <a:rect r="r" b="b" t="t" l="l"/>
            <a:pathLst>
              <a:path h="3841030" w="19335746">
                <a:moveTo>
                  <a:pt x="0" y="0"/>
                </a:moveTo>
                <a:lnTo>
                  <a:pt x="19335746" y="0"/>
                </a:lnTo>
                <a:lnTo>
                  <a:pt x="19335746" y="3841030"/>
                </a:lnTo>
                <a:lnTo>
                  <a:pt x="0" y="38410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962311" y="1161225"/>
            <a:ext cx="5724642" cy="4815855"/>
          </a:xfrm>
          <a:custGeom>
            <a:avLst/>
            <a:gdLst/>
            <a:ahLst/>
            <a:cxnLst/>
            <a:rect r="r" b="b" t="t" l="l"/>
            <a:pathLst>
              <a:path h="4815855" w="5724642">
                <a:moveTo>
                  <a:pt x="0" y="0"/>
                </a:moveTo>
                <a:lnTo>
                  <a:pt x="5724642" y="0"/>
                </a:lnTo>
                <a:lnTo>
                  <a:pt x="5724642" y="4815854"/>
                </a:lnTo>
                <a:lnTo>
                  <a:pt x="0" y="481585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64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29148" y="1754903"/>
            <a:ext cx="6480349" cy="10171978"/>
          </a:xfrm>
          <a:custGeom>
            <a:avLst/>
            <a:gdLst/>
            <a:ahLst/>
            <a:cxnLst/>
            <a:rect r="r" b="b" t="t" l="l"/>
            <a:pathLst>
              <a:path h="10171978" w="6480349">
                <a:moveTo>
                  <a:pt x="0" y="0"/>
                </a:moveTo>
                <a:lnTo>
                  <a:pt x="6480349" y="0"/>
                </a:lnTo>
                <a:lnTo>
                  <a:pt x="6480349" y="10171978"/>
                </a:lnTo>
                <a:lnTo>
                  <a:pt x="0" y="1017197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5079210">
            <a:off x="-10427043" y="1439670"/>
            <a:ext cx="19335746" cy="3841030"/>
          </a:xfrm>
          <a:custGeom>
            <a:avLst/>
            <a:gdLst/>
            <a:ahLst/>
            <a:cxnLst/>
            <a:rect r="r" b="b" t="t" l="l"/>
            <a:pathLst>
              <a:path h="3841030" w="19335746">
                <a:moveTo>
                  <a:pt x="0" y="0"/>
                </a:moveTo>
                <a:lnTo>
                  <a:pt x="19335746" y="0"/>
                </a:lnTo>
                <a:lnTo>
                  <a:pt x="19335746" y="3841030"/>
                </a:lnTo>
                <a:lnTo>
                  <a:pt x="0" y="38410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09343" y="6434645"/>
            <a:ext cx="705936" cy="593869"/>
          </a:xfrm>
          <a:custGeom>
            <a:avLst/>
            <a:gdLst/>
            <a:ahLst/>
            <a:cxnLst/>
            <a:rect r="r" b="b" t="t" l="l"/>
            <a:pathLst>
              <a:path h="593869" w="705936">
                <a:moveTo>
                  <a:pt x="0" y="0"/>
                </a:moveTo>
                <a:lnTo>
                  <a:pt x="705936" y="0"/>
                </a:lnTo>
                <a:lnTo>
                  <a:pt x="705936" y="593869"/>
                </a:lnTo>
                <a:lnTo>
                  <a:pt x="0" y="59386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78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303561" y="6348996"/>
            <a:ext cx="705936" cy="593869"/>
          </a:xfrm>
          <a:custGeom>
            <a:avLst/>
            <a:gdLst/>
            <a:ahLst/>
            <a:cxnLst/>
            <a:rect r="r" b="b" t="t" l="l"/>
            <a:pathLst>
              <a:path h="593869" w="705936">
                <a:moveTo>
                  <a:pt x="0" y="0"/>
                </a:moveTo>
                <a:lnTo>
                  <a:pt x="705936" y="0"/>
                </a:lnTo>
                <a:lnTo>
                  <a:pt x="705936" y="593869"/>
                </a:lnTo>
                <a:lnTo>
                  <a:pt x="0" y="59386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78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660440" y="8271163"/>
            <a:ext cx="705936" cy="593869"/>
          </a:xfrm>
          <a:custGeom>
            <a:avLst/>
            <a:gdLst/>
            <a:ahLst/>
            <a:cxnLst/>
            <a:rect r="r" b="b" t="t" l="l"/>
            <a:pathLst>
              <a:path h="593869" w="705936">
                <a:moveTo>
                  <a:pt x="0" y="0"/>
                </a:moveTo>
                <a:lnTo>
                  <a:pt x="705936" y="0"/>
                </a:lnTo>
                <a:lnTo>
                  <a:pt x="705936" y="593869"/>
                </a:lnTo>
                <a:lnTo>
                  <a:pt x="0" y="59386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78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1064937" y="1983503"/>
            <a:ext cx="3076621" cy="1065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34"/>
              </a:lnSpc>
            </a:pPr>
            <a:r>
              <a:rPr lang="en-US" sz="8499" b="true">
                <a:solidFill>
                  <a:srgbClr val="FFFFFF"/>
                </a:solidFill>
                <a:latin typeface="Balsamiq Sans Bold"/>
                <a:ea typeface="Balsamiq Sans Bold"/>
                <a:cs typeface="Balsamiq Sans Bold"/>
                <a:sym typeface="Balsamiq Sans Bold"/>
              </a:rPr>
              <a:t>Visión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8673539" y="3223295"/>
            <a:ext cx="7322860" cy="5898115"/>
            <a:chOff x="0" y="0"/>
            <a:chExt cx="9763813" cy="7864153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9763813" cy="7864153"/>
              <a:chOff x="0" y="0"/>
              <a:chExt cx="3432183" cy="2764413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3432184" cy="2764413"/>
              </a:xfrm>
              <a:custGeom>
                <a:avLst/>
                <a:gdLst/>
                <a:ahLst/>
                <a:cxnLst/>
                <a:rect r="r" b="b" t="t" l="l"/>
                <a:pathLst>
                  <a:path h="2764413" w="3432184">
                    <a:moveTo>
                      <a:pt x="3105132" y="0"/>
                    </a:moveTo>
                    <a:lnTo>
                      <a:pt x="282407" y="0"/>
                    </a:lnTo>
                    <a:cubicBezTo>
                      <a:pt x="126426" y="0"/>
                      <a:pt x="0" y="123512"/>
                      <a:pt x="0" y="1393681"/>
                    </a:cubicBezTo>
                    <a:cubicBezTo>
                      <a:pt x="0" y="2439382"/>
                      <a:pt x="66279" y="2534523"/>
                      <a:pt x="162037" y="2578665"/>
                    </a:cubicBezTo>
                    <a:lnTo>
                      <a:pt x="162037" y="2764413"/>
                    </a:lnTo>
                    <a:lnTo>
                      <a:pt x="353844" y="2604946"/>
                    </a:lnTo>
                    <a:lnTo>
                      <a:pt x="3105132" y="2604946"/>
                    </a:lnTo>
                    <a:cubicBezTo>
                      <a:pt x="3305746" y="2604946"/>
                      <a:pt x="3432184" y="2481433"/>
                      <a:pt x="3432184" y="1393343"/>
                    </a:cubicBezTo>
                    <a:cubicBezTo>
                      <a:pt x="3432195" y="123512"/>
                      <a:pt x="3305746" y="0"/>
                      <a:pt x="3105132" y="0"/>
                    </a:cubicBezTo>
                    <a:close/>
                  </a:path>
                </a:pathLst>
              </a:custGeom>
              <a:solidFill>
                <a:srgbClr val="FDFAE7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57150"/>
                <a:ext cx="3432183" cy="263106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79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707382" y="805339"/>
              <a:ext cx="8349049" cy="61385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080"/>
                </a:lnSpc>
              </a:pPr>
              <a:r>
                <a:rPr lang="en-US" sz="3000">
                  <a:solidFill>
                    <a:srgbClr val="2856AD"/>
                  </a:solidFill>
                  <a:latin typeface="Sniglet"/>
                  <a:ea typeface="Sniglet"/>
                  <a:cs typeface="Sniglet"/>
                  <a:sym typeface="Sniglet"/>
                </a:rPr>
                <a:t>Convertir a MundiPets en una plataforma digital confiable que facilite la adopción y la cruza responsable de mascotas, centralizando información relevante y conectando de manera segura a propietarios, adoptantes, refugios, interesados en cruza y profesionales veterinarios.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30003" y="649939"/>
            <a:ext cx="2770337" cy="378761"/>
            <a:chOff x="0" y="0"/>
            <a:chExt cx="3693782" cy="50501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58357" cy="505014"/>
            </a:xfrm>
            <a:custGeom>
              <a:avLst/>
              <a:gdLst/>
              <a:ahLst/>
              <a:cxnLst/>
              <a:rect r="r" b="b" t="t" l="l"/>
              <a:pathLst>
                <a:path h="505014" w="658357">
                  <a:moveTo>
                    <a:pt x="0" y="0"/>
                  </a:moveTo>
                  <a:lnTo>
                    <a:pt x="658357" y="0"/>
                  </a:lnTo>
                  <a:lnTo>
                    <a:pt x="658357" y="505014"/>
                  </a:lnTo>
                  <a:lnTo>
                    <a:pt x="0" y="5050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 rot="0">
              <a:off x="930695" y="-57441"/>
              <a:ext cx="2763087" cy="5602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20"/>
                </a:lnSpc>
                <a:spcBef>
                  <a:spcPct val="0"/>
                </a:spcBef>
              </a:pPr>
              <a:r>
                <a:rPr lang="en-US" sz="2300">
                  <a:solidFill>
                    <a:srgbClr val="FFFFFF"/>
                  </a:solidFill>
                  <a:latin typeface="Jua"/>
                  <a:ea typeface="Jua"/>
                  <a:cs typeface="Jua"/>
                  <a:sym typeface="Jua"/>
                </a:rPr>
                <a:t>MundiPets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6491061" y="3569152"/>
            <a:ext cx="705936" cy="593869"/>
          </a:xfrm>
          <a:custGeom>
            <a:avLst/>
            <a:gdLst/>
            <a:ahLst/>
            <a:cxnLst/>
            <a:rect r="r" b="b" t="t" l="l"/>
            <a:pathLst>
              <a:path h="593869" w="705936">
                <a:moveTo>
                  <a:pt x="0" y="0"/>
                </a:moveTo>
                <a:lnTo>
                  <a:pt x="705937" y="0"/>
                </a:lnTo>
                <a:lnTo>
                  <a:pt x="705937" y="593869"/>
                </a:lnTo>
                <a:lnTo>
                  <a:pt x="0" y="59386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78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647360" y="2267884"/>
            <a:ext cx="10313056" cy="2118864"/>
          </a:xfrm>
          <a:custGeom>
            <a:avLst/>
            <a:gdLst/>
            <a:ahLst/>
            <a:cxnLst/>
            <a:rect r="r" b="b" t="t" l="l"/>
            <a:pathLst>
              <a:path h="2118864" w="10313056">
                <a:moveTo>
                  <a:pt x="0" y="0"/>
                </a:moveTo>
                <a:lnTo>
                  <a:pt x="10313055" y="0"/>
                </a:lnTo>
                <a:lnTo>
                  <a:pt x="10313055" y="2118864"/>
                </a:lnTo>
                <a:lnTo>
                  <a:pt x="0" y="21188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253856">
            <a:off x="13579498" y="-1461050"/>
            <a:ext cx="5760414" cy="2922101"/>
          </a:xfrm>
          <a:custGeom>
            <a:avLst/>
            <a:gdLst/>
            <a:ahLst/>
            <a:cxnLst/>
            <a:rect r="r" b="b" t="t" l="l"/>
            <a:pathLst>
              <a:path h="2922101" w="5760414">
                <a:moveTo>
                  <a:pt x="0" y="0"/>
                </a:moveTo>
                <a:lnTo>
                  <a:pt x="5760414" y="0"/>
                </a:lnTo>
                <a:lnTo>
                  <a:pt x="5760414" y="2922100"/>
                </a:lnTo>
                <a:lnTo>
                  <a:pt x="0" y="29221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120216" y="5649644"/>
            <a:ext cx="5322544" cy="3009656"/>
          </a:xfrm>
          <a:custGeom>
            <a:avLst/>
            <a:gdLst/>
            <a:ahLst/>
            <a:cxnLst/>
            <a:rect r="r" b="b" t="t" l="l"/>
            <a:pathLst>
              <a:path h="3009656" w="5322544">
                <a:moveTo>
                  <a:pt x="0" y="0"/>
                </a:moveTo>
                <a:lnTo>
                  <a:pt x="5322543" y="0"/>
                </a:lnTo>
                <a:lnTo>
                  <a:pt x="5322543" y="3009657"/>
                </a:lnTo>
                <a:lnTo>
                  <a:pt x="0" y="300965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003270" y="1874976"/>
            <a:ext cx="5348277" cy="7100032"/>
          </a:xfrm>
          <a:custGeom>
            <a:avLst/>
            <a:gdLst/>
            <a:ahLst/>
            <a:cxnLst/>
            <a:rect r="r" b="b" t="t" l="l"/>
            <a:pathLst>
              <a:path h="7100032" w="5348277">
                <a:moveTo>
                  <a:pt x="0" y="0"/>
                </a:moveTo>
                <a:lnTo>
                  <a:pt x="5348277" y="0"/>
                </a:lnTo>
                <a:lnTo>
                  <a:pt x="5348277" y="7100032"/>
                </a:lnTo>
                <a:lnTo>
                  <a:pt x="0" y="710003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4854326"/>
            <a:ext cx="7013225" cy="3072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80"/>
              </a:lnSpc>
            </a:pPr>
            <a:r>
              <a:rPr lang="en-US" sz="3000">
                <a:solidFill>
                  <a:srgbClr val="2856AD"/>
                </a:solidFill>
                <a:latin typeface="Sniglet"/>
                <a:ea typeface="Sniglet"/>
                <a:cs typeface="Sniglet"/>
                <a:sym typeface="Sniglet"/>
              </a:rPr>
              <a:t>MundiPets comprende el desarrollo de una plataforma digital orientada a facilitar procesos de adopción y cruza responsable de mascotas, centralizando su información y conectando a los diferentes actores involucrados.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8174097" y="7277344"/>
            <a:ext cx="5322544" cy="3009656"/>
          </a:xfrm>
          <a:custGeom>
            <a:avLst/>
            <a:gdLst/>
            <a:ahLst/>
            <a:cxnLst/>
            <a:rect r="r" b="b" t="t" l="l"/>
            <a:pathLst>
              <a:path h="3009656" w="5322544">
                <a:moveTo>
                  <a:pt x="0" y="0"/>
                </a:moveTo>
                <a:lnTo>
                  <a:pt x="5322543" y="0"/>
                </a:lnTo>
                <a:lnTo>
                  <a:pt x="5322543" y="3009656"/>
                </a:lnTo>
                <a:lnTo>
                  <a:pt x="0" y="300965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744469" y="6163327"/>
            <a:ext cx="529336" cy="502388"/>
          </a:xfrm>
          <a:custGeom>
            <a:avLst/>
            <a:gdLst/>
            <a:ahLst/>
            <a:cxnLst/>
            <a:rect r="r" b="b" t="t" l="l"/>
            <a:pathLst>
              <a:path h="502388" w="529336">
                <a:moveTo>
                  <a:pt x="0" y="0"/>
                </a:moveTo>
                <a:lnTo>
                  <a:pt x="529335" y="0"/>
                </a:lnTo>
                <a:lnTo>
                  <a:pt x="529335" y="502388"/>
                </a:lnTo>
                <a:lnTo>
                  <a:pt x="0" y="50238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729964" y="4135554"/>
            <a:ext cx="529336" cy="502388"/>
          </a:xfrm>
          <a:custGeom>
            <a:avLst/>
            <a:gdLst/>
            <a:ahLst/>
            <a:cxnLst/>
            <a:rect r="r" b="b" t="t" l="l"/>
            <a:pathLst>
              <a:path h="502388" w="529336">
                <a:moveTo>
                  <a:pt x="0" y="0"/>
                </a:moveTo>
                <a:lnTo>
                  <a:pt x="529336" y="0"/>
                </a:lnTo>
                <a:lnTo>
                  <a:pt x="529336" y="502388"/>
                </a:lnTo>
                <a:lnTo>
                  <a:pt x="0" y="50238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877934" y="1028700"/>
            <a:ext cx="529336" cy="502388"/>
          </a:xfrm>
          <a:custGeom>
            <a:avLst/>
            <a:gdLst/>
            <a:ahLst/>
            <a:cxnLst/>
            <a:rect r="r" b="b" t="t" l="l"/>
            <a:pathLst>
              <a:path h="502388" w="529336">
                <a:moveTo>
                  <a:pt x="0" y="0"/>
                </a:moveTo>
                <a:lnTo>
                  <a:pt x="529336" y="0"/>
                </a:lnTo>
                <a:lnTo>
                  <a:pt x="529336" y="502388"/>
                </a:lnTo>
                <a:lnTo>
                  <a:pt x="0" y="50238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997818" y="2996667"/>
            <a:ext cx="4559432" cy="1065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34"/>
              </a:lnSpc>
            </a:pPr>
            <a:r>
              <a:rPr lang="en-US" sz="8499" b="true">
                <a:solidFill>
                  <a:srgbClr val="FFAE34"/>
                </a:solidFill>
                <a:latin typeface="Balsamiq Sans Bold"/>
                <a:ea typeface="Balsamiq Sans Bold"/>
                <a:cs typeface="Balsamiq Sans Bold"/>
                <a:sym typeface="Balsamiq Sans Bold"/>
              </a:rPr>
              <a:t>Alcance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160872" y="901133"/>
            <a:ext cx="2770337" cy="378761"/>
            <a:chOff x="0" y="0"/>
            <a:chExt cx="3693782" cy="50501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58357" cy="505014"/>
            </a:xfrm>
            <a:custGeom>
              <a:avLst/>
              <a:gdLst/>
              <a:ahLst/>
              <a:cxnLst/>
              <a:rect r="r" b="b" t="t" l="l"/>
              <a:pathLst>
                <a:path h="505014" w="658357">
                  <a:moveTo>
                    <a:pt x="0" y="0"/>
                  </a:moveTo>
                  <a:lnTo>
                    <a:pt x="658357" y="0"/>
                  </a:lnTo>
                  <a:lnTo>
                    <a:pt x="658357" y="505014"/>
                  </a:lnTo>
                  <a:lnTo>
                    <a:pt x="0" y="5050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 rot="0">
              <a:off x="930695" y="-57441"/>
              <a:ext cx="2763087" cy="5602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20"/>
                </a:lnSpc>
                <a:spcBef>
                  <a:spcPct val="0"/>
                </a:spcBef>
              </a:pPr>
              <a:r>
                <a:rPr lang="en-US" sz="2300">
                  <a:solidFill>
                    <a:srgbClr val="FFFFFF"/>
                  </a:solidFill>
                  <a:latin typeface="Jua"/>
                  <a:ea typeface="Jua"/>
                  <a:cs typeface="Jua"/>
                  <a:sym typeface="Jua"/>
                </a:rPr>
                <a:t>MundiPets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783872">
            <a:off x="-1516825" y="7997991"/>
            <a:ext cx="3951963" cy="3324589"/>
          </a:xfrm>
          <a:custGeom>
            <a:avLst/>
            <a:gdLst/>
            <a:ahLst/>
            <a:cxnLst/>
            <a:rect r="r" b="b" t="t" l="l"/>
            <a:pathLst>
              <a:path h="3324589" w="3951963">
                <a:moveTo>
                  <a:pt x="0" y="0"/>
                </a:moveTo>
                <a:lnTo>
                  <a:pt x="3951963" y="0"/>
                </a:lnTo>
                <a:lnTo>
                  <a:pt x="3951963" y="3324589"/>
                </a:lnTo>
                <a:lnTo>
                  <a:pt x="0" y="33245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60963" y="3983663"/>
            <a:ext cx="5197575" cy="1067865"/>
            <a:chOff x="0" y="0"/>
            <a:chExt cx="6930100" cy="142382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930100" cy="1423821"/>
            </a:xfrm>
            <a:custGeom>
              <a:avLst/>
              <a:gdLst/>
              <a:ahLst/>
              <a:cxnLst/>
              <a:rect r="r" b="b" t="t" l="l"/>
              <a:pathLst>
                <a:path h="1423821" w="6930100">
                  <a:moveTo>
                    <a:pt x="0" y="0"/>
                  </a:moveTo>
                  <a:lnTo>
                    <a:pt x="6930100" y="0"/>
                  </a:lnTo>
                  <a:lnTo>
                    <a:pt x="6930100" y="1423821"/>
                  </a:lnTo>
                  <a:lnTo>
                    <a:pt x="0" y="14238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 rot="0">
              <a:off x="500236" y="363646"/>
              <a:ext cx="5929629" cy="652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080"/>
                </a:lnSpc>
              </a:pPr>
              <a:r>
                <a:rPr lang="en-US" sz="3000">
                  <a:solidFill>
                    <a:srgbClr val="FFAE34"/>
                  </a:solidFill>
                  <a:latin typeface="Sniglet"/>
                  <a:ea typeface="Sniglet"/>
                  <a:cs typeface="Sniglet"/>
                  <a:sym typeface="Sniglet"/>
                </a:rPr>
                <a:t>Propietarios de mascota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430536" y="3903465"/>
            <a:ext cx="5197575" cy="1067865"/>
            <a:chOff x="0" y="0"/>
            <a:chExt cx="6930100" cy="142382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930100" cy="1423821"/>
            </a:xfrm>
            <a:custGeom>
              <a:avLst/>
              <a:gdLst/>
              <a:ahLst/>
              <a:cxnLst/>
              <a:rect r="r" b="b" t="t" l="l"/>
              <a:pathLst>
                <a:path h="1423821" w="6930100">
                  <a:moveTo>
                    <a:pt x="0" y="0"/>
                  </a:moveTo>
                  <a:lnTo>
                    <a:pt x="6930100" y="0"/>
                  </a:lnTo>
                  <a:lnTo>
                    <a:pt x="6930100" y="1423821"/>
                  </a:lnTo>
                  <a:lnTo>
                    <a:pt x="0" y="14238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500236" y="363646"/>
              <a:ext cx="5929629" cy="652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080"/>
                </a:lnSpc>
              </a:pPr>
              <a:r>
                <a:rPr lang="en-US" sz="3000">
                  <a:solidFill>
                    <a:srgbClr val="FFAE34"/>
                  </a:solidFill>
                  <a:latin typeface="Sniglet"/>
                  <a:ea typeface="Sniglet"/>
                  <a:cs typeface="Sniglet"/>
                  <a:sym typeface="Sniglet"/>
                </a:rPr>
                <a:t>Adoptantes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495547" y="4075635"/>
            <a:ext cx="5100573" cy="1067865"/>
            <a:chOff x="0" y="0"/>
            <a:chExt cx="6800763" cy="142382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800763" cy="1423821"/>
            </a:xfrm>
            <a:custGeom>
              <a:avLst/>
              <a:gdLst/>
              <a:ahLst/>
              <a:cxnLst/>
              <a:rect r="r" b="b" t="t" l="l"/>
              <a:pathLst>
                <a:path h="1423821" w="6800763">
                  <a:moveTo>
                    <a:pt x="0" y="0"/>
                  </a:moveTo>
                  <a:lnTo>
                    <a:pt x="6800763" y="0"/>
                  </a:lnTo>
                  <a:lnTo>
                    <a:pt x="6800763" y="1423821"/>
                  </a:lnTo>
                  <a:lnTo>
                    <a:pt x="0" y="14238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950" t="0" r="-950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 rot="0">
              <a:off x="490900" y="363646"/>
              <a:ext cx="5818964" cy="652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080"/>
                </a:lnSpc>
              </a:pPr>
              <a:r>
                <a:rPr lang="en-US" sz="3000">
                  <a:solidFill>
                    <a:srgbClr val="FFAE34"/>
                  </a:solidFill>
                  <a:latin typeface="Sniglet"/>
                  <a:ea typeface="Sniglet"/>
                  <a:cs typeface="Sniglet"/>
                  <a:sym typeface="Sniglet"/>
                </a:rPr>
                <a:t>Interesados en cruza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286673" y="7060417"/>
            <a:ext cx="5012224" cy="1067865"/>
            <a:chOff x="0" y="0"/>
            <a:chExt cx="6682965" cy="142382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682965" cy="1423821"/>
            </a:xfrm>
            <a:custGeom>
              <a:avLst/>
              <a:gdLst/>
              <a:ahLst/>
              <a:cxnLst/>
              <a:rect r="r" b="b" t="t" l="l"/>
              <a:pathLst>
                <a:path h="1423821" w="6682965">
                  <a:moveTo>
                    <a:pt x="0" y="0"/>
                  </a:moveTo>
                  <a:lnTo>
                    <a:pt x="6682965" y="0"/>
                  </a:lnTo>
                  <a:lnTo>
                    <a:pt x="6682965" y="1423821"/>
                  </a:lnTo>
                  <a:lnTo>
                    <a:pt x="0" y="14238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1848" t="0" r="-1848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 rot="0">
              <a:off x="482397" y="363646"/>
              <a:ext cx="5718172" cy="652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080"/>
                </a:lnSpc>
              </a:pPr>
              <a:r>
                <a:rPr lang="en-US" sz="3000">
                  <a:solidFill>
                    <a:srgbClr val="FFAE34"/>
                  </a:solidFill>
                  <a:latin typeface="Sniglet"/>
                  <a:ea typeface="Sniglet"/>
                  <a:cs typeface="Sniglet"/>
                  <a:sym typeface="Sniglet"/>
                </a:rPr>
                <a:t>Clinicas Veterinarias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3494602" y="7060417"/>
            <a:ext cx="5197575" cy="1067865"/>
            <a:chOff x="0" y="0"/>
            <a:chExt cx="6930100" cy="142382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930100" cy="1423821"/>
            </a:xfrm>
            <a:custGeom>
              <a:avLst/>
              <a:gdLst/>
              <a:ahLst/>
              <a:cxnLst/>
              <a:rect r="r" b="b" t="t" l="l"/>
              <a:pathLst>
                <a:path h="1423821" w="6930100">
                  <a:moveTo>
                    <a:pt x="0" y="0"/>
                  </a:moveTo>
                  <a:lnTo>
                    <a:pt x="6930100" y="0"/>
                  </a:lnTo>
                  <a:lnTo>
                    <a:pt x="6930100" y="1423821"/>
                  </a:lnTo>
                  <a:lnTo>
                    <a:pt x="0" y="14238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 rot="0">
              <a:off x="500236" y="363646"/>
              <a:ext cx="5929629" cy="652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080"/>
                </a:lnSpc>
              </a:pPr>
              <a:r>
                <a:rPr lang="en-US" sz="3000">
                  <a:solidFill>
                    <a:srgbClr val="FFAE34"/>
                  </a:solidFill>
                  <a:latin typeface="Sniglet"/>
                  <a:ea typeface="Sniglet"/>
                  <a:cs typeface="Sniglet"/>
                  <a:sym typeface="Sniglet"/>
                </a:rPr>
                <a:t>Refugios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88405" y="433696"/>
            <a:ext cx="2770337" cy="378761"/>
            <a:chOff x="0" y="0"/>
            <a:chExt cx="3693782" cy="50501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58357" cy="505014"/>
            </a:xfrm>
            <a:custGeom>
              <a:avLst/>
              <a:gdLst/>
              <a:ahLst/>
              <a:cxnLst/>
              <a:rect r="r" b="b" t="t" l="l"/>
              <a:pathLst>
                <a:path h="505014" w="658357">
                  <a:moveTo>
                    <a:pt x="0" y="0"/>
                  </a:moveTo>
                  <a:lnTo>
                    <a:pt x="658357" y="0"/>
                  </a:lnTo>
                  <a:lnTo>
                    <a:pt x="658357" y="505014"/>
                  </a:lnTo>
                  <a:lnTo>
                    <a:pt x="0" y="5050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 rot="0">
              <a:off x="930695" y="-57441"/>
              <a:ext cx="2763087" cy="5602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20"/>
                </a:lnSpc>
                <a:spcBef>
                  <a:spcPct val="0"/>
                </a:spcBef>
              </a:pPr>
              <a:r>
                <a:rPr lang="en-US" sz="2300">
                  <a:solidFill>
                    <a:srgbClr val="FFFFFF"/>
                  </a:solidFill>
                  <a:latin typeface="Jua"/>
                  <a:ea typeface="Jua"/>
                  <a:cs typeface="Jua"/>
                  <a:sym typeface="Jua"/>
                </a:rPr>
                <a:t>MundiPets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3494602" y="1873172"/>
            <a:ext cx="11804295" cy="1065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34"/>
              </a:lnSpc>
            </a:pPr>
            <a:r>
              <a:rPr lang="en-US" sz="8499" b="true">
                <a:solidFill>
                  <a:srgbClr val="2856AD"/>
                </a:solidFill>
                <a:latin typeface="Balsamiq Sans Bold"/>
                <a:ea typeface="Balsamiq Sans Bold"/>
                <a:cs typeface="Balsamiq Sans Bold"/>
                <a:sym typeface="Balsamiq Sans Bold"/>
              </a:rPr>
              <a:t>Sistema y stakeholders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88405" y="5246405"/>
            <a:ext cx="4150428" cy="1015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80"/>
              </a:lnSpc>
            </a:pPr>
            <a:r>
              <a:rPr lang="en-US" sz="3000">
                <a:solidFill>
                  <a:srgbClr val="FFFCE8"/>
                </a:solidFill>
                <a:latin typeface="Sniglet"/>
                <a:ea typeface="Sniglet"/>
                <a:cs typeface="Sniglet"/>
                <a:sym typeface="Sniglet"/>
              </a:rPr>
              <a:t>Publ</a:t>
            </a:r>
            <a:r>
              <a:rPr lang="en-US" sz="3000">
                <a:solidFill>
                  <a:srgbClr val="FFFCE8"/>
                </a:solidFill>
                <a:latin typeface="Sniglet"/>
                <a:ea typeface="Sniglet"/>
                <a:cs typeface="Sniglet"/>
                <a:sym typeface="Sniglet"/>
              </a:rPr>
              <a:t>ican y gestionan el perfil de su mascota.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647630" y="5246405"/>
            <a:ext cx="4763387" cy="1015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80"/>
              </a:lnSpc>
            </a:pPr>
            <a:r>
              <a:rPr lang="en-US" sz="3000">
                <a:solidFill>
                  <a:srgbClr val="FFFCE8"/>
                </a:solidFill>
                <a:latin typeface="Sniglet"/>
                <a:ea typeface="Sniglet"/>
                <a:cs typeface="Sniglet"/>
                <a:sym typeface="Sniglet"/>
              </a:rPr>
              <a:t>Bus</a:t>
            </a:r>
            <a:r>
              <a:rPr lang="en-US" sz="3000">
                <a:solidFill>
                  <a:srgbClr val="FFFCE8"/>
                </a:solidFill>
                <a:latin typeface="Sniglet"/>
                <a:ea typeface="Sniglet"/>
                <a:cs typeface="Sniglet"/>
                <a:sym typeface="Sniglet"/>
              </a:rPr>
              <a:t>can y solicitan procesos de adopción.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606855" y="5246405"/>
            <a:ext cx="4763387" cy="1015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80"/>
              </a:lnSpc>
            </a:pPr>
            <a:r>
              <a:rPr lang="en-US" sz="3000">
                <a:solidFill>
                  <a:srgbClr val="FFFCE8"/>
                </a:solidFill>
                <a:latin typeface="Sniglet"/>
                <a:ea typeface="Sniglet"/>
                <a:cs typeface="Sniglet"/>
                <a:sym typeface="Sniglet"/>
              </a:rPr>
              <a:t>Co</a:t>
            </a:r>
            <a:r>
              <a:rPr lang="en-US" sz="3000">
                <a:solidFill>
                  <a:srgbClr val="FFFCE8"/>
                </a:solidFill>
                <a:latin typeface="Sniglet"/>
                <a:ea typeface="Sniglet"/>
                <a:cs typeface="Sniglet"/>
                <a:sym typeface="Sniglet"/>
              </a:rPr>
              <a:t>ordinan encuentros supervisados.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646147" y="8302643"/>
            <a:ext cx="4763387" cy="1015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80"/>
              </a:lnSpc>
            </a:pPr>
            <a:r>
              <a:rPr lang="en-US" sz="3000">
                <a:solidFill>
                  <a:srgbClr val="FFFCE8"/>
                </a:solidFill>
                <a:latin typeface="Sniglet"/>
                <a:ea typeface="Sniglet"/>
                <a:cs typeface="Sniglet"/>
                <a:sym typeface="Sniglet"/>
              </a:rPr>
              <a:t>Publ</a:t>
            </a:r>
            <a:r>
              <a:rPr lang="en-US" sz="3000">
                <a:solidFill>
                  <a:srgbClr val="FFFCE8"/>
                </a:solidFill>
                <a:latin typeface="Sniglet"/>
                <a:ea typeface="Sniglet"/>
                <a:cs typeface="Sniglet"/>
                <a:sym typeface="Sniglet"/>
              </a:rPr>
              <a:t>ican animales bajo su cuidado.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282447" y="8404508"/>
            <a:ext cx="4763387" cy="1015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80"/>
              </a:lnSpc>
            </a:pPr>
            <a:r>
              <a:rPr lang="en-US" sz="3000">
                <a:solidFill>
                  <a:srgbClr val="FFFCE8"/>
                </a:solidFill>
                <a:latin typeface="Sniglet"/>
                <a:ea typeface="Sniglet"/>
                <a:cs typeface="Sniglet"/>
                <a:sym typeface="Sniglet"/>
              </a:rPr>
              <a:t>Val</a:t>
            </a:r>
            <a:r>
              <a:rPr lang="en-US" sz="3000">
                <a:solidFill>
                  <a:srgbClr val="FFFCE8"/>
                </a:solidFill>
                <a:latin typeface="Sniglet"/>
                <a:ea typeface="Sniglet"/>
                <a:cs typeface="Sniglet"/>
                <a:sym typeface="Sniglet"/>
              </a:rPr>
              <a:t>idan el estado sanitario.</a:t>
            </a:r>
          </a:p>
          <a:p>
            <a:pPr algn="ctr">
              <a:lnSpc>
                <a:spcPts val="4080"/>
              </a:lnSpc>
            </a:pPr>
          </a:p>
        </p:txBody>
      </p:sp>
      <p:sp>
        <p:nvSpPr>
          <p:cNvPr name="Freeform 28" id="28"/>
          <p:cNvSpPr/>
          <p:nvPr/>
        </p:nvSpPr>
        <p:spPr>
          <a:xfrm flipH="false" flipV="false" rot="-420970">
            <a:off x="15791034" y="98733"/>
            <a:ext cx="3158416" cy="2657017"/>
          </a:xfrm>
          <a:custGeom>
            <a:avLst/>
            <a:gdLst/>
            <a:ahLst/>
            <a:cxnLst/>
            <a:rect r="r" b="b" t="t" l="l"/>
            <a:pathLst>
              <a:path h="2657017" w="3158416">
                <a:moveTo>
                  <a:pt x="0" y="0"/>
                </a:moveTo>
                <a:lnTo>
                  <a:pt x="3158416" y="0"/>
                </a:lnTo>
                <a:lnTo>
                  <a:pt x="3158416" y="2657017"/>
                </a:lnTo>
                <a:lnTo>
                  <a:pt x="0" y="26570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368685">
            <a:off x="-1975981" y="-528485"/>
            <a:ext cx="3951963" cy="3324589"/>
          </a:xfrm>
          <a:custGeom>
            <a:avLst/>
            <a:gdLst/>
            <a:ahLst/>
            <a:cxnLst/>
            <a:rect r="r" b="b" t="t" l="l"/>
            <a:pathLst>
              <a:path h="3324589" w="3951963">
                <a:moveTo>
                  <a:pt x="0" y="0"/>
                </a:moveTo>
                <a:lnTo>
                  <a:pt x="3951962" y="0"/>
                </a:lnTo>
                <a:lnTo>
                  <a:pt x="3951962" y="3324589"/>
                </a:lnTo>
                <a:lnTo>
                  <a:pt x="0" y="33245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3321413">
            <a:off x="16602259" y="-95999"/>
            <a:ext cx="3951963" cy="3324589"/>
          </a:xfrm>
          <a:custGeom>
            <a:avLst/>
            <a:gdLst/>
            <a:ahLst/>
            <a:cxnLst/>
            <a:rect r="r" b="b" t="t" l="l"/>
            <a:pathLst>
              <a:path h="3324589" w="3951963">
                <a:moveTo>
                  <a:pt x="0" y="0"/>
                </a:moveTo>
                <a:lnTo>
                  <a:pt x="3951963" y="0"/>
                </a:lnTo>
                <a:lnTo>
                  <a:pt x="3951963" y="3324589"/>
                </a:lnTo>
                <a:lnTo>
                  <a:pt x="0" y="33245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5214789" y="460559"/>
            <a:ext cx="2770337" cy="378761"/>
            <a:chOff x="0" y="0"/>
            <a:chExt cx="3693782" cy="50501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58357" cy="505014"/>
            </a:xfrm>
            <a:custGeom>
              <a:avLst/>
              <a:gdLst/>
              <a:ahLst/>
              <a:cxnLst/>
              <a:rect r="r" b="b" t="t" l="l"/>
              <a:pathLst>
                <a:path h="505014" w="658357">
                  <a:moveTo>
                    <a:pt x="0" y="0"/>
                  </a:moveTo>
                  <a:lnTo>
                    <a:pt x="658357" y="0"/>
                  </a:lnTo>
                  <a:lnTo>
                    <a:pt x="658357" y="505014"/>
                  </a:lnTo>
                  <a:lnTo>
                    <a:pt x="0" y="5050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930695" y="-57441"/>
              <a:ext cx="2763087" cy="5602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20"/>
                </a:lnSpc>
                <a:spcBef>
                  <a:spcPct val="0"/>
                </a:spcBef>
              </a:pPr>
              <a:r>
                <a:rPr lang="en-US" sz="2300">
                  <a:solidFill>
                    <a:srgbClr val="FFFFFF"/>
                  </a:solidFill>
                  <a:latin typeface="Jua"/>
                  <a:ea typeface="Jua"/>
                  <a:cs typeface="Jua"/>
                  <a:sym typeface="Jua"/>
                </a:rPr>
                <a:t>MundiPets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07989" y="4394918"/>
            <a:ext cx="17472022" cy="5452130"/>
            <a:chOff x="0" y="0"/>
            <a:chExt cx="23296029" cy="726950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2286395" y="1179356"/>
              <a:ext cx="9753600" cy="48768"/>
            </a:xfrm>
            <a:custGeom>
              <a:avLst/>
              <a:gdLst/>
              <a:ahLst/>
              <a:cxnLst/>
              <a:rect r="r" b="b" t="t" l="l"/>
              <a:pathLst>
                <a:path h="48768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48768"/>
                  </a:lnTo>
                  <a:lnTo>
                    <a:pt x="0" y="487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4837203" y="29519"/>
              <a:ext cx="2397211" cy="2397211"/>
            </a:xfrm>
            <a:custGeom>
              <a:avLst/>
              <a:gdLst/>
              <a:ahLst/>
              <a:cxnLst/>
              <a:rect r="r" b="b" t="t" l="l"/>
              <a:pathLst>
                <a:path h="2397211" w="2397211">
                  <a:moveTo>
                    <a:pt x="0" y="0"/>
                  </a:moveTo>
                  <a:lnTo>
                    <a:pt x="2397211" y="0"/>
                  </a:lnTo>
                  <a:lnTo>
                    <a:pt x="2397211" y="2397211"/>
                  </a:lnTo>
                  <a:lnTo>
                    <a:pt x="0" y="23972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45527" y="51486"/>
              <a:ext cx="2353276" cy="2353276"/>
            </a:xfrm>
            <a:custGeom>
              <a:avLst/>
              <a:gdLst/>
              <a:ahLst/>
              <a:cxnLst/>
              <a:rect r="r" b="b" t="t" l="l"/>
              <a:pathLst>
                <a:path h="2353276" w="2353276">
                  <a:moveTo>
                    <a:pt x="0" y="0"/>
                  </a:moveTo>
                  <a:lnTo>
                    <a:pt x="2353276" y="0"/>
                  </a:lnTo>
                  <a:lnTo>
                    <a:pt x="2353276" y="2353276"/>
                  </a:lnTo>
                  <a:lnTo>
                    <a:pt x="0" y="23532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9799814" y="1179356"/>
              <a:ext cx="10037630" cy="50188"/>
            </a:xfrm>
            <a:custGeom>
              <a:avLst/>
              <a:gdLst/>
              <a:ahLst/>
              <a:cxnLst/>
              <a:rect r="r" b="b" t="t" l="l"/>
              <a:pathLst>
                <a:path h="50188" w="10037630">
                  <a:moveTo>
                    <a:pt x="0" y="0"/>
                  </a:moveTo>
                  <a:lnTo>
                    <a:pt x="10037629" y="0"/>
                  </a:lnTo>
                  <a:lnTo>
                    <a:pt x="10037629" y="50188"/>
                  </a:lnTo>
                  <a:lnTo>
                    <a:pt x="0" y="501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9799814" y="0"/>
              <a:ext cx="2397211" cy="2397211"/>
            </a:xfrm>
            <a:custGeom>
              <a:avLst/>
              <a:gdLst/>
              <a:ahLst/>
              <a:cxnLst/>
              <a:rect r="r" b="b" t="t" l="l"/>
              <a:pathLst>
                <a:path h="2397211" w="2397211">
                  <a:moveTo>
                    <a:pt x="0" y="0"/>
                  </a:moveTo>
                  <a:lnTo>
                    <a:pt x="2397210" y="0"/>
                  </a:lnTo>
                  <a:lnTo>
                    <a:pt x="2397210" y="2397211"/>
                  </a:lnTo>
                  <a:lnTo>
                    <a:pt x="0" y="23972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4764514" y="29519"/>
              <a:ext cx="2338173" cy="2338173"/>
            </a:xfrm>
            <a:custGeom>
              <a:avLst/>
              <a:gdLst/>
              <a:ahLst/>
              <a:cxnLst/>
              <a:rect r="r" b="b" t="t" l="l"/>
              <a:pathLst>
                <a:path h="2338173" w="2338173">
                  <a:moveTo>
                    <a:pt x="0" y="0"/>
                  </a:moveTo>
                  <a:lnTo>
                    <a:pt x="2338173" y="0"/>
                  </a:lnTo>
                  <a:lnTo>
                    <a:pt x="2338173" y="2338173"/>
                  </a:lnTo>
                  <a:lnTo>
                    <a:pt x="0" y="23381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9545176" y="29519"/>
              <a:ext cx="2273643" cy="2273643"/>
            </a:xfrm>
            <a:custGeom>
              <a:avLst/>
              <a:gdLst/>
              <a:ahLst/>
              <a:cxnLst/>
              <a:rect r="r" b="b" t="t" l="l"/>
              <a:pathLst>
                <a:path h="2273643" w="2273643">
                  <a:moveTo>
                    <a:pt x="0" y="0"/>
                  </a:moveTo>
                  <a:lnTo>
                    <a:pt x="2273643" y="0"/>
                  </a:lnTo>
                  <a:lnTo>
                    <a:pt x="2273643" y="2273643"/>
                  </a:lnTo>
                  <a:lnTo>
                    <a:pt x="0" y="22736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 rot="0">
              <a:off x="580773" y="3032983"/>
              <a:ext cx="1639376" cy="5378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30"/>
                </a:lnSpc>
              </a:pPr>
              <a:r>
                <a:rPr lang="en-US" sz="3000" b="true">
                  <a:solidFill>
                    <a:srgbClr val="2856AD"/>
                  </a:solidFill>
                  <a:latin typeface="Balsamiq Sans Bold"/>
                  <a:ea typeface="Balsamiq Sans Bold"/>
                  <a:cs typeface="Balsamiq Sans Bold"/>
                  <a:sym typeface="Balsamiq Sans Bold"/>
                </a:rPr>
                <a:t>PE1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5314783" y="3032983"/>
              <a:ext cx="1639376" cy="5378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30"/>
                </a:lnSpc>
              </a:pPr>
              <a:r>
                <a:rPr lang="en-US" sz="3000" b="true">
                  <a:solidFill>
                    <a:srgbClr val="2856AD"/>
                  </a:solidFill>
                  <a:latin typeface="Balsamiq Sans Bold"/>
                  <a:ea typeface="Balsamiq Sans Bold"/>
                  <a:cs typeface="Balsamiq Sans Bold"/>
                  <a:sym typeface="Balsamiq Sans Bold"/>
                </a:rPr>
                <a:t>PE2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10396714" y="3032983"/>
              <a:ext cx="1639376" cy="5378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30"/>
                </a:lnSpc>
              </a:pPr>
              <a:r>
                <a:rPr lang="en-US" sz="3000" b="true">
                  <a:solidFill>
                    <a:srgbClr val="2856AD"/>
                  </a:solidFill>
                  <a:latin typeface="Balsamiq Sans Bold"/>
                  <a:ea typeface="Balsamiq Sans Bold"/>
                  <a:cs typeface="Balsamiq Sans Bold"/>
                  <a:sym typeface="Balsamiq Sans Bold"/>
                </a:rPr>
                <a:t>PE3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15134890" y="2950605"/>
              <a:ext cx="1639376" cy="5378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30"/>
                </a:lnSpc>
              </a:pPr>
              <a:r>
                <a:rPr lang="en-US" sz="3000" b="true">
                  <a:solidFill>
                    <a:srgbClr val="2856AD"/>
                  </a:solidFill>
                  <a:latin typeface="Balsamiq Sans Bold"/>
                  <a:ea typeface="Balsamiq Sans Bold"/>
                  <a:cs typeface="Balsamiq Sans Bold"/>
                  <a:sym typeface="Balsamiq Sans Bold"/>
                </a:rPr>
                <a:t>PE4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19873066" y="2868226"/>
              <a:ext cx="1639376" cy="5378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30"/>
                </a:lnSpc>
              </a:pPr>
              <a:r>
                <a:rPr lang="en-US" sz="3000" b="true">
                  <a:solidFill>
                    <a:srgbClr val="2856AD"/>
                  </a:solidFill>
                  <a:latin typeface="Balsamiq Sans Bold"/>
                  <a:ea typeface="Balsamiq Sans Bold"/>
                  <a:cs typeface="Balsamiq Sans Bold"/>
                  <a:sym typeface="Balsamiq Sans Bold"/>
                </a:rPr>
                <a:t>PE5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0" y="3523203"/>
              <a:ext cx="3185901" cy="12898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44"/>
                </a:lnSpc>
              </a:pPr>
              <a:r>
                <a:rPr lang="en-US" sz="2900">
                  <a:solidFill>
                    <a:srgbClr val="5D3700"/>
                  </a:solidFill>
                  <a:latin typeface="Sniglet"/>
                  <a:ea typeface="Sniglet"/>
                  <a:cs typeface="Sniglet"/>
                  <a:sym typeface="Sniglet"/>
                </a:rPr>
                <a:t>Fundamentos y contexto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4486876" y="3523203"/>
              <a:ext cx="3350658" cy="6294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944"/>
                </a:lnSpc>
              </a:pPr>
              <a:r>
                <a:rPr lang="en-US" sz="2900">
                  <a:solidFill>
                    <a:srgbClr val="5D3700"/>
                  </a:solidFill>
                  <a:latin typeface="Sniglet"/>
                  <a:ea typeface="Sniglet"/>
                  <a:cs typeface="Sniglet"/>
                  <a:sym typeface="Sniglet"/>
                </a:rPr>
                <a:t>Elicit</a:t>
              </a:r>
              <a:r>
                <a:rPr lang="en-US" sz="2900">
                  <a:solidFill>
                    <a:srgbClr val="5D3700"/>
                  </a:solidFill>
                  <a:latin typeface="Sniglet"/>
                  <a:ea typeface="Sniglet"/>
                  <a:cs typeface="Sniglet"/>
                  <a:sym typeface="Sniglet"/>
                </a:rPr>
                <a:t>ación real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9350108" y="3523203"/>
              <a:ext cx="3350658" cy="12898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44"/>
                </a:lnSpc>
              </a:pPr>
              <a:r>
                <a:rPr lang="en-US" sz="2900">
                  <a:solidFill>
                    <a:srgbClr val="5D3700"/>
                  </a:solidFill>
                  <a:latin typeface="Sniglet"/>
                  <a:ea typeface="Sniglet"/>
                  <a:cs typeface="Sniglet"/>
                  <a:sym typeface="Sniglet"/>
                </a:rPr>
                <a:t>Especific</a:t>
              </a:r>
              <a:r>
                <a:rPr lang="en-US" sz="2900">
                  <a:solidFill>
                    <a:srgbClr val="5D3700"/>
                  </a:solidFill>
                  <a:latin typeface="Sniglet"/>
                  <a:ea typeface="Sniglet"/>
                  <a:cs typeface="Sniglet"/>
                  <a:sym typeface="Sniglet"/>
                </a:rPr>
                <a:t>ación y modelado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14213341" y="3523203"/>
              <a:ext cx="3844928" cy="12898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44"/>
                </a:lnSpc>
              </a:pPr>
              <a:r>
                <a:rPr lang="en-US" sz="2900">
                  <a:solidFill>
                    <a:srgbClr val="5D3700"/>
                  </a:solidFill>
                  <a:latin typeface="Sniglet"/>
                  <a:ea typeface="Sniglet"/>
                  <a:cs typeface="Sniglet"/>
                  <a:sym typeface="Sniglet"/>
                </a:rPr>
                <a:t>Inspec</a:t>
              </a:r>
              <a:r>
                <a:rPr lang="en-US" sz="2900">
                  <a:solidFill>
                    <a:srgbClr val="5D3700"/>
                  </a:solidFill>
                  <a:latin typeface="Sniglet"/>
                  <a:ea typeface="Sniglet"/>
                  <a:cs typeface="Sniglet"/>
                  <a:sym typeface="Sniglet"/>
                </a:rPr>
                <a:t>ción Fagan y cambios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19650902" y="3483918"/>
              <a:ext cx="2617011" cy="12898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944"/>
                </a:lnSpc>
              </a:pPr>
              <a:r>
                <a:rPr lang="en-US" sz="2900">
                  <a:solidFill>
                    <a:srgbClr val="5D3700"/>
                  </a:solidFill>
                  <a:latin typeface="Sniglet"/>
                  <a:ea typeface="Sniglet"/>
                  <a:cs typeface="Sniglet"/>
                  <a:sym typeface="Sniglet"/>
                </a:rPr>
                <a:t>Integra</a:t>
              </a:r>
              <a:r>
                <a:rPr lang="en-US" sz="2900">
                  <a:solidFill>
                    <a:srgbClr val="5D3700"/>
                  </a:solidFill>
                  <a:latin typeface="Sniglet"/>
                  <a:ea typeface="Sniglet"/>
                  <a:cs typeface="Sniglet"/>
                  <a:sym typeface="Sniglet"/>
                </a:rPr>
                <a:t>ción y métricas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263092" y="4935713"/>
              <a:ext cx="3028419" cy="18767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808"/>
                </a:lnSpc>
              </a:pPr>
              <a:r>
                <a:rPr lang="en-US" sz="2800">
                  <a:solidFill>
                    <a:srgbClr val="FFFCE8"/>
                  </a:solidFill>
                  <a:latin typeface="Sniglet"/>
                  <a:ea typeface="Sniglet"/>
                  <a:cs typeface="Sniglet"/>
                  <a:sym typeface="Sniglet"/>
                </a:rPr>
                <a:t>P</a:t>
              </a:r>
              <a:r>
                <a:rPr lang="en-US" sz="2800">
                  <a:solidFill>
                    <a:srgbClr val="FFFCE8"/>
                  </a:solidFill>
                  <a:latin typeface="Sniglet"/>
                  <a:ea typeface="Sniglet"/>
                  <a:cs typeface="Sniglet"/>
                  <a:sym typeface="Sniglet"/>
                </a:rPr>
                <a:t>roblema, stakeholders, alcance.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4791157" y="4122743"/>
              <a:ext cx="4016959" cy="31467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808"/>
                </a:lnSpc>
              </a:pPr>
              <a:r>
                <a:rPr lang="en-US" sz="2800">
                  <a:solidFill>
                    <a:srgbClr val="FFFCE8"/>
                  </a:solidFill>
                  <a:latin typeface="Sniglet"/>
                  <a:ea typeface="Sniglet"/>
                  <a:cs typeface="Sniglet"/>
                  <a:sym typeface="Sniglet"/>
                </a:rPr>
                <a:t>Ent</a:t>
              </a:r>
              <a:r>
                <a:rPr lang="en-US" sz="2800">
                  <a:solidFill>
                    <a:srgbClr val="FFFCE8"/>
                  </a:solidFill>
                  <a:latin typeface="Sniglet"/>
                  <a:ea typeface="Sniglet"/>
                  <a:cs typeface="Sniglet"/>
                  <a:sym typeface="Sniglet"/>
                </a:rPr>
                <a:t>revistas, encuesta, observación, Design Thinking.</a:t>
              </a:r>
            </a:p>
            <a:p>
              <a:pPr algn="just">
                <a:lnSpc>
                  <a:spcPts val="3808"/>
                </a:lnSpc>
              </a:pP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9537368" y="4935713"/>
              <a:ext cx="3728635" cy="18767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808"/>
                </a:lnSpc>
              </a:pPr>
              <a:r>
                <a:rPr lang="en-US" sz="2800">
                  <a:solidFill>
                    <a:srgbClr val="FFFCE8"/>
                  </a:solidFill>
                  <a:latin typeface="Sniglet"/>
                  <a:ea typeface="Sniglet"/>
                  <a:cs typeface="Sniglet"/>
                  <a:sym typeface="Sniglet"/>
                </a:rPr>
                <a:t>ERS confo</a:t>
              </a:r>
              <a:r>
                <a:rPr lang="en-US" sz="2800">
                  <a:solidFill>
                    <a:srgbClr val="FFFCE8"/>
                  </a:solidFill>
                  <a:latin typeface="Sniglet"/>
                  <a:ea typeface="Sniglet"/>
                  <a:cs typeface="Sniglet"/>
                  <a:sym typeface="Sniglet"/>
                </a:rPr>
                <a:t>rme a ISO/IEC/IEEE 29148:2018 + UML.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14365958" y="4765432"/>
              <a:ext cx="3728635" cy="18767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08"/>
                </a:lnSpc>
              </a:pPr>
              <a:r>
                <a:rPr lang="en-US" sz="2800">
                  <a:solidFill>
                    <a:srgbClr val="FFFCE8"/>
                  </a:solidFill>
                  <a:latin typeface="Sniglet"/>
                  <a:ea typeface="Sniglet"/>
                  <a:cs typeface="Sniglet"/>
                  <a:sym typeface="Sniglet"/>
                </a:rPr>
                <a:t>Revisión fo</a:t>
              </a:r>
              <a:r>
                <a:rPr lang="en-US" sz="2800">
                  <a:solidFill>
                    <a:srgbClr val="FFFCE8"/>
                  </a:solidFill>
                  <a:latin typeface="Sniglet"/>
                  <a:ea typeface="Sniglet"/>
                  <a:cs typeface="Sniglet"/>
                  <a:sym typeface="Sniglet"/>
                </a:rPr>
                <a:t>rmal y gestión de cambios.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18411015" y="4765432"/>
              <a:ext cx="4885015" cy="18767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08"/>
                </a:lnSpc>
              </a:pPr>
              <a:r>
                <a:rPr lang="en-US" sz="2800">
                  <a:solidFill>
                    <a:srgbClr val="FFFCE8"/>
                  </a:solidFill>
                  <a:latin typeface="Sniglet"/>
                  <a:ea typeface="Sniglet"/>
                  <a:cs typeface="Sniglet"/>
                  <a:sym typeface="Sniglet"/>
                </a:rPr>
                <a:t>Trazabilidad extendid</a:t>
              </a:r>
              <a:r>
                <a:rPr lang="en-US" sz="2800">
                  <a:solidFill>
                    <a:srgbClr val="FFFCE8"/>
                  </a:solidFill>
                  <a:latin typeface="Sniglet"/>
                  <a:ea typeface="Sniglet"/>
                  <a:cs typeface="Sniglet"/>
                  <a:sym typeface="Sniglet"/>
                </a:rPr>
                <a:t>a, MVP y componente empírico.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2861344" y="878539"/>
            <a:ext cx="11763667" cy="2046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34"/>
              </a:lnSpc>
            </a:pPr>
            <a:r>
              <a:rPr lang="en-US" sz="8499" b="true">
                <a:solidFill>
                  <a:srgbClr val="2856AD"/>
                </a:solidFill>
                <a:latin typeface="Balsamiq Sans Bold"/>
                <a:ea typeface="Balsamiq Sans Bold"/>
                <a:cs typeface="Balsamiq Sans Bold"/>
                <a:sym typeface="Balsamiq Sans Bold"/>
              </a:rPr>
              <a:t>Proce</a:t>
            </a:r>
            <a:r>
              <a:rPr lang="en-US" b="true" sz="8499">
                <a:solidFill>
                  <a:srgbClr val="2856AD"/>
                </a:solidFill>
                <a:latin typeface="Balsamiq Sans Bold"/>
                <a:ea typeface="Balsamiq Sans Bold"/>
                <a:cs typeface="Balsamiq Sans Bold"/>
                <a:sym typeface="Balsamiq Sans Bold"/>
              </a:rPr>
              <a:t>so de Ingeniería de Requisitos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3285384" y="2900681"/>
            <a:ext cx="10915588" cy="1015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80"/>
              </a:lnSpc>
            </a:pPr>
            <a:r>
              <a:rPr lang="en-US" sz="3000">
                <a:solidFill>
                  <a:srgbClr val="FFFCE8"/>
                </a:solidFill>
                <a:latin typeface="Sniglet"/>
                <a:ea typeface="Sniglet"/>
                <a:cs typeface="Sniglet"/>
                <a:sym typeface="Sniglet"/>
              </a:rPr>
              <a:t>Cinco fases progresivas — de la comprensión del problema hasta la integración de métricas de calidad e inteligencia artificial.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253856">
            <a:off x="13731485" y="-1082290"/>
            <a:ext cx="5760414" cy="2922101"/>
          </a:xfrm>
          <a:custGeom>
            <a:avLst/>
            <a:gdLst/>
            <a:ahLst/>
            <a:cxnLst/>
            <a:rect r="r" b="b" t="t" l="l"/>
            <a:pathLst>
              <a:path h="2922101" w="5760414">
                <a:moveTo>
                  <a:pt x="0" y="0"/>
                </a:moveTo>
                <a:lnTo>
                  <a:pt x="5760413" y="0"/>
                </a:lnTo>
                <a:lnTo>
                  <a:pt x="5760413" y="2922101"/>
                </a:lnTo>
                <a:lnTo>
                  <a:pt x="0" y="292210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923088">
            <a:off x="-1444355" y="-1082290"/>
            <a:ext cx="5760414" cy="2922101"/>
          </a:xfrm>
          <a:custGeom>
            <a:avLst/>
            <a:gdLst/>
            <a:ahLst/>
            <a:cxnLst/>
            <a:rect r="r" b="b" t="t" l="l"/>
            <a:pathLst>
              <a:path h="2922101" w="5760414">
                <a:moveTo>
                  <a:pt x="0" y="0"/>
                </a:moveTo>
                <a:lnTo>
                  <a:pt x="5760413" y="0"/>
                </a:lnTo>
                <a:lnTo>
                  <a:pt x="5760413" y="2922101"/>
                </a:lnTo>
                <a:lnTo>
                  <a:pt x="0" y="292210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2700000">
            <a:off x="109629" y="9440043"/>
            <a:ext cx="823482" cy="651174"/>
          </a:xfrm>
          <a:custGeom>
            <a:avLst/>
            <a:gdLst/>
            <a:ahLst/>
            <a:cxnLst/>
            <a:rect r="r" b="b" t="t" l="l"/>
            <a:pathLst>
              <a:path h="651174" w="823482">
                <a:moveTo>
                  <a:pt x="0" y="0"/>
                </a:moveTo>
                <a:lnTo>
                  <a:pt x="823482" y="0"/>
                </a:lnTo>
                <a:lnTo>
                  <a:pt x="823482" y="651174"/>
                </a:lnTo>
                <a:lnTo>
                  <a:pt x="0" y="65117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3129142">
            <a:off x="17166600" y="2824325"/>
            <a:ext cx="823482" cy="651174"/>
          </a:xfrm>
          <a:custGeom>
            <a:avLst/>
            <a:gdLst/>
            <a:ahLst/>
            <a:cxnLst/>
            <a:rect r="r" b="b" t="t" l="l"/>
            <a:pathLst>
              <a:path h="651174" w="823482">
                <a:moveTo>
                  <a:pt x="0" y="0"/>
                </a:moveTo>
                <a:lnTo>
                  <a:pt x="823482" y="0"/>
                </a:lnTo>
                <a:lnTo>
                  <a:pt x="823482" y="651175"/>
                </a:lnTo>
                <a:lnTo>
                  <a:pt x="0" y="65117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957729" y="1628206"/>
            <a:ext cx="12916403" cy="2046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34"/>
              </a:lnSpc>
            </a:pPr>
            <a:r>
              <a:rPr lang="en-US" sz="8499" b="true">
                <a:solidFill>
                  <a:srgbClr val="2856AD"/>
                </a:solidFill>
                <a:latin typeface="Balsamiq Sans Bold"/>
                <a:ea typeface="Balsamiq Sans Bold"/>
                <a:cs typeface="Balsamiq Sans Bold"/>
                <a:sym typeface="Balsamiq Sans Bold"/>
              </a:rPr>
              <a:t>El</a:t>
            </a:r>
            <a:r>
              <a:rPr lang="en-US" b="true" sz="8499">
                <a:solidFill>
                  <a:srgbClr val="2856AD"/>
                </a:solidFill>
                <a:latin typeface="Balsamiq Sans Bold"/>
                <a:ea typeface="Balsamiq Sans Bold"/>
                <a:cs typeface="Balsamiq Sans Bold"/>
                <a:sym typeface="Balsamiq Sans Bold"/>
              </a:rPr>
              <a:t>icitación basada en evidencia real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459586" y="4195240"/>
            <a:ext cx="3708088" cy="4751270"/>
            <a:chOff x="0" y="0"/>
            <a:chExt cx="4944117" cy="6335027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4944117" cy="6335027"/>
              <a:chOff x="0" y="0"/>
              <a:chExt cx="976616" cy="1251363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976616" cy="1251363"/>
              </a:xfrm>
              <a:custGeom>
                <a:avLst/>
                <a:gdLst/>
                <a:ahLst/>
                <a:cxnLst/>
                <a:rect r="r" b="b" t="t" l="l"/>
                <a:pathLst>
                  <a:path h="1251363" w="976616">
                    <a:moveTo>
                      <a:pt x="106480" y="0"/>
                    </a:moveTo>
                    <a:lnTo>
                      <a:pt x="870135" y="0"/>
                    </a:lnTo>
                    <a:cubicBezTo>
                      <a:pt x="898376" y="0"/>
                      <a:pt x="925459" y="11218"/>
                      <a:pt x="945428" y="31187"/>
                    </a:cubicBezTo>
                    <a:cubicBezTo>
                      <a:pt x="965397" y="51156"/>
                      <a:pt x="976616" y="78240"/>
                      <a:pt x="976616" y="106480"/>
                    </a:cubicBezTo>
                    <a:lnTo>
                      <a:pt x="976616" y="1144883"/>
                    </a:lnTo>
                    <a:cubicBezTo>
                      <a:pt x="976616" y="1173123"/>
                      <a:pt x="965397" y="1200207"/>
                      <a:pt x="945428" y="1220176"/>
                    </a:cubicBezTo>
                    <a:cubicBezTo>
                      <a:pt x="925459" y="1240145"/>
                      <a:pt x="898376" y="1251363"/>
                      <a:pt x="870135" y="1251363"/>
                    </a:cubicBezTo>
                    <a:lnTo>
                      <a:pt x="106480" y="1251363"/>
                    </a:lnTo>
                    <a:cubicBezTo>
                      <a:pt x="47673" y="1251363"/>
                      <a:pt x="0" y="1203690"/>
                      <a:pt x="0" y="1144883"/>
                    </a:cubicBezTo>
                    <a:lnTo>
                      <a:pt x="0" y="106480"/>
                    </a:lnTo>
                    <a:cubicBezTo>
                      <a:pt x="0" y="78240"/>
                      <a:pt x="11218" y="51156"/>
                      <a:pt x="31187" y="31187"/>
                    </a:cubicBezTo>
                    <a:cubicBezTo>
                      <a:pt x="51156" y="11218"/>
                      <a:pt x="78240" y="0"/>
                      <a:pt x="106480" y="0"/>
                    </a:cubicBezTo>
                    <a:close/>
                  </a:path>
                </a:pathLst>
              </a:custGeom>
              <a:solidFill>
                <a:srgbClr val="6391E8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104775"/>
                <a:ext cx="976616" cy="135613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20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1458985" y="656519"/>
              <a:ext cx="2026147" cy="25109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640"/>
                </a:lnSpc>
              </a:pPr>
              <a:r>
                <a:rPr lang="en-US" sz="11500">
                  <a:solidFill>
                    <a:srgbClr val="FFFFFF"/>
                  </a:solidFill>
                  <a:latin typeface="Sniglet"/>
                  <a:ea typeface="Sniglet"/>
                  <a:cs typeface="Sniglet"/>
                  <a:sym typeface="Sniglet"/>
                </a:rPr>
                <a:t>18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304082" y="3431023"/>
              <a:ext cx="4294764" cy="2023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080"/>
                </a:lnSpc>
              </a:pPr>
              <a:r>
                <a:rPr lang="en-US" sz="3000">
                  <a:solidFill>
                    <a:srgbClr val="FFFFFF"/>
                  </a:solidFill>
                  <a:latin typeface="Sniglet"/>
                  <a:ea typeface="Sniglet"/>
                  <a:cs typeface="Sniglet"/>
                  <a:sym typeface="Sniglet"/>
                </a:rPr>
                <a:t>Entrevistas semiestructuradas (EV-01 a EV-18)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088781" y="4206052"/>
            <a:ext cx="3831655" cy="4740458"/>
            <a:chOff x="0" y="0"/>
            <a:chExt cx="5108874" cy="6320610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5108874" cy="6320610"/>
              <a:chOff x="0" y="0"/>
              <a:chExt cx="1009160" cy="1248516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009160" cy="1248516"/>
              </a:xfrm>
              <a:custGeom>
                <a:avLst/>
                <a:gdLst/>
                <a:ahLst/>
                <a:cxnLst/>
                <a:rect r="r" b="b" t="t" l="l"/>
                <a:pathLst>
                  <a:path h="1248516" w="1009160">
                    <a:moveTo>
                      <a:pt x="103046" y="0"/>
                    </a:moveTo>
                    <a:lnTo>
                      <a:pt x="906114" y="0"/>
                    </a:lnTo>
                    <a:cubicBezTo>
                      <a:pt x="963025" y="0"/>
                      <a:pt x="1009160" y="46135"/>
                      <a:pt x="1009160" y="103046"/>
                    </a:cubicBezTo>
                    <a:lnTo>
                      <a:pt x="1009160" y="1145469"/>
                    </a:lnTo>
                    <a:cubicBezTo>
                      <a:pt x="1009160" y="1202380"/>
                      <a:pt x="963025" y="1248516"/>
                      <a:pt x="906114" y="1248516"/>
                    </a:cubicBezTo>
                    <a:lnTo>
                      <a:pt x="103046" y="1248516"/>
                    </a:lnTo>
                    <a:cubicBezTo>
                      <a:pt x="46135" y="1248516"/>
                      <a:pt x="0" y="1202380"/>
                      <a:pt x="0" y="1145469"/>
                    </a:cubicBezTo>
                    <a:lnTo>
                      <a:pt x="0" y="103046"/>
                    </a:lnTo>
                    <a:cubicBezTo>
                      <a:pt x="0" y="46135"/>
                      <a:pt x="46135" y="0"/>
                      <a:pt x="103046" y="0"/>
                    </a:cubicBezTo>
                    <a:close/>
                  </a:path>
                </a:pathLst>
              </a:custGeom>
              <a:solidFill>
                <a:srgbClr val="6391E8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104775"/>
                <a:ext cx="1009160" cy="135329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20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1507604" y="656519"/>
              <a:ext cx="2093666" cy="25109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640"/>
                </a:lnSpc>
              </a:pPr>
              <a:r>
                <a:rPr lang="en-US" sz="11500">
                  <a:solidFill>
                    <a:srgbClr val="FFFFFF"/>
                  </a:solidFill>
                  <a:latin typeface="Sniglet"/>
                  <a:ea typeface="Sniglet"/>
                  <a:cs typeface="Sniglet"/>
                  <a:sym typeface="Sniglet"/>
                </a:rPr>
                <a:t>61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432486" y="3119888"/>
              <a:ext cx="4243901" cy="27095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080"/>
                </a:lnSpc>
              </a:pPr>
              <a:r>
                <a:rPr lang="en-US" sz="3000">
                  <a:solidFill>
                    <a:srgbClr val="FFFFFF"/>
                  </a:solidFill>
                  <a:latin typeface="Sniglet"/>
                  <a:ea typeface="Sniglet"/>
                  <a:cs typeface="Sniglet"/>
                  <a:sym typeface="Sniglet"/>
                </a:rPr>
                <a:t>Respuestas válidas al</a:t>
              </a:r>
            </a:p>
            <a:p>
              <a:pPr algn="ctr">
                <a:lnSpc>
                  <a:spcPts val="4080"/>
                </a:lnSpc>
              </a:pPr>
              <a:r>
                <a:rPr lang="en-US" sz="3000">
                  <a:solidFill>
                    <a:srgbClr val="FFFFFF"/>
                  </a:solidFill>
                  <a:latin typeface="Sniglet"/>
                  <a:ea typeface="Sniglet"/>
                  <a:cs typeface="Sniglet"/>
                  <a:sym typeface="Sniglet"/>
                </a:rPr>
                <a:t>cuestionario digital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568136" y="4206052"/>
            <a:ext cx="3831655" cy="4751270"/>
            <a:chOff x="0" y="0"/>
            <a:chExt cx="5108874" cy="6335027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5108874" cy="6335027"/>
              <a:chOff x="0" y="0"/>
              <a:chExt cx="1009160" cy="1251363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009160" cy="1251363"/>
              </a:xfrm>
              <a:custGeom>
                <a:avLst/>
                <a:gdLst/>
                <a:ahLst/>
                <a:cxnLst/>
                <a:rect r="r" b="b" t="t" l="l"/>
                <a:pathLst>
                  <a:path h="1251363" w="1009160">
                    <a:moveTo>
                      <a:pt x="103046" y="0"/>
                    </a:moveTo>
                    <a:lnTo>
                      <a:pt x="906114" y="0"/>
                    </a:lnTo>
                    <a:cubicBezTo>
                      <a:pt x="963025" y="0"/>
                      <a:pt x="1009160" y="46135"/>
                      <a:pt x="1009160" y="103046"/>
                    </a:cubicBezTo>
                    <a:lnTo>
                      <a:pt x="1009160" y="1148317"/>
                    </a:lnTo>
                    <a:cubicBezTo>
                      <a:pt x="1009160" y="1175647"/>
                      <a:pt x="998304" y="1201857"/>
                      <a:pt x="978979" y="1221182"/>
                    </a:cubicBezTo>
                    <a:cubicBezTo>
                      <a:pt x="959654" y="1240507"/>
                      <a:pt x="933444" y="1251363"/>
                      <a:pt x="906114" y="1251363"/>
                    </a:cubicBezTo>
                    <a:lnTo>
                      <a:pt x="103046" y="1251363"/>
                    </a:lnTo>
                    <a:cubicBezTo>
                      <a:pt x="46135" y="1251363"/>
                      <a:pt x="0" y="1205228"/>
                      <a:pt x="0" y="1148317"/>
                    </a:cubicBezTo>
                    <a:lnTo>
                      <a:pt x="0" y="103046"/>
                    </a:lnTo>
                    <a:cubicBezTo>
                      <a:pt x="0" y="46135"/>
                      <a:pt x="46135" y="0"/>
                      <a:pt x="103046" y="0"/>
                    </a:cubicBezTo>
                    <a:close/>
                  </a:path>
                </a:pathLst>
              </a:custGeom>
              <a:solidFill>
                <a:srgbClr val="6391E8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104775"/>
                <a:ext cx="1009160" cy="135613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20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1507604" y="656519"/>
              <a:ext cx="2093666" cy="25109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640"/>
                </a:lnSpc>
              </a:pPr>
              <a:r>
                <a:rPr lang="en-US" sz="11500">
                  <a:solidFill>
                    <a:srgbClr val="FFFFFF"/>
                  </a:solidFill>
                  <a:latin typeface="Sniglet"/>
                  <a:ea typeface="Sniglet"/>
                  <a:cs typeface="Sniglet"/>
                  <a:sym typeface="Sniglet"/>
                </a:rPr>
                <a:t>6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432486" y="3408213"/>
              <a:ext cx="4243901" cy="2023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080"/>
                </a:lnSpc>
              </a:pPr>
              <a:r>
                <a:rPr lang="en-US" sz="3000">
                  <a:solidFill>
                    <a:srgbClr val="FFFFFF"/>
                  </a:solidFill>
                  <a:latin typeface="Sniglet"/>
                  <a:ea typeface="Sniglet"/>
                  <a:cs typeface="Sniglet"/>
                  <a:sym typeface="Sniglet"/>
                </a:rPr>
                <a:t>Sesiones de validación</a:t>
              </a:r>
            </a:p>
            <a:p>
              <a:pPr algn="ctr">
                <a:lnSpc>
                  <a:spcPts val="4080"/>
                </a:lnSpc>
              </a:pPr>
              <a:r>
                <a:rPr lang="en-US" sz="3000">
                  <a:solidFill>
                    <a:srgbClr val="FFFFFF"/>
                  </a:solidFill>
                  <a:latin typeface="Sniglet"/>
                  <a:ea typeface="Sniglet"/>
                  <a:cs typeface="Sniglet"/>
                  <a:sym typeface="Sniglet"/>
                </a:rPr>
                <a:t>walkthrough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4047491" y="4195240"/>
            <a:ext cx="3831655" cy="4751270"/>
            <a:chOff x="0" y="0"/>
            <a:chExt cx="5108874" cy="6335027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0"/>
              <a:ext cx="5108874" cy="6335027"/>
              <a:chOff x="0" y="0"/>
              <a:chExt cx="1009160" cy="1251363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1009160" cy="1251363"/>
              </a:xfrm>
              <a:custGeom>
                <a:avLst/>
                <a:gdLst/>
                <a:ahLst/>
                <a:cxnLst/>
                <a:rect r="r" b="b" t="t" l="l"/>
                <a:pathLst>
                  <a:path h="1251363" w="1009160">
                    <a:moveTo>
                      <a:pt x="103046" y="0"/>
                    </a:moveTo>
                    <a:lnTo>
                      <a:pt x="906114" y="0"/>
                    </a:lnTo>
                    <a:cubicBezTo>
                      <a:pt x="963025" y="0"/>
                      <a:pt x="1009160" y="46135"/>
                      <a:pt x="1009160" y="103046"/>
                    </a:cubicBezTo>
                    <a:lnTo>
                      <a:pt x="1009160" y="1148317"/>
                    </a:lnTo>
                    <a:cubicBezTo>
                      <a:pt x="1009160" y="1175647"/>
                      <a:pt x="998304" y="1201857"/>
                      <a:pt x="978979" y="1221182"/>
                    </a:cubicBezTo>
                    <a:cubicBezTo>
                      <a:pt x="959654" y="1240507"/>
                      <a:pt x="933444" y="1251363"/>
                      <a:pt x="906114" y="1251363"/>
                    </a:cubicBezTo>
                    <a:lnTo>
                      <a:pt x="103046" y="1251363"/>
                    </a:lnTo>
                    <a:cubicBezTo>
                      <a:pt x="46135" y="1251363"/>
                      <a:pt x="0" y="1205228"/>
                      <a:pt x="0" y="1148317"/>
                    </a:cubicBezTo>
                    <a:lnTo>
                      <a:pt x="0" y="103046"/>
                    </a:lnTo>
                    <a:cubicBezTo>
                      <a:pt x="0" y="46135"/>
                      <a:pt x="46135" y="0"/>
                      <a:pt x="103046" y="0"/>
                    </a:cubicBezTo>
                    <a:close/>
                  </a:path>
                </a:pathLst>
              </a:custGeom>
              <a:solidFill>
                <a:srgbClr val="6391E8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104775"/>
                <a:ext cx="1009160" cy="135613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20"/>
                  </a:lnSpc>
                </a:pPr>
              </a:p>
            </p:txBody>
          </p:sp>
        </p:grpSp>
        <p:sp>
          <p:nvSpPr>
            <p:cNvPr name="TextBox 30" id="30"/>
            <p:cNvSpPr txBox="true"/>
            <p:nvPr/>
          </p:nvSpPr>
          <p:spPr>
            <a:xfrm rot="0">
              <a:off x="1507604" y="656519"/>
              <a:ext cx="2093666" cy="25109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640"/>
                </a:lnSpc>
              </a:pPr>
              <a:r>
                <a:rPr lang="en-US" sz="11500">
                  <a:solidFill>
                    <a:srgbClr val="FFFFFF"/>
                  </a:solidFill>
                  <a:latin typeface="Sniglet"/>
                  <a:ea typeface="Sniglet"/>
                  <a:cs typeface="Sniglet"/>
                  <a:sym typeface="Sniglet"/>
                </a:rPr>
                <a:t>18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432486" y="3408213"/>
              <a:ext cx="4243901" cy="2023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080"/>
                </a:lnSpc>
              </a:pPr>
              <a:r>
                <a:rPr lang="en-US" sz="3000">
                  <a:solidFill>
                    <a:srgbClr val="FFFFFF"/>
                  </a:solidFill>
                  <a:latin typeface="Sniglet"/>
                  <a:ea typeface="Sniglet"/>
                  <a:cs typeface="Sniglet"/>
                  <a:sym typeface="Sniglet"/>
                </a:rPr>
                <a:t>Consentimientos</a:t>
              </a:r>
            </a:p>
            <a:p>
              <a:pPr algn="ctr">
                <a:lnSpc>
                  <a:spcPts val="4080"/>
                </a:lnSpc>
              </a:pPr>
              <a:r>
                <a:rPr lang="en-US" sz="3000">
                  <a:solidFill>
                    <a:srgbClr val="FFFFFF"/>
                  </a:solidFill>
                  <a:latin typeface="Sniglet"/>
                  <a:ea typeface="Sniglet"/>
                  <a:cs typeface="Sniglet"/>
                  <a:sym typeface="Sniglet"/>
                </a:rPr>
                <a:t>informados firmados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28461" y="189380"/>
            <a:ext cx="2770337" cy="378761"/>
            <a:chOff x="0" y="0"/>
            <a:chExt cx="3693782" cy="50501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58357" cy="505014"/>
            </a:xfrm>
            <a:custGeom>
              <a:avLst/>
              <a:gdLst/>
              <a:ahLst/>
              <a:cxnLst/>
              <a:rect r="r" b="b" t="t" l="l"/>
              <a:pathLst>
                <a:path h="505014" w="658357">
                  <a:moveTo>
                    <a:pt x="0" y="0"/>
                  </a:moveTo>
                  <a:lnTo>
                    <a:pt x="658357" y="0"/>
                  </a:lnTo>
                  <a:lnTo>
                    <a:pt x="658357" y="505014"/>
                  </a:lnTo>
                  <a:lnTo>
                    <a:pt x="0" y="5050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 rot="0">
              <a:off x="930695" y="-57441"/>
              <a:ext cx="2763087" cy="5602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20"/>
                </a:lnSpc>
                <a:spcBef>
                  <a:spcPct val="0"/>
                </a:spcBef>
              </a:pPr>
              <a:r>
                <a:rPr lang="en-US" sz="2300">
                  <a:solidFill>
                    <a:srgbClr val="FFFFFF"/>
                  </a:solidFill>
                  <a:latin typeface="Jua"/>
                  <a:ea typeface="Jua"/>
                  <a:cs typeface="Jua"/>
                  <a:sym typeface="Jua"/>
                </a:rPr>
                <a:t>MundiPets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10862" y="9227300"/>
            <a:ext cx="529336" cy="502388"/>
          </a:xfrm>
          <a:custGeom>
            <a:avLst/>
            <a:gdLst/>
            <a:ahLst/>
            <a:cxnLst/>
            <a:rect r="r" b="b" t="t" l="l"/>
            <a:pathLst>
              <a:path h="502388" w="529336">
                <a:moveTo>
                  <a:pt x="0" y="0"/>
                </a:moveTo>
                <a:lnTo>
                  <a:pt x="529336" y="0"/>
                </a:lnTo>
                <a:lnTo>
                  <a:pt x="529336" y="502388"/>
                </a:lnTo>
                <a:lnTo>
                  <a:pt x="0" y="5023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017788" y="989699"/>
            <a:ext cx="529336" cy="502388"/>
          </a:xfrm>
          <a:custGeom>
            <a:avLst/>
            <a:gdLst/>
            <a:ahLst/>
            <a:cxnLst/>
            <a:rect r="r" b="b" t="t" l="l"/>
            <a:pathLst>
              <a:path h="502388" w="529336">
                <a:moveTo>
                  <a:pt x="0" y="0"/>
                </a:moveTo>
                <a:lnTo>
                  <a:pt x="529336" y="0"/>
                </a:lnTo>
                <a:lnTo>
                  <a:pt x="529336" y="502388"/>
                </a:lnTo>
                <a:lnTo>
                  <a:pt x="0" y="5023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4631878">
            <a:off x="14096900" y="2845653"/>
            <a:ext cx="1152487" cy="993234"/>
          </a:xfrm>
          <a:custGeom>
            <a:avLst/>
            <a:gdLst/>
            <a:ahLst/>
            <a:cxnLst/>
            <a:rect r="r" b="b" t="t" l="l"/>
            <a:pathLst>
              <a:path h="993234" w="1152487">
                <a:moveTo>
                  <a:pt x="0" y="993234"/>
                </a:moveTo>
                <a:lnTo>
                  <a:pt x="1152487" y="993234"/>
                </a:lnTo>
                <a:lnTo>
                  <a:pt x="1152487" y="0"/>
                </a:lnTo>
                <a:lnTo>
                  <a:pt x="0" y="0"/>
                </a:lnTo>
                <a:lnTo>
                  <a:pt x="0" y="993234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702698" y="1469493"/>
            <a:ext cx="12882603" cy="1065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34"/>
              </a:lnSpc>
            </a:pPr>
            <a:r>
              <a:rPr lang="en-US" sz="8499" b="true">
                <a:solidFill>
                  <a:srgbClr val="FFFFFF"/>
                </a:solidFill>
                <a:latin typeface="Balsamiq Sans Bold"/>
                <a:ea typeface="Balsamiq Sans Bold"/>
                <a:cs typeface="Balsamiq Sans Bold"/>
                <a:sym typeface="Balsamiq Sans Bold"/>
              </a:rPr>
              <a:t>Estructura del ERS/SRS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8700" y="649939"/>
            <a:ext cx="2770337" cy="378761"/>
            <a:chOff x="0" y="0"/>
            <a:chExt cx="3693782" cy="50501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58357" cy="505014"/>
            </a:xfrm>
            <a:custGeom>
              <a:avLst/>
              <a:gdLst/>
              <a:ahLst/>
              <a:cxnLst/>
              <a:rect r="r" b="b" t="t" l="l"/>
              <a:pathLst>
                <a:path h="505014" w="658357">
                  <a:moveTo>
                    <a:pt x="0" y="0"/>
                  </a:moveTo>
                  <a:lnTo>
                    <a:pt x="658357" y="0"/>
                  </a:lnTo>
                  <a:lnTo>
                    <a:pt x="658357" y="505014"/>
                  </a:lnTo>
                  <a:lnTo>
                    <a:pt x="0" y="5050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930695" y="-57441"/>
              <a:ext cx="2763087" cy="5602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20"/>
                </a:lnSpc>
                <a:spcBef>
                  <a:spcPct val="0"/>
                </a:spcBef>
              </a:pPr>
              <a:r>
                <a:rPr lang="en-US" sz="2300">
                  <a:solidFill>
                    <a:srgbClr val="FFFFFF"/>
                  </a:solidFill>
                  <a:latin typeface="Jua"/>
                  <a:ea typeface="Jua"/>
                  <a:cs typeface="Jua"/>
                  <a:sym typeface="Jua"/>
                </a:rPr>
                <a:t>MundiPets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4226814" y="2841255"/>
            <a:ext cx="9834372" cy="501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80"/>
              </a:lnSpc>
            </a:pPr>
            <a:r>
              <a:rPr lang="en-US" sz="3000">
                <a:solidFill>
                  <a:srgbClr val="FFFCE8"/>
                </a:solidFill>
                <a:latin typeface="Sniglet"/>
                <a:ea typeface="Sniglet"/>
                <a:cs typeface="Sniglet"/>
                <a:sym typeface="Sniglet"/>
              </a:rPr>
              <a:t>Correspondencia con la norma ISO/IEC/IEEE 29148:2018</a:t>
            </a:r>
          </a:p>
        </p:txBody>
      </p:sp>
      <p:graphicFrame>
        <p:nvGraphicFramePr>
          <p:cNvPr name="Table 11" id="11"/>
          <p:cNvGraphicFramePr>
            <a:graphicFrameLocks noGrp="true"/>
          </p:cNvGraphicFramePr>
          <p:nvPr/>
        </p:nvGraphicFramePr>
        <p:xfrm>
          <a:off x="940198" y="4191922"/>
          <a:ext cx="16084947" cy="4525484"/>
        </p:xfrm>
        <a:graphic>
          <a:graphicData uri="http://schemas.openxmlformats.org/drawingml/2006/table">
            <a:tbl>
              <a:tblPr/>
              <a:tblGrid>
                <a:gridCol w="5378691"/>
                <a:gridCol w="10706256"/>
              </a:tblGrid>
              <a:tr h="90509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FFFFFF"/>
                          </a:solidFill>
                          <a:latin typeface="Sniglet"/>
                          <a:ea typeface="Sniglet"/>
                          <a:cs typeface="Sniglet"/>
                          <a:sym typeface="Sniglet"/>
                        </a:rPr>
                        <a:t>Cláusula de la norma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450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FFFFFF"/>
                          </a:solidFill>
                          <a:latin typeface="Sniglet"/>
                          <a:ea typeface="Sniglet"/>
                          <a:cs typeface="Sniglet"/>
                          <a:sym typeface="Sniglet"/>
                        </a:rPr>
                        <a:t>Sección del ERS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4506"/>
                    </a:solidFill>
                  </a:tcPr>
                </a:tc>
              </a:tr>
              <a:tr h="90509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1F2937"/>
                          </a:solidFill>
                          <a:latin typeface="Sniglet"/>
                          <a:ea typeface="Sniglet"/>
                          <a:cs typeface="Sniglet"/>
                          <a:sym typeface="Sniglet"/>
                        </a:rPr>
                        <a:t>1. Introducción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05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1F2937"/>
                          </a:solidFill>
                          <a:latin typeface="Sniglet"/>
                          <a:ea typeface="Sniglet"/>
                          <a:cs typeface="Sniglet"/>
                          <a:sym typeface="Sniglet"/>
                        </a:rPr>
                        <a:t>Sección 1 — propósito, alcance, glosario y referencias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058"/>
                    </a:solidFill>
                  </a:tcPr>
                </a:tc>
              </a:tr>
              <a:tr h="90509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1F2937"/>
                          </a:solidFill>
                          <a:latin typeface="Sniglet"/>
                          <a:ea typeface="Sniglet"/>
                          <a:cs typeface="Sniglet"/>
                          <a:sym typeface="Sniglet"/>
                        </a:rPr>
                        <a:t>2. Descripción general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05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1F2937"/>
                          </a:solidFill>
                          <a:latin typeface="Sniglet"/>
                          <a:ea typeface="Sniglet"/>
                          <a:cs typeface="Sniglet"/>
                          <a:sym typeface="Sniglet"/>
                        </a:rPr>
                        <a:t>Sección 2 — perspectiva, stakeholders, modelado i* (SD/SR)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058"/>
                    </a:solidFill>
                  </a:tcPr>
                </a:tc>
              </a:tr>
              <a:tr h="90509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1F2937"/>
                          </a:solidFill>
                          <a:latin typeface="Sniglet"/>
                          <a:ea typeface="Sniglet"/>
                          <a:cs typeface="Sniglet"/>
                          <a:sym typeface="Sniglet"/>
                        </a:rPr>
                        <a:t>3. Requisitos específicos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05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1F2937"/>
                          </a:solidFill>
                          <a:latin typeface="Sniglet"/>
                          <a:ea typeface="Sniglet"/>
                          <a:cs typeface="Sniglet"/>
                          <a:sym typeface="Sniglet"/>
                        </a:rPr>
                        <a:t>Sección 3 — 27 RF · 16 RNF · 9 RD · requisitos legales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058"/>
                    </a:solidFill>
                  </a:tcPr>
                </a:tc>
              </a:tr>
              <a:tr h="90509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1F2937"/>
                          </a:solidFill>
                          <a:latin typeface="Sniglet"/>
                          <a:ea typeface="Sniglet"/>
                          <a:cs typeface="Sniglet"/>
                          <a:sym typeface="Sniglet"/>
                        </a:rPr>
                        <a:t>4. Información de apoyo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05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1F2937"/>
                          </a:solidFill>
                          <a:latin typeface="Sniglet"/>
                          <a:ea typeface="Sniglet"/>
                          <a:cs typeface="Sniglet"/>
                          <a:sym typeface="Sniglet"/>
                        </a:rPr>
                        <a:t>Secciones 4–5 — UML completo y trazabilidad extendida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05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81100" y="802339"/>
            <a:ext cx="2770337" cy="378761"/>
            <a:chOff x="0" y="0"/>
            <a:chExt cx="3693782" cy="50501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58357" cy="505014"/>
            </a:xfrm>
            <a:custGeom>
              <a:avLst/>
              <a:gdLst/>
              <a:ahLst/>
              <a:cxnLst/>
              <a:rect r="r" b="b" t="t" l="l"/>
              <a:pathLst>
                <a:path h="505014" w="658357">
                  <a:moveTo>
                    <a:pt x="0" y="0"/>
                  </a:moveTo>
                  <a:lnTo>
                    <a:pt x="658357" y="0"/>
                  </a:lnTo>
                  <a:lnTo>
                    <a:pt x="658357" y="505014"/>
                  </a:lnTo>
                  <a:lnTo>
                    <a:pt x="0" y="5050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 rot="0">
              <a:off x="930695" y="-57441"/>
              <a:ext cx="2763087" cy="5602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20"/>
                </a:lnSpc>
                <a:spcBef>
                  <a:spcPct val="0"/>
                </a:spcBef>
              </a:pPr>
              <a:r>
                <a:rPr lang="en-US" sz="2300">
                  <a:solidFill>
                    <a:srgbClr val="FFFFFF"/>
                  </a:solidFill>
                  <a:latin typeface="Jua"/>
                  <a:ea typeface="Jua"/>
                  <a:cs typeface="Jua"/>
                  <a:sym typeface="Jua"/>
                </a:rPr>
                <a:t>MundiPets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780298" y="1477851"/>
            <a:ext cx="12882603" cy="1065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34"/>
              </a:lnSpc>
            </a:pPr>
            <a:r>
              <a:rPr lang="en-US" sz="8499" b="true">
                <a:solidFill>
                  <a:srgbClr val="FFFFFF"/>
                </a:solidFill>
                <a:latin typeface="Balsamiq Sans Bold"/>
                <a:ea typeface="Balsamiq Sans Bold"/>
                <a:cs typeface="Balsamiq Sans Bold"/>
                <a:sym typeface="Balsamiq Sans Bold"/>
              </a:rPr>
              <a:t>Requisitos funcionales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345686" y="2980518"/>
            <a:ext cx="3420400" cy="6662051"/>
            <a:chOff x="0" y="0"/>
            <a:chExt cx="4560533" cy="8882735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4560533" cy="8882735"/>
              <a:chOff x="0" y="0"/>
              <a:chExt cx="900846" cy="1754614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900846" cy="1754614"/>
              </a:xfrm>
              <a:custGeom>
                <a:avLst/>
                <a:gdLst/>
                <a:ahLst/>
                <a:cxnLst/>
                <a:rect r="r" b="b" t="t" l="l"/>
                <a:pathLst>
                  <a:path h="1754614" w="900846">
                    <a:moveTo>
                      <a:pt x="115436" y="0"/>
                    </a:moveTo>
                    <a:lnTo>
                      <a:pt x="785410" y="0"/>
                    </a:lnTo>
                    <a:cubicBezTo>
                      <a:pt x="816025" y="0"/>
                      <a:pt x="845387" y="12162"/>
                      <a:pt x="867036" y="33810"/>
                    </a:cubicBezTo>
                    <a:cubicBezTo>
                      <a:pt x="888684" y="55459"/>
                      <a:pt x="900846" y="84821"/>
                      <a:pt x="900846" y="115436"/>
                    </a:cubicBezTo>
                    <a:lnTo>
                      <a:pt x="900846" y="1639178"/>
                    </a:lnTo>
                    <a:cubicBezTo>
                      <a:pt x="900846" y="1702932"/>
                      <a:pt x="849163" y="1754614"/>
                      <a:pt x="785410" y="1754614"/>
                    </a:cubicBezTo>
                    <a:lnTo>
                      <a:pt x="115436" y="1754614"/>
                    </a:lnTo>
                    <a:cubicBezTo>
                      <a:pt x="84821" y="1754614"/>
                      <a:pt x="55459" y="1742452"/>
                      <a:pt x="33810" y="1720804"/>
                    </a:cubicBezTo>
                    <a:cubicBezTo>
                      <a:pt x="12162" y="1699155"/>
                      <a:pt x="0" y="1669794"/>
                      <a:pt x="0" y="1639178"/>
                    </a:cubicBezTo>
                    <a:lnTo>
                      <a:pt x="0" y="115436"/>
                    </a:lnTo>
                    <a:cubicBezTo>
                      <a:pt x="0" y="84821"/>
                      <a:pt x="12162" y="55459"/>
                      <a:pt x="33810" y="33810"/>
                    </a:cubicBezTo>
                    <a:cubicBezTo>
                      <a:pt x="55459" y="12162"/>
                      <a:pt x="84821" y="0"/>
                      <a:pt x="115436" y="0"/>
                    </a:cubicBezTo>
                    <a:close/>
                  </a:path>
                </a:pathLst>
              </a:custGeom>
              <a:solidFill>
                <a:srgbClr val="6391E8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104775"/>
                <a:ext cx="900846" cy="185938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20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1275633" y="1398596"/>
              <a:ext cx="2009268" cy="23911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960"/>
                </a:lnSpc>
              </a:pPr>
              <a:r>
                <a:rPr lang="en-US" sz="11000">
                  <a:solidFill>
                    <a:srgbClr val="FFFFFF"/>
                  </a:solidFill>
                  <a:latin typeface="Sniglet"/>
                  <a:ea typeface="Sniglet"/>
                  <a:cs typeface="Sniglet"/>
                  <a:sym typeface="Sniglet"/>
                </a:rPr>
                <a:t>27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150774" y="4112861"/>
              <a:ext cx="4258984" cy="33953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080"/>
                </a:lnSpc>
              </a:pPr>
              <a:r>
                <a:rPr lang="en-US" sz="3000">
                  <a:solidFill>
                    <a:srgbClr val="FFFFFF"/>
                  </a:solidFill>
                  <a:latin typeface="Sniglet"/>
                  <a:ea typeface="Sniglet"/>
                  <a:cs typeface="Sniglet"/>
                  <a:sym typeface="Sniglet"/>
                </a:rPr>
                <a:t>Requisitos funcionales,</a:t>
              </a:r>
            </a:p>
            <a:p>
              <a:pPr algn="ctr">
                <a:lnSpc>
                  <a:spcPts val="4080"/>
                </a:lnSpc>
              </a:pPr>
              <a:r>
                <a:rPr lang="en-US" sz="3000">
                  <a:solidFill>
                    <a:srgbClr val="FFFFFF"/>
                  </a:solidFill>
                  <a:latin typeface="Sniglet"/>
                  <a:ea typeface="Sniglet"/>
                  <a:cs typeface="Sniglet"/>
                  <a:sym typeface="Sniglet"/>
                </a:rPr>
                <a:t>todos trazados a evidencia</a:t>
              </a:r>
            </a:p>
            <a:p>
              <a:pPr algn="ctr">
                <a:lnSpc>
                  <a:spcPts val="4080"/>
                </a:lnSpc>
              </a:pPr>
              <a:r>
                <a:rPr lang="en-US" sz="3000">
                  <a:solidFill>
                    <a:srgbClr val="FFFFFF"/>
                  </a:solidFill>
                  <a:latin typeface="Sniglet"/>
                  <a:ea typeface="Sniglet"/>
                  <a:cs typeface="Sniglet"/>
                  <a:sym typeface="Sniglet"/>
                </a:rPr>
                <a:t>de campo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1964618">
            <a:off x="16668329" y="1354555"/>
            <a:ext cx="1190764" cy="941605"/>
          </a:xfrm>
          <a:custGeom>
            <a:avLst/>
            <a:gdLst/>
            <a:ahLst/>
            <a:cxnLst/>
            <a:rect r="r" b="b" t="t" l="l"/>
            <a:pathLst>
              <a:path h="941605" w="1190764">
                <a:moveTo>
                  <a:pt x="0" y="0"/>
                </a:moveTo>
                <a:lnTo>
                  <a:pt x="1190763" y="0"/>
                </a:lnTo>
                <a:lnTo>
                  <a:pt x="1190763" y="941605"/>
                </a:lnTo>
                <a:lnTo>
                  <a:pt x="0" y="9416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1084807">
            <a:off x="15417305" y="542940"/>
            <a:ext cx="1135064" cy="897560"/>
          </a:xfrm>
          <a:custGeom>
            <a:avLst/>
            <a:gdLst/>
            <a:ahLst/>
            <a:cxnLst/>
            <a:rect r="r" b="b" t="t" l="l"/>
            <a:pathLst>
              <a:path h="897560" w="1135064">
                <a:moveTo>
                  <a:pt x="0" y="0"/>
                </a:moveTo>
                <a:lnTo>
                  <a:pt x="1135064" y="0"/>
                </a:lnTo>
                <a:lnTo>
                  <a:pt x="1135064" y="897560"/>
                </a:lnTo>
                <a:lnTo>
                  <a:pt x="0" y="8975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3951437" y="2980518"/>
            <a:ext cx="14067697" cy="1421981"/>
            <a:chOff x="0" y="0"/>
            <a:chExt cx="18756929" cy="1895975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18756929" cy="1895975"/>
              <a:chOff x="0" y="0"/>
              <a:chExt cx="3705072" cy="374514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3705072" cy="374514"/>
              </a:xfrm>
              <a:custGeom>
                <a:avLst/>
                <a:gdLst/>
                <a:ahLst/>
                <a:cxnLst/>
                <a:rect r="r" b="b" t="t" l="l"/>
                <a:pathLst>
                  <a:path h="374514" w="3705072">
                    <a:moveTo>
                      <a:pt x="19262" y="0"/>
                    </a:moveTo>
                    <a:lnTo>
                      <a:pt x="3685811" y="0"/>
                    </a:lnTo>
                    <a:cubicBezTo>
                      <a:pt x="3696448" y="0"/>
                      <a:pt x="3705072" y="8624"/>
                      <a:pt x="3705072" y="19262"/>
                    </a:cubicBezTo>
                    <a:lnTo>
                      <a:pt x="3705072" y="355252"/>
                    </a:lnTo>
                    <a:cubicBezTo>
                      <a:pt x="3705072" y="360360"/>
                      <a:pt x="3703043" y="365260"/>
                      <a:pt x="3699431" y="368872"/>
                    </a:cubicBezTo>
                    <a:cubicBezTo>
                      <a:pt x="3695819" y="372484"/>
                      <a:pt x="3690919" y="374514"/>
                      <a:pt x="3685811" y="374514"/>
                    </a:cubicBezTo>
                    <a:lnTo>
                      <a:pt x="19262" y="374514"/>
                    </a:lnTo>
                    <a:cubicBezTo>
                      <a:pt x="8624" y="374514"/>
                      <a:pt x="0" y="365890"/>
                      <a:pt x="0" y="355252"/>
                    </a:cubicBezTo>
                    <a:lnTo>
                      <a:pt x="0" y="19262"/>
                    </a:lnTo>
                    <a:cubicBezTo>
                      <a:pt x="0" y="8624"/>
                      <a:pt x="8624" y="0"/>
                      <a:pt x="19262" y="0"/>
                    </a:cubicBezTo>
                    <a:close/>
                  </a:path>
                </a:pathLst>
              </a:custGeom>
              <a:solidFill>
                <a:srgbClr val="FEDB9E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104775"/>
                <a:ext cx="3705072" cy="47928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20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570376" y="1005143"/>
              <a:ext cx="17320357" cy="6067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08"/>
                </a:lnSpc>
              </a:pPr>
              <a:r>
                <a:rPr lang="en-US" sz="2800">
                  <a:solidFill>
                    <a:srgbClr val="5D3700"/>
                  </a:solidFill>
                  <a:latin typeface="Sniglet"/>
                  <a:ea typeface="Sniglet"/>
                  <a:cs typeface="Sniglet"/>
                  <a:sym typeface="Sniglet"/>
                </a:rPr>
                <a:t>Registro, historial médico, perfil, búsqueda y solicitudes de adopción.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570376" y="494617"/>
              <a:ext cx="5049047" cy="5378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30"/>
                </a:lnSpc>
              </a:pPr>
              <a:r>
                <a:rPr lang="en-US" sz="3000" b="true">
                  <a:solidFill>
                    <a:srgbClr val="5D3700"/>
                  </a:solidFill>
                  <a:latin typeface="Balsamiq Sans Bold"/>
                  <a:ea typeface="Balsamiq Sans Bold"/>
                  <a:cs typeface="Balsamiq Sans Bold"/>
                  <a:sym typeface="Balsamiq Sans Bold"/>
                </a:rPr>
                <a:t>RF-01 a RF-05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3951437" y="4741220"/>
            <a:ext cx="14067697" cy="1298413"/>
            <a:chOff x="0" y="0"/>
            <a:chExt cx="18756929" cy="1731218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18756929" cy="1731218"/>
              <a:chOff x="0" y="0"/>
              <a:chExt cx="3705072" cy="341969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3705072" cy="341969"/>
              </a:xfrm>
              <a:custGeom>
                <a:avLst/>
                <a:gdLst/>
                <a:ahLst/>
                <a:cxnLst/>
                <a:rect r="r" b="b" t="t" l="l"/>
                <a:pathLst>
                  <a:path h="341969" w="3705072">
                    <a:moveTo>
                      <a:pt x="19262" y="0"/>
                    </a:moveTo>
                    <a:lnTo>
                      <a:pt x="3685811" y="0"/>
                    </a:lnTo>
                    <a:cubicBezTo>
                      <a:pt x="3696448" y="0"/>
                      <a:pt x="3705072" y="8624"/>
                      <a:pt x="3705072" y="19262"/>
                    </a:cubicBezTo>
                    <a:lnTo>
                      <a:pt x="3705072" y="322707"/>
                    </a:lnTo>
                    <a:cubicBezTo>
                      <a:pt x="3705072" y="327816"/>
                      <a:pt x="3703043" y="332715"/>
                      <a:pt x="3699431" y="336327"/>
                    </a:cubicBezTo>
                    <a:cubicBezTo>
                      <a:pt x="3695819" y="339940"/>
                      <a:pt x="3690919" y="341969"/>
                      <a:pt x="3685811" y="341969"/>
                    </a:cubicBezTo>
                    <a:lnTo>
                      <a:pt x="19262" y="341969"/>
                    </a:lnTo>
                    <a:cubicBezTo>
                      <a:pt x="8624" y="341969"/>
                      <a:pt x="0" y="333345"/>
                      <a:pt x="0" y="322707"/>
                    </a:cubicBezTo>
                    <a:lnTo>
                      <a:pt x="0" y="19262"/>
                    </a:lnTo>
                    <a:cubicBezTo>
                      <a:pt x="0" y="8624"/>
                      <a:pt x="8624" y="0"/>
                      <a:pt x="19262" y="0"/>
                    </a:cubicBezTo>
                    <a:close/>
                  </a:path>
                </a:pathLst>
              </a:custGeom>
              <a:solidFill>
                <a:srgbClr val="FEDB9E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104775"/>
                <a:ext cx="3705072" cy="44674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20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570376" y="838579"/>
              <a:ext cx="17320357" cy="6067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08"/>
                </a:lnSpc>
              </a:pPr>
              <a:r>
                <a:rPr lang="en-US" sz="2800">
                  <a:solidFill>
                    <a:srgbClr val="5D3700"/>
                  </a:solidFill>
                  <a:latin typeface="Sniglet"/>
                  <a:ea typeface="Sniglet"/>
                  <a:cs typeface="Sniglet"/>
                  <a:sym typeface="Sniglet"/>
                </a:rPr>
                <a:t>Evaluación de compatibilidad para cruza y validación de imágenes.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570376" y="350166"/>
              <a:ext cx="5049047" cy="5378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30"/>
                </a:lnSpc>
              </a:pPr>
              <a:r>
                <a:rPr lang="en-US" sz="3000" b="true">
                  <a:solidFill>
                    <a:srgbClr val="5D3700"/>
                  </a:solidFill>
                  <a:latin typeface="Balsamiq Sans Bold"/>
                  <a:ea typeface="Balsamiq Sans Bold"/>
                  <a:cs typeface="Balsamiq Sans Bold"/>
                  <a:sym typeface="Balsamiq Sans Bold"/>
                </a:rPr>
                <a:t>RF-06 · RF-17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3980462" y="6382534"/>
            <a:ext cx="14038671" cy="1310225"/>
            <a:chOff x="0" y="0"/>
            <a:chExt cx="18718229" cy="1746967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18718229" cy="1746967"/>
              <a:chOff x="0" y="0"/>
              <a:chExt cx="3697428" cy="34508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3697428" cy="345080"/>
              </a:xfrm>
              <a:custGeom>
                <a:avLst/>
                <a:gdLst/>
                <a:ahLst/>
                <a:cxnLst/>
                <a:rect r="r" b="b" t="t" l="l"/>
                <a:pathLst>
                  <a:path h="345080" w="3697428">
                    <a:moveTo>
                      <a:pt x="19301" y="0"/>
                    </a:moveTo>
                    <a:lnTo>
                      <a:pt x="3678126" y="0"/>
                    </a:lnTo>
                    <a:cubicBezTo>
                      <a:pt x="3688786" y="0"/>
                      <a:pt x="3697428" y="8642"/>
                      <a:pt x="3697428" y="19301"/>
                    </a:cubicBezTo>
                    <a:lnTo>
                      <a:pt x="3697428" y="325778"/>
                    </a:lnTo>
                    <a:cubicBezTo>
                      <a:pt x="3697428" y="330897"/>
                      <a:pt x="3695394" y="335807"/>
                      <a:pt x="3691775" y="339427"/>
                    </a:cubicBezTo>
                    <a:cubicBezTo>
                      <a:pt x="3688155" y="343046"/>
                      <a:pt x="3683245" y="345080"/>
                      <a:pt x="3678126" y="345080"/>
                    </a:cubicBezTo>
                    <a:lnTo>
                      <a:pt x="19301" y="345080"/>
                    </a:lnTo>
                    <a:cubicBezTo>
                      <a:pt x="14182" y="345080"/>
                      <a:pt x="9273" y="343046"/>
                      <a:pt x="5653" y="339427"/>
                    </a:cubicBezTo>
                    <a:cubicBezTo>
                      <a:pt x="2034" y="335807"/>
                      <a:pt x="0" y="330897"/>
                      <a:pt x="0" y="325778"/>
                    </a:cubicBezTo>
                    <a:lnTo>
                      <a:pt x="0" y="19301"/>
                    </a:lnTo>
                    <a:cubicBezTo>
                      <a:pt x="0" y="14182"/>
                      <a:pt x="2034" y="9273"/>
                      <a:pt x="5653" y="5653"/>
                    </a:cubicBezTo>
                    <a:cubicBezTo>
                      <a:pt x="9273" y="2034"/>
                      <a:pt x="14182" y="0"/>
                      <a:pt x="19301" y="0"/>
                    </a:cubicBezTo>
                    <a:close/>
                  </a:path>
                </a:pathLst>
              </a:custGeom>
              <a:solidFill>
                <a:srgbClr val="FEDB9E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104775"/>
                <a:ext cx="3697428" cy="44985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20"/>
                  </a:lnSpc>
                </a:pP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515718" y="792390"/>
              <a:ext cx="17921809" cy="6067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08"/>
                </a:lnSpc>
              </a:pPr>
              <a:r>
                <a:rPr lang="en-US" sz="2800">
                  <a:solidFill>
                    <a:srgbClr val="5D3700"/>
                  </a:solidFill>
                  <a:latin typeface="Sniglet"/>
                  <a:ea typeface="Sniglet"/>
                  <a:cs typeface="Sniglet"/>
                  <a:sym typeface="Sniglet"/>
                </a:rPr>
                <a:t>Validación de información médica, certificados veterinarios y segunda opinión.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515718" y="302170"/>
              <a:ext cx="10867159" cy="5378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30"/>
                </a:lnSpc>
              </a:pPr>
              <a:r>
                <a:rPr lang="en-US" sz="3000" b="true">
                  <a:solidFill>
                    <a:srgbClr val="5D3700"/>
                  </a:solidFill>
                  <a:latin typeface="Balsamiq Sans Bold"/>
                  <a:ea typeface="Balsamiq Sans Bold"/>
                  <a:cs typeface="Balsamiq Sans Bold"/>
                  <a:sym typeface="Balsamiq Sans Bold"/>
                </a:rPr>
                <a:t>RF-09 · RF-19 · RF-26 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4009488" y="7985456"/>
            <a:ext cx="14009646" cy="1732959"/>
            <a:chOff x="0" y="0"/>
            <a:chExt cx="18679528" cy="2310613"/>
          </a:xfrm>
        </p:grpSpPr>
        <p:grpSp>
          <p:nvGrpSpPr>
            <p:cNvPr name="Group 34" id="34"/>
            <p:cNvGrpSpPr/>
            <p:nvPr/>
          </p:nvGrpSpPr>
          <p:grpSpPr>
            <a:xfrm rot="0">
              <a:off x="0" y="0"/>
              <a:ext cx="18679528" cy="2310613"/>
              <a:chOff x="0" y="0"/>
              <a:chExt cx="3689783" cy="456417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3689783" cy="456417"/>
              </a:xfrm>
              <a:custGeom>
                <a:avLst/>
                <a:gdLst/>
                <a:ahLst/>
                <a:cxnLst/>
                <a:rect r="r" b="b" t="t" l="l"/>
                <a:pathLst>
                  <a:path h="456417" w="3689783">
                    <a:moveTo>
                      <a:pt x="19341" y="0"/>
                    </a:moveTo>
                    <a:lnTo>
                      <a:pt x="3670442" y="0"/>
                    </a:lnTo>
                    <a:cubicBezTo>
                      <a:pt x="3681124" y="0"/>
                      <a:pt x="3689783" y="8659"/>
                      <a:pt x="3689783" y="19341"/>
                    </a:cubicBezTo>
                    <a:lnTo>
                      <a:pt x="3689783" y="437076"/>
                    </a:lnTo>
                    <a:cubicBezTo>
                      <a:pt x="3689783" y="442206"/>
                      <a:pt x="3687745" y="447125"/>
                      <a:pt x="3684118" y="450752"/>
                    </a:cubicBezTo>
                    <a:cubicBezTo>
                      <a:pt x="3680491" y="454380"/>
                      <a:pt x="3675571" y="456417"/>
                      <a:pt x="3670442" y="456417"/>
                    </a:cubicBezTo>
                    <a:lnTo>
                      <a:pt x="19341" y="456417"/>
                    </a:lnTo>
                    <a:cubicBezTo>
                      <a:pt x="14212" y="456417"/>
                      <a:pt x="9292" y="454380"/>
                      <a:pt x="5665" y="450752"/>
                    </a:cubicBezTo>
                    <a:cubicBezTo>
                      <a:pt x="2038" y="447125"/>
                      <a:pt x="0" y="442206"/>
                      <a:pt x="0" y="437076"/>
                    </a:cubicBezTo>
                    <a:lnTo>
                      <a:pt x="0" y="19341"/>
                    </a:lnTo>
                    <a:cubicBezTo>
                      <a:pt x="0" y="8659"/>
                      <a:pt x="8659" y="0"/>
                      <a:pt x="19341" y="0"/>
                    </a:cubicBezTo>
                    <a:close/>
                  </a:path>
                </a:pathLst>
              </a:custGeom>
              <a:solidFill>
                <a:srgbClr val="FEDB9E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104775"/>
                <a:ext cx="3689783" cy="56119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20"/>
                  </a:lnSpc>
                </a:pPr>
              </a:p>
            </p:txBody>
          </p:sp>
        </p:grpSp>
        <p:sp>
          <p:nvSpPr>
            <p:cNvPr name="TextBox 37" id="37"/>
            <p:cNvSpPr txBox="true"/>
            <p:nvPr/>
          </p:nvSpPr>
          <p:spPr>
            <a:xfrm rot="0">
              <a:off x="397387" y="675369"/>
              <a:ext cx="18282141" cy="12417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08"/>
                </a:lnSpc>
              </a:pPr>
              <a:r>
                <a:rPr lang="en-US" sz="2800">
                  <a:solidFill>
                    <a:srgbClr val="5D3700"/>
                  </a:solidFill>
                  <a:latin typeface="Sniglet"/>
                  <a:ea typeface="Sniglet"/>
                  <a:cs typeface="Sniglet"/>
                  <a:sym typeface="Sniglet"/>
                </a:rPr>
                <a:t>Incorporados en la segunda ronda de campo: flujo por etapas, microchip, seguimiento post-adopción, alertas y avisos de extravío.</a:t>
              </a: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723590" y="185149"/>
              <a:ext cx="4555774" cy="5378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30"/>
                </a:lnSpc>
              </a:pPr>
              <a:r>
                <a:rPr lang="en-US" sz="3000" b="true">
                  <a:solidFill>
                    <a:srgbClr val="5D3700"/>
                  </a:solidFill>
                  <a:latin typeface="Balsamiq Sans Bold"/>
                  <a:ea typeface="Balsamiq Sans Bold"/>
                  <a:cs typeface="Balsamiq Sans Bold"/>
                  <a:sym typeface="Balsamiq Sans Bold"/>
                </a:rPr>
                <a:t>RF-18 a RF-27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02740" y="1238929"/>
            <a:ext cx="2629958" cy="2128868"/>
            <a:chOff x="0" y="0"/>
            <a:chExt cx="3506610" cy="2838491"/>
          </a:xfrm>
        </p:grpSpPr>
        <p:sp>
          <p:nvSpPr>
            <p:cNvPr name="Freeform 4" id="4"/>
            <p:cNvSpPr/>
            <p:nvPr/>
          </p:nvSpPr>
          <p:spPr>
            <a:xfrm flipH="false" flipV="false" rot="1490239">
              <a:off x="163379" y="1150111"/>
              <a:ext cx="2253202" cy="1274083"/>
            </a:xfrm>
            <a:custGeom>
              <a:avLst/>
              <a:gdLst/>
              <a:ahLst/>
              <a:cxnLst/>
              <a:rect r="r" b="b" t="t" l="l"/>
              <a:pathLst>
                <a:path h="1274083" w="2253202">
                  <a:moveTo>
                    <a:pt x="0" y="0"/>
                  </a:moveTo>
                  <a:lnTo>
                    <a:pt x="2253202" y="0"/>
                  </a:lnTo>
                  <a:lnTo>
                    <a:pt x="2253202" y="1274083"/>
                  </a:lnTo>
                  <a:lnTo>
                    <a:pt x="0" y="12740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1388864">
              <a:off x="550046" y="493858"/>
              <a:ext cx="2796589" cy="1386642"/>
            </a:xfrm>
            <a:custGeom>
              <a:avLst/>
              <a:gdLst/>
              <a:ahLst/>
              <a:cxnLst/>
              <a:rect r="r" b="b" t="t" l="l"/>
              <a:pathLst>
                <a:path h="1386642" w="2796589">
                  <a:moveTo>
                    <a:pt x="0" y="0"/>
                  </a:moveTo>
                  <a:lnTo>
                    <a:pt x="2796588" y="0"/>
                  </a:lnTo>
                  <a:lnTo>
                    <a:pt x="2796588" y="1386642"/>
                  </a:lnTo>
                  <a:lnTo>
                    <a:pt x="0" y="13866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5843991" y="958694"/>
            <a:ext cx="2538109" cy="2409104"/>
            <a:chOff x="0" y="0"/>
            <a:chExt cx="3384145" cy="3212138"/>
          </a:xfrm>
        </p:grpSpPr>
        <p:sp>
          <p:nvSpPr>
            <p:cNvPr name="Freeform 7" id="7"/>
            <p:cNvSpPr/>
            <p:nvPr/>
          </p:nvSpPr>
          <p:spPr>
            <a:xfrm flipH="false" flipV="false" rot="-1033563">
              <a:off x="365329" y="1485512"/>
              <a:ext cx="2463640" cy="1393076"/>
            </a:xfrm>
            <a:custGeom>
              <a:avLst/>
              <a:gdLst/>
              <a:ahLst/>
              <a:cxnLst/>
              <a:rect r="r" b="b" t="t" l="l"/>
              <a:pathLst>
                <a:path h="1393076" w="2463640">
                  <a:moveTo>
                    <a:pt x="0" y="0"/>
                  </a:moveTo>
                  <a:lnTo>
                    <a:pt x="2463639" y="0"/>
                  </a:lnTo>
                  <a:lnTo>
                    <a:pt x="2463639" y="1393076"/>
                  </a:lnTo>
                  <a:lnTo>
                    <a:pt x="0" y="13930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-1134938">
              <a:off x="163184" y="454690"/>
              <a:ext cx="3057776" cy="1516147"/>
            </a:xfrm>
            <a:custGeom>
              <a:avLst/>
              <a:gdLst/>
              <a:ahLst/>
              <a:cxnLst/>
              <a:rect r="r" b="b" t="t" l="l"/>
              <a:pathLst>
                <a:path h="1516147" w="3057776">
                  <a:moveTo>
                    <a:pt x="0" y="0"/>
                  </a:moveTo>
                  <a:lnTo>
                    <a:pt x="3057776" y="0"/>
                  </a:lnTo>
                  <a:lnTo>
                    <a:pt x="3057776" y="1516147"/>
                  </a:lnTo>
                  <a:lnTo>
                    <a:pt x="0" y="15161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1983271">
            <a:off x="-1701816" y="6609991"/>
            <a:ext cx="3951963" cy="3324589"/>
          </a:xfrm>
          <a:custGeom>
            <a:avLst/>
            <a:gdLst/>
            <a:ahLst/>
            <a:cxnLst/>
            <a:rect r="r" b="b" t="t" l="l"/>
            <a:pathLst>
              <a:path h="3324589" w="3951963">
                <a:moveTo>
                  <a:pt x="0" y="0"/>
                </a:moveTo>
                <a:lnTo>
                  <a:pt x="3951963" y="0"/>
                </a:lnTo>
                <a:lnTo>
                  <a:pt x="3951963" y="3324589"/>
                </a:lnTo>
                <a:lnTo>
                  <a:pt x="0" y="33245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9999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4083474">
            <a:off x="16406118" y="3953926"/>
            <a:ext cx="3951963" cy="3324589"/>
          </a:xfrm>
          <a:custGeom>
            <a:avLst/>
            <a:gdLst/>
            <a:ahLst/>
            <a:cxnLst/>
            <a:rect r="r" b="b" t="t" l="l"/>
            <a:pathLst>
              <a:path h="3324589" w="3951963">
                <a:moveTo>
                  <a:pt x="0" y="0"/>
                </a:moveTo>
                <a:lnTo>
                  <a:pt x="3951963" y="0"/>
                </a:lnTo>
                <a:lnTo>
                  <a:pt x="3951963" y="3324589"/>
                </a:lnTo>
                <a:lnTo>
                  <a:pt x="0" y="33245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9999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451846" y="661343"/>
            <a:ext cx="2770337" cy="378761"/>
            <a:chOff x="0" y="0"/>
            <a:chExt cx="3693782" cy="50501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58357" cy="505014"/>
            </a:xfrm>
            <a:custGeom>
              <a:avLst/>
              <a:gdLst/>
              <a:ahLst/>
              <a:cxnLst/>
              <a:rect r="r" b="b" t="t" l="l"/>
              <a:pathLst>
                <a:path h="505014" w="658357">
                  <a:moveTo>
                    <a:pt x="0" y="0"/>
                  </a:moveTo>
                  <a:lnTo>
                    <a:pt x="658357" y="0"/>
                  </a:lnTo>
                  <a:lnTo>
                    <a:pt x="658357" y="505014"/>
                  </a:lnTo>
                  <a:lnTo>
                    <a:pt x="0" y="5050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 rot="0">
              <a:off x="930695" y="-57441"/>
              <a:ext cx="2763087" cy="5602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20"/>
                </a:lnSpc>
                <a:spcBef>
                  <a:spcPct val="0"/>
                </a:spcBef>
              </a:pPr>
              <a:r>
                <a:rPr lang="en-US" sz="2300">
                  <a:solidFill>
                    <a:srgbClr val="FFFFFF"/>
                  </a:solidFill>
                  <a:latin typeface="Jua"/>
                  <a:ea typeface="Jua"/>
                  <a:cs typeface="Jua"/>
                  <a:sym typeface="Jua"/>
                </a:rPr>
                <a:t>MundiPets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932698" y="1394361"/>
            <a:ext cx="12882603" cy="2046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34"/>
              </a:lnSpc>
            </a:pPr>
            <a:r>
              <a:rPr lang="en-US" sz="8499" b="true">
                <a:solidFill>
                  <a:srgbClr val="FFFFFF"/>
                </a:solidFill>
                <a:latin typeface="Balsamiq Sans Bold"/>
                <a:ea typeface="Balsamiq Sans Bold"/>
                <a:cs typeface="Balsamiq Sans Bold"/>
                <a:sym typeface="Balsamiq Sans Bold"/>
              </a:rPr>
              <a:t>Requisitos no funcionales y marco legal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508573" y="3844281"/>
            <a:ext cx="8363102" cy="5414019"/>
            <a:chOff x="0" y="0"/>
            <a:chExt cx="11150803" cy="7218691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11150803" cy="7218691"/>
              <a:chOff x="0" y="0"/>
              <a:chExt cx="2202628" cy="1425914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2202628" cy="1425914"/>
              </a:xfrm>
              <a:custGeom>
                <a:avLst/>
                <a:gdLst/>
                <a:ahLst/>
                <a:cxnLst/>
                <a:rect r="r" b="b" t="t" l="l"/>
                <a:pathLst>
                  <a:path h="1425914" w="2202628">
                    <a:moveTo>
                      <a:pt x="47212" y="0"/>
                    </a:moveTo>
                    <a:lnTo>
                      <a:pt x="2155416" y="0"/>
                    </a:lnTo>
                    <a:cubicBezTo>
                      <a:pt x="2167937" y="0"/>
                      <a:pt x="2179946" y="4974"/>
                      <a:pt x="2188800" y="13828"/>
                    </a:cubicBezTo>
                    <a:cubicBezTo>
                      <a:pt x="2197654" y="22682"/>
                      <a:pt x="2202628" y="34691"/>
                      <a:pt x="2202628" y="47212"/>
                    </a:cubicBezTo>
                    <a:lnTo>
                      <a:pt x="2202628" y="1378702"/>
                    </a:lnTo>
                    <a:cubicBezTo>
                      <a:pt x="2202628" y="1404777"/>
                      <a:pt x="2181490" y="1425914"/>
                      <a:pt x="2155416" y="1425914"/>
                    </a:cubicBezTo>
                    <a:lnTo>
                      <a:pt x="47212" y="1425914"/>
                    </a:lnTo>
                    <a:cubicBezTo>
                      <a:pt x="21137" y="1425914"/>
                      <a:pt x="0" y="1404777"/>
                      <a:pt x="0" y="1378702"/>
                    </a:cubicBezTo>
                    <a:lnTo>
                      <a:pt x="0" y="47212"/>
                    </a:lnTo>
                    <a:cubicBezTo>
                      <a:pt x="0" y="21137"/>
                      <a:pt x="21137" y="0"/>
                      <a:pt x="47212" y="0"/>
                    </a:cubicBezTo>
                    <a:close/>
                  </a:path>
                </a:pathLst>
              </a:custGeom>
              <a:solidFill>
                <a:srgbClr val="FFD058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104775"/>
                <a:ext cx="2202628" cy="153068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20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356720" y="1803972"/>
              <a:ext cx="10437362" cy="47669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47700" indent="-323850" lvl="1">
                <a:lnSpc>
                  <a:spcPts val="4080"/>
                </a:lnSpc>
                <a:buFont typeface="Arial"/>
                <a:buChar char="•"/>
              </a:pPr>
              <a:r>
                <a:rPr lang="en-US" sz="3000">
                  <a:solidFill>
                    <a:srgbClr val="0D3889"/>
                  </a:solidFill>
                  <a:latin typeface="Sniglet"/>
                  <a:ea typeface="Sniglet"/>
                  <a:cs typeface="Sniglet"/>
                  <a:sym typeface="Sniglet"/>
                </a:rPr>
                <a:t>Seguridad, disponibilidad, tiempo de respuesta y usabilidad de la plataforma.</a:t>
              </a:r>
            </a:p>
            <a:p>
              <a:pPr algn="l" marL="647700" indent="-323850" lvl="1">
                <a:lnSpc>
                  <a:spcPts val="4080"/>
                </a:lnSpc>
                <a:buFont typeface="Arial"/>
                <a:buChar char="•"/>
              </a:pPr>
              <a:r>
                <a:rPr lang="en-US" sz="3000">
                  <a:solidFill>
                    <a:srgbClr val="0D3889"/>
                  </a:solidFill>
                  <a:latin typeface="Sniglet"/>
                  <a:ea typeface="Sniglet"/>
                  <a:cs typeface="Sniglet"/>
                  <a:sym typeface="Sniglet"/>
                </a:rPr>
                <a:t>RNF-06 y RNF-07 — exactitud del componente de IA y precisión en validación de imágenes.</a:t>
              </a:r>
            </a:p>
            <a:p>
              <a:pPr algn="l" marL="647700" indent="-323850" lvl="1">
                <a:lnSpc>
                  <a:spcPts val="4080"/>
                </a:lnSpc>
                <a:buFont typeface="Arial"/>
                <a:buChar char="•"/>
              </a:pPr>
              <a:r>
                <a:rPr lang="en-US" sz="3000">
                  <a:solidFill>
                    <a:srgbClr val="0D3889"/>
                  </a:solidFill>
                  <a:latin typeface="Sniglet"/>
                  <a:ea typeface="Sniglet"/>
                  <a:cs typeface="Sniglet"/>
                  <a:sym typeface="Sniglet"/>
                </a:rPr>
                <a:t>RNF-13, RNF-14, RNF-15 — explicabilidad de las decisiones automatizadas.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1079696" y="876958"/>
              <a:ext cx="8115183" cy="6100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84"/>
                </a:lnSpc>
              </a:pPr>
              <a:r>
                <a:rPr lang="en-US" sz="3499" b="true">
                  <a:solidFill>
                    <a:srgbClr val="7D4506"/>
                  </a:solidFill>
                  <a:latin typeface="Balsamiq Sans Bold"/>
                  <a:ea typeface="Balsamiq Sans Bold"/>
                  <a:cs typeface="Balsamiq Sans Bold"/>
                  <a:sym typeface="Balsamiq Sans Bold"/>
                </a:rPr>
                <a:t>16 Requisitos no funcionales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374000" y="3844281"/>
            <a:ext cx="8363102" cy="5361502"/>
            <a:chOff x="0" y="0"/>
            <a:chExt cx="11150803" cy="7148670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11150803" cy="7148670"/>
              <a:chOff x="0" y="0"/>
              <a:chExt cx="2202628" cy="1412083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2202628" cy="1412083"/>
              </a:xfrm>
              <a:custGeom>
                <a:avLst/>
                <a:gdLst/>
                <a:ahLst/>
                <a:cxnLst/>
                <a:rect r="r" b="b" t="t" l="l"/>
                <a:pathLst>
                  <a:path h="1412083" w="2202628">
                    <a:moveTo>
                      <a:pt x="47212" y="0"/>
                    </a:moveTo>
                    <a:lnTo>
                      <a:pt x="2155416" y="0"/>
                    </a:lnTo>
                    <a:cubicBezTo>
                      <a:pt x="2167937" y="0"/>
                      <a:pt x="2179946" y="4974"/>
                      <a:pt x="2188800" y="13828"/>
                    </a:cubicBezTo>
                    <a:cubicBezTo>
                      <a:pt x="2197654" y="22682"/>
                      <a:pt x="2202628" y="34691"/>
                      <a:pt x="2202628" y="47212"/>
                    </a:cubicBezTo>
                    <a:lnTo>
                      <a:pt x="2202628" y="1364871"/>
                    </a:lnTo>
                    <a:cubicBezTo>
                      <a:pt x="2202628" y="1390945"/>
                      <a:pt x="2181490" y="1412083"/>
                      <a:pt x="2155416" y="1412083"/>
                    </a:cubicBezTo>
                    <a:lnTo>
                      <a:pt x="47212" y="1412083"/>
                    </a:lnTo>
                    <a:cubicBezTo>
                      <a:pt x="21137" y="1412083"/>
                      <a:pt x="0" y="1390945"/>
                      <a:pt x="0" y="1364871"/>
                    </a:cubicBezTo>
                    <a:lnTo>
                      <a:pt x="0" y="47212"/>
                    </a:lnTo>
                    <a:cubicBezTo>
                      <a:pt x="0" y="21137"/>
                      <a:pt x="21137" y="0"/>
                      <a:pt x="47212" y="0"/>
                    </a:cubicBezTo>
                    <a:close/>
                  </a:path>
                </a:pathLst>
              </a:custGeom>
              <a:solidFill>
                <a:srgbClr val="A2D6FF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104775"/>
                <a:ext cx="2202628" cy="151685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20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577634" y="2090237"/>
              <a:ext cx="10437362" cy="4081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80"/>
                </a:lnSpc>
              </a:pPr>
              <a:r>
                <a:rPr lang="en-US" sz="3000">
                  <a:solidFill>
                    <a:srgbClr val="7D4506"/>
                  </a:solidFill>
                  <a:latin typeface="Sniglet"/>
                  <a:ea typeface="Sniglet"/>
                  <a:cs typeface="Sniglet"/>
                  <a:sym typeface="Sniglet"/>
                </a:rPr>
                <a:t>El Art. 20 de la Ley Orgánica de Protección de Datos Personales del Ecuador, sobre decisiones automatizadas, es la base directa de los tres requisitos de explicabilidad — que de otro modo se habrían tratado solo como una preocupación de usabilidad.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858783" y="1041715"/>
              <a:ext cx="9433237" cy="6100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84"/>
                </a:lnSpc>
              </a:pPr>
              <a:r>
                <a:rPr lang="en-US" sz="3499" b="true">
                  <a:solidFill>
                    <a:srgbClr val="7D4506"/>
                  </a:solidFill>
                  <a:latin typeface="Balsamiq Sans Bold"/>
                  <a:ea typeface="Balsamiq Sans Bold"/>
                  <a:cs typeface="Balsamiq Sans Bold"/>
                  <a:sym typeface="Balsamiq Sans Bold"/>
                </a:rPr>
                <a:t>LOPDP como fuente de requisitos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983271">
            <a:off x="-1733140" y="6733873"/>
            <a:ext cx="3951963" cy="3324589"/>
          </a:xfrm>
          <a:custGeom>
            <a:avLst/>
            <a:gdLst/>
            <a:ahLst/>
            <a:cxnLst/>
            <a:rect r="r" b="b" t="t" l="l"/>
            <a:pathLst>
              <a:path h="3324589" w="3951963">
                <a:moveTo>
                  <a:pt x="0" y="0"/>
                </a:moveTo>
                <a:lnTo>
                  <a:pt x="3951963" y="0"/>
                </a:lnTo>
                <a:lnTo>
                  <a:pt x="3951963" y="3324589"/>
                </a:lnTo>
                <a:lnTo>
                  <a:pt x="0" y="33245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4083474">
            <a:off x="16312019" y="3892142"/>
            <a:ext cx="3951963" cy="3324589"/>
          </a:xfrm>
          <a:custGeom>
            <a:avLst/>
            <a:gdLst/>
            <a:ahLst/>
            <a:cxnLst/>
            <a:rect r="r" b="b" t="t" l="l"/>
            <a:pathLst>
              <a:path h="3324589" w="3951963">
                <a:moveTo>
                  <a:pt x="0" y="0"/>
                </a:moveTo>
                <a:lnTo>
                  <a:pt x="3951962" y="0"/>
                </a:lnTo>
                <a:lnTo>
                  <a:pt x="3951962" y="3324589"/>
                </a:lnTo>
                <a:lnTo>
                  <a:pt x="0" y="33245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125152" y="886597"/>
            <a:ext cx="12882603" cy="1065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34"/>
              </a:lnSpc>
            </a:pPr>
            <a:r>
              <a:rPr lang="en-US" sz="8499" b="true">
                <a:solidFill>
                  <a:srgbClr val="FFFFFF"/>
                </a:solidFill>
                <a:latin typeface="Balsamiq Sans Bold"/>
                <a:ea typeface="Balsamiq Sans Bold"/>
                <a:cs typeface="Balsamiq Sans Bold"/>
                <a:sym typeface="Balsamiq Sans Bold"/>
              </a:rPr>
              <a:t>Restricciones de diseño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57997" y="468617"/>
            <a:ext cx="2770337" cy="378761"/>
            <a:chOff x="0" y="0"/>
            <a:chExt cx="3693782" cy="50501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58357" cy="505014"/>
            </a:xfrm>
            <a:custGeom>
              <a:avLst/>
              <a:gdLst/>
              <a:ahLst/>
              <a:cxnLst/>
              <a:rect r="r" b="b" t="t" l="l"/>
              <a:pathLst>
                <a:path h="505014" w="658357">
                  <a:moveTo>
                    <a:pt x="0" y="0"/>
                  </a:moveTo>
                  <a:lnTo>
                    <a:pt x="658357" y="0"/>
                  </a:lnTo>
                  <a:lnTo>
                    <a:pt x="658357" y="505014"/>
                  </a:lnTo>
                  <a:lnTo>
                    <a:pt x="0" y="5050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930695" y="-57441"/>
              <a:ext cx="2763087" cy="5602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20"/>
                </a:lnSpc>
                <a:spcBef>
                  <a:spcPct val="0"/>
                </a:spcBef>
              </a:pPr>
              <a:r>
                <a:rPr lang="en-US" sz="2300">
                  <a:solidFill>
                    <a:srgbClr val="FFFFFF"/>
                  </a:solidFill>
                  <a:latin typeface="Jua"/>
                  <a:ea typeface="Jua"/>
                  <a:cs typeface="Jua"/>
                  <a:sym typeface="Jua"/>
                </a:rPr>
                <a:t>MundiPets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607088" y="2085824"/>
            <a:ext cx="17680912" cy="501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80"/>
              </a:lnSpc>
            </a:pPr>
            <a:r>
              <a:rPr lang="en-US" sz="3000">
                <a:solidFill>
                  <a:srgbClr val="FFFCE8"/>
                </a:solidFill>
                <a:latin typeface="Sniglet"/>
                <a:ea typeface="Sniglet"/>
                <a:cs typeface="Sniglet"/>
                <a:sym typeface="Sniglet"/>
              </a:rPr>
              <a:t>9</a:t>
            </a:r>
            <a:r>
              <a:rPr lang="en-US" sz="3000">
                <a:solidFill>
                  <a:srgbClr val="FFFCE8"/>
                </a:solidFill>
                <a:latin typeface="Sniglet"/>
                <a:ea typeface="Sniglet"/>
                <a:cs typeface="Sniglet"/>
                <a:sym typeface="Sniglet"/>
              </a:rPr>
              <a:t> restricciones (RD-01 a RD-09) delimitan de forma explícita las decisiones de arquitectura del sistema.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411946" y="3100443"/>
            <a:ext cx="5417049" cy="1898231"/>
            <a:chOff x="0" y="0"/>
            <a:chExt cx="7222732" cy="2530975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7222732" cy="2530975"/>
              <a:chOff x="0" y="0"/>
              <a:chExt cx="1426713" cy="499946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426713" cy="499946"/>
              </a:xfrm>
              <a:custGeom>
                <a:avLst/>
                <a:gdLst/>
                <a:ahLst/>
                <a:cxnLst/>
                <a:rect r="r" b="b" t="t" l="l"/>
                <a:pathLst>
                  <a:path h="499946" w="1426713">
                    <a:moveTo>
                      <a:pt x="50021" y="0"/>
                    </a:moveTo>
                    <a:lnTo>
                      <a:pt x="1376691" y="0"/>
                    </a:lnTo>
                    <a:cubicBezTo>
                      <a:pt x="1404317" y="0"/>
                      <a:pt x="1426713" y="22395"/>
                      <a:pt x="1426713" y="50021"/>
                    </a:cubicBezTo>
                    <a:lnTo>
                      <a:pt x="1426713" y="449924"/>
                    </a:lnTo>
                    <a:cubicBezTo>
                      <a:pt x="1426713" y="463191"/>
                      <a:pt x="1421443" y="475914"/>
                      <a:pt x="1412062" y="485295"/>
                    </a:cubicBezTo>
                    <a:cubicBezTo>
                      <a:pt x="1402681" y="494676"/>
                      <a:pt x="1389958" y="499946"/>
                      <a:pt x="1376691" y="499946"/>
                    </a:cubicBezTo>
                    <a:lnTo>
                      <a:pt x="50021" y="499946"/>
                    </a:lnTo>
                    <a:cubicBezTo>
                      <a:pt x="22395" y="499946"/>
                      <a:pt x="0" y="477550"/>
                      <a:pt x="0" y="449924"/>
                    </a:cubicBezTo>
                    <a:lnTo>
                      <a:pt x="0" y="50021"/>
                    </a:lnTo>
                    <a:cubicBezTo>
                      <a:pt x="0" y="22395"/>
                      <a:pt x="22395" y="0"/>
                      <a:pt x="50021" y="0"/>
                    </a:cubicBezTo>
                    <a:close/>
                  </a:path>
                </a:pathLst>
              </a:custGeom>
              <a:solidFill>
                <a:srgbClr val="FEDB9E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104775"/>
                <a:ext cx="1426713" cy="6047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20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342112" y="1005143"/>
              <a:ext cx="6880620" cy="12417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08"/>
                </a:lnSpc>
              </a:pPr>
              <a:r>
                <a:rPr lang="en-US" sz="2800">
                  <a:solidFill>
                    <a:srgbClr val="5D3700"/>
                  </a:solidFill>
                  <a:latin typeface="Sniglet"/>
                  <a:ea typeface="Sniglet"/>
                  <a:cs typeface="Sniglet"/>
                  <a:sym typeface="Sniglet"/>
                </a:rPr>
                <a:t>Integración de componentes de inteligencia artificial.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342112" y="494617"/>
              <a:ext cx="3028427" cy="5378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30"/>
                </a:lnSpc>
              </a:pPr>
              <a:r>
                <a:rPr lang="en-US" sz="3000" b="true">
                  <a:solidFill>
                    <a:srgbClr val="5D3700"/>
                  </a:solidFill>
                  <a:latin typeface="Balsamiq Sans Bold"/>
                  <a:ea typeface="Balsamiq Sans Bold"/>
                  <a:cs typeface="Balsamiq Sans Bold"/>
                  <a:sym typeface="Balsamiq Sans Bold"/>
                </a:rPr>
                <a:t>RD-01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352871" y="3100443"/>
            <a:ext cx="5417049" cy="1898231"/>
            <a:chOff x="0" y="0"/>
            <a:chExt cx="7222732" cy="2530975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7222732" cy="2530975"/>
              <a:chOff x="0" y="0"/>
              <a:chExt cx="1426713" cy="499946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426713" cy="499946"/>
              </a:xfrm>
              <a:custGeom>
                <a:avLst/>
                <a:gdLst/>
                <a:ahLst/>
                <a:cxnLst/>
                <a:rect r="r" b="b" t="t" l="l"/>
                <a:pathLst>
                  <a:path h="499946" w="1426713">
                    <a:moveTo>
                      <a:pt x="50021" y="0"/>
                    </a:moveTo>
                    <a:lnTo>
                      <a:pt x="1376691" y="0"/>
                    </a:lnTo>
                    <a:cubicBezTo>
                      <a:pt x="1404317" y="0"/>
                      <a:pt x="1426713" y="22395"/>
                      <a:pt x="1426713" y="50021"/>
                    </a:cubicBezTo>
                    <a:lnTo>
                      <a:pt x="1426713" y="449924"/>
                    </a:lnTo>
                    <a:cubicBezTo>
                      <a:pt x="1426713" y="463191"/>
                      <a:pt x="1421443" y="475914"/>
                      <a:pt x="1412062" y="485295"/>
                    </a:cubicBezTo>
                    <a:cubicBezTo>
                      <a:pt x="1402681" y="494676"/>
                      <a:pt x="1389958" y="499946"/>
                      <a:pt x="1376691" y="499946"/>
                    </a:cubicBezTo>
                    <a:lnTo>
                      <a:pt x="50021" y="499946"/>
                    </a:lnTo>
                    <a:cubicBezTo>
                      <a:pt x="22395" y="499946"/>
                      <a:pt x="0" y="477550"/>
                      <a:pt x="0" y="449924"/>
                    </a:cubicBezTo>
                    <a:lnTo>
                      <a:pt x="0" y="50021"/>
                    </a:lnTo>
                    <a:cubicBezTo>
                      <a:pt x="0" y="22395"/>
                      <a:pt x="22395" y="0"/>
                      <a:pt x="50021" y="0"/>
                    </a:cubicBezTo>
                    <a:close/>
                  </a:path>
                </a:pathLst>
              </a:custGeom>
              <a:solidFill>
                <a:srgbClr val="FEDB9E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104775"/>
                <a:ext cx="1426713" cy="6047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20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342112" y="1005143"/>
              <a:ext cx="6880620" cy="12417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08"/>
                </a:lnSpc>
              </a:pPr>
              <a:r>
                <a:rPr lang="en-US" sz="2800">
                  <a:solidFill>
                    <a:srgbClr val="5D3700"/>
                  </a:solidFill>
                  <a:latin typeface="Sniglet"/>
                  <a:ea typeface="Sniglet"/>
                  <a:cs typeface="Sniglet"/>
                  <a:sym typeface="Sniglet"/>
                </a:rPr>
                <a:t>Acceso basado en roles de usuario.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342112" y="494617"/>
              <a:ext cx="3028427" cy="5378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30"/>
                </a:lnSpc>
              </a:pPr>
              <a:r>
                <a:rPr lang="en-US" sz="3000" b="true">
                  <a:solidFill>
                    <a:srgbClr val="5D3700"/>
                  </a:solidFill>
                  <a:latin typeface="Balsamiq Sans Bold"/>
                  <a:ea typeface="Balsamiq Sans Bold"/>
                  <a:cs typeface="Balsamiq Sans Bold"/>
                  <a:sym typeface="Balsamiq Sans Bold"/>
                </a:rPr>
                <a:t>RD-02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289114" y="3100443"/>
            <a:ext cx="5417049" cy="1898231"/>
            <a:chOff x="0" y="0"/>
            <a:chExt cx="7222732" cy="2530975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7222732" cy="2530975"/>
              <a:chOff x="0" y="0"/>
              <a:chExt cx="1426713" cy="499946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1426713" cy="499946"/>
              </a:xfrm>
              <a:custGeom>
                <a:avLst/>
                <a:gdLst/>
                <a:ahLst/>
                <a:cxnLst/>
                <a:rect r="r" b="b" t="t" l="l"/>
                <a:pathLst>
                  <a:path h="499946" w="1426713">
                    <a:moveTo>
                      <a:pt x="50021" y="0"/>
                    </a:moveTo>
                    <a:lnTo>
                      <a:pt x="1376691" y="0"/>
                    </a:lnTo>
                    <a:cubicBezTo>
                      <a:pt x="1404317" y="0"/>
                      <a:pt x="1426713" y="22395"/>
                      <a:pt x="1426713" y="50021"/>
                    </a:cubicBezTo>
                    <a:lnTo>
                      <a:pt x="1426713" y="449924"/>
                    </a:lnTo>
                    <a:cubicBezTo>
                      <a:pt x="1426713" y="463191"/>
                      <a:pt x="1421443" y="475914"/>
                      <a:pt x="1412062" y="485295"/>
                    </a:cubicBezTo>
                    <a:cubicBezTo>
                      <a:pt x="1402681" y="494676"/>
                      <a:pt x="1389958" y="499946"/>
                      <a:pt x="1376691" y="499946"/>
                    </a:cubicBezTo>
                    <a:lnTo>
                      <a:pt x="50021" y="499946"/>
                    </a:lnTo>
                    <a:cubicBezTo>
                      <a:pt x="22395" y="499946"/>
                      <a:pt x="0" y="477550"/>
                      <a:pt x="0" y="449924"/>
                    </a:cubicBezTo>
                    <a:lnTo>
                      <a:pt x="0" y="50021"/>
                    </a:lnTo>
                    <a:cubicBezTo>
                      <a:pt x="0" y="22395"/>
                      <a:pt x="22395" y="0"/>
                      <a:pt x="50021" y="0"/>
                    </a:cubicBezTo>
                    <a:close/>
                  </a:path>
                </a:pathLst>
              </a:custGeom>
              <a:solidFill>
                <a:srgbClr val="FEDB9E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104775"/>
                <a:ext cx="1426713" cy="6047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20"/>
                  </a:lnSpc>
                </a:pP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342112" y="1005143"/>
              <a:ext cx="6880620" cy="12417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08"/>
                </a:lnSpc>
              </a:pPr>
              <a:r>
                <a:rPr lang="en-US" sz="2800">
                  <a:solidFill>
                    <a:srgbClr val="5D3700"/>
                  </a:solidFill>
                  <a:latin typeface="Sniglet"/>
                  <a:ea typeface="Sniglet"/>
                  <a:cs typeface="Sniglet"/>
                  <a:sym typeface="Sniglet"/>
                </a:rPr>
                <a:t>Validación profesional de la información médica.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342112" y="494617"/>
              <a:ext cx="3028427" cy="5378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30"/>
                </a:lnSpc>
              </a:pPr>
              <a:r>
                <a:rPr lang="en-US" sz="3000" b="true">
                  <a:solidFill>
                    <a:srgbClr val="5D3700"/>
                  </a:solidFill>
                  <a:latin typeface="Balsamiq Sans Bold"/>
                  <a:ea typeface="Balsamiq Sans Bold"/>
                  <a:cs typeface="Balsamiq Sans Bold"/>
                  <a:sym typeface="Balsamiq Sans Bold"/>
                </a:rPr>
                <a:t>RD-03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494551" y="5771855"/>
            <a:ext cx="5417049" cy="1421981"/>
            <a:chOff x="0" y="0"/>
            <a:chExt cx="7222732" cy="1895975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0" y="0"/>
              <a:ext cx="7222732" cy="1895975"/>
              <a:chOff x="0" y="0"/>
              <a:chExt cx="1426713" cy="374514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1426713" cy="374514"/>
              </a:xfrm>
              <a:custGeom>
                <a:avLst/>
                <a:gdLst/>
                <a:ahLst/>
                <a:cxnLst/>
                <a:rect r="r" b="b" t="t" l="l"/>
                <a:pathLst>
                  <a:path h="374514" w="1426713">
                    <a:moveTo>
                      <a:pt x="50021" y="0"/>
                    </a:moveTo>
                    <a:lnTo>
                      <a:pt x="1376691" y="0"/>
                    </a:lnTo>
                    <a:cubicBezTo>
                      <a:pt x="1404317" y="0"/>
                      <a:pt x="1426713" y="22395"/>
                      <a:pt x="1426713" y="50021"/>
                    </a:cubicBezTo>
                    <a:lnTo>
                      <a:pt x="1426713" y="324492"/>
                    </a:lnTo>
                    <a:cubicBezTo>
                      <a:pt x="1426713" y="337759"/>
                      <a:pt x="1421443" y="350482"/>
                      <a:pt x="1412062" y="359863"/>
                    </a:cubicBezTo>
                    <a:cubicBezTo>
                      <a:pt x="1402681" y="369243"/>
                      <a:pt x="1389958" y="374514"/>
                      <a:pt x="1376691" y="374514"/>
                    </a:cubicBezTo>
                    <a:lnTo>
                      <a:pt x="50021" y="374514"/>
                    </a:lnTo>
                    <a:cubicBezTo>
                      <a:pt x="22395" y="374514"/>
                      <a:pt x="0" y="352118"/>
                      <a:pt x="0" y="324492"/>
                    </a:cubicBezTo>
                    <a:lnTo>
                      <a:pt x="0" y="50021"/>
                    </a:lnTo>
                    <a:cubicBezTo>
                      <a:pt x="0" y="22395"/>
                      <a:pt x="22395" y="0"/>
                      <a:pt x="50021" y="0"/>
                    </a:cubicBezTo>
                    <a:close/>
                  </a:path>
                </a:pathLst>
              </a:custGeom>
              <a:solidFill>
                <a:srgbClr val="FEDB9E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104775"/>
                <a:ext cx="1426713" cy="47928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20"/>
                  </a:lnSpc>
                </a:pPr>
              </a:p>
            </p:txBody>
          </p:sp>
        </p:grpSp>
        <p:sp>
          <p:nvSpPr>
            <p:cNvPr name="TextBox 32" id="32"/>
            <p:cNvSpPr txBox="true"/>
            <p:nvPr/>
          </p:nvSpPr>
          <p:spPr>
            <a:xfrm rot="0">
              <a:off x="342112" y="1005143"/>
              <a:ext cx="6880620" cy="6067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08"/>
                </a:lnSpc>
              </a:pPr>
              <a:r>
                <a:rPr lang="en-US" sz="2800">
                  <a:solidFill>
                    <a:srgbClr val="5D3700"/>
                  </a:solidFill>
                  <a:latin typeface="Sniglet"/>
                  <a:ea typeface="Sniglet"/>
                  <a:cs typeface="Sniglet"/>
                  <a:sym typeface="Sniglet"/>
                </a:rPr>
                <a:t>Protección de datos personales.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342112" y="494617"/>
              <a:ext cx="3028427" cy="5378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30"/>
                </a:lnSpc>
              </a:pPr>
              <a:r>
                <a:rPr lang="en-US" sz="3000" b="true">
                  <a:solidFill>
                    <a:srgbClr val="5D3700"/>
                  </a:solidFill>
                  <a:latin typeface="Balsamiq Sans Bold"/>
                  <a:ea typeface="Balsamiq Sans Bold"/>
                  <a:cs typeface="Balsamiq Sans Bold"/>
                  <a:sym typeface="Balsamiq Sans Bold"/>
                </a:rPr>
                <a:t>RD-04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435475" y="5554437"/>
            <a:ext cx="5417049" cy="1898231"/>
            <a:chOff x="0" y="0"/>
            <a:chExt cx="7222732" cy="2530975"/>
          </a:xfrm>
        </p:grpSpPr>
        <p:grpSp>
          <p:nvGrpSpPr>
            <p:cNvPr name="Group 35" id="35"/>
            <p:cNvGrpSpPr/>
            <p:nvPr/>
          </p:nvGrpSpPr>
          <p:grpSpPr>
            <a:xfrm rot="0">
              <a:off x="0" y="0"/>
              <a:ext cx="7222732" cy="2530975"/>
              <a:chOff x="0" y="0"/>
              <a:chExt cx="1426713" cy="499946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1426713" cy="499946"/>
              </a:xfrm>
              <a:custGeom>
                <a:avLst/>
                <a:gdLst/>
                <a:ahLst/>
                <a:cxnLst/>
                <a:rect r="r" b="b" t="t" l="l"/>
                <a:pathLst>
                  <a:path h="499946" w="1426713">
                    <a:moveTo>
                      <a:pt x="50021" y="0"/>
                    </a:moveTo>
                    <a:lnTo>
                      <a:pt x="1376691" y="0"/>
                    </a:lnTo>
                    <a:cubicBezTo>
                      <a:pt x="1404317" y="0"/>
                      <a:pt x="1426713" y="22395"/>
                      <a:pt x="1426713" y="50021"/>
                    </a:cubicBezTo>
                    <a:lnTo>
                      <a:pt x="1426713" y="449924"/>
                    </a:lnTo>
                    <a:cubicBezTo>
                      <a:pt x="1426713" y="463191"/>
                      <a:pt x="1421443" y="475914"/>
                      <a:pt x="1412062" y="485295"/>
                    </a:cubicBezTo>
                    <a:cubicBezTo>
                      <a:pt x="1402681" y="494676"/>
                      <a:pt x="1389958" y="499946"/>
                      <a:pt x="1376691" y="499946"/>
                    </a:cubicBezTo>
                    <a:lnTo>
                      <a:pt x="50021" y="499946"/>
                    </a:lnTo>
                    <a:cubicBezTo>
                      <a:pt x="22395" y="499946"/>
                      <a:pt x="0" y="477550"/>
                      <a:pt x="0" y="449924"/>
                    </a:cubicBezTo>
                    <a:lnTo>
                      <a:pt x="0" y="50021"/>
                    </a:lnTo>
                    <a:cubicBezTo>
                      <a:pt x="0" y="22395"/>
                      <a:pt x="22395" y="0"/>
                      <a:pt x="50021" y="0"/>
                    </a:cubicBezTo>
                    <a:close/>
                  </a:path>
                </a:pathLst>
              </a:custGeom>
              <a:solidFill>
                <a:srgbClr val="FEDB9E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104775"/>
                <a:ext cx="1426713" cy="6047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20"/>
                  </a:lnSpc>
                </a:pPr>
              </a:p>
            </p:txBody>
          </p:sp>
        </p:grpSp>
        <p:sp>
          <p:nvSpPr>
            <p:cNvPr name="TextBox 38" id="38"/>
            <p:cNvSpPr txBox="true"/>
            <p:nvPr/>
          </p:nvSpPr>
          <p:spPr>
            <a:xfrm rot="0">
              <a:off x="342112" y="1005143"/>
              <a:ext cx="6880620" cy="12417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08"/>
                </a:lnSpc>
              </a:pPr>
              <a:r>
                <a:rPr lang="en-US" sz="2800">
                  <a:solidFill>
                    <a:srgbClr val="5D3700"/>
                  </a:solidFill>
                  <a:latin typeface="Sniglet"/>
                  <a:ea typeface="Sniglet"/>
                  <a:cs typeface="Sniglet"/>
                  <a:sym typeface="Sniglet"/>
                </a:rPr>
                <a:t>Arquitectura modular del sistema.</a:t>
              </a:r>
            </a:p>
          </p:txBody>
        </p:sp>
        <p:sp>
          <p:nvSpPr>
            <p:cNvPr name="TextBox 39" id="39"/>
            <p:cNvSpPr txBox="true"/>
            <p:nvPr/>
          </p:nvSpPr>
          <p:spPr>
            <a:xfrm rot="0">
              <a:off x="342112" y="494617"/>
              <a:ext cx="3028427" cy="5378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30"/>
                </a:lnSpc>
              </a:pPr>
              <a:r>
                <a:rPr lang="en-US" sz="3000" b="true">
                  <a:solidFill>
                    <a:srgbClr val="5D3700"/>
                  </a:solidFill>
                  <a:latin typeface="Balsamiq Sans Bold"/>
                  <a:ea typeface="Balsamiq Sans Bold"/>
                  <a:cs typeface="Balsamiq Sans Bold"/>
                  <a:sym typeface="Balsamiq Sans Bold"/>
                </a:rPr>
                <a:t>RD-05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2371719" y="5554437"/>
            <a:ext cx="5251840" cy="1898231"/>
            <a:chOff x="0" y="0"/>
            <a:chExt cx="7002453" cy="2530975"/>
          </a:xfrm>
        </p:grpSpPr>
        <p:grpSp>
          <p:nvGrpSpPr>
            <p:cNvPr name="Group 41" id="41"/>
            <p:cNvGrpSpPr/>
            <p:nvPr/>
          </p:nvGrpSpPr>
          <p:grpSpPr>
            <a:xfrm rot="0">
              <a:off x="0" y="0"/>
              <a:ext cx="7002453" cy="2530975"/>
              <a:chOff x="0" y="0"/>
              <a:chExt cx="1383201" cy="499946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1383201" cy="499946"/>
              </a:xfrm>
              <a:custGeom>
                <a:avLst/>
                <a:gdLst/>
                <a:ahLst/>
                <a:cxnLst/>
                <a:rect r="r" b="b" t="t" l="l"/>
                <a:pathLst>
                  <a:path h="499946" w="1383201">
                    <a:moveTo>
                      <a:pt x="51595" y="0"/>
                    </a:moveTo>
                    <a:lnTo>
                      <a:pt x="1331606" y="0"/>
                    </a:lnTo>
                    <a:cubicBezTo>
                      <a:pt x="1360101" y="0"/>
                      <a:pt x="1383201" y="23100"/>
                      <a:pt x="1383201" y="51595"/>
                    </a:cubicBezTo>
                    <a:lnTo>
                      <a:pt x="1383201" y="448351"/>
                    </a:lnTo>
                    <a:cubicBezTo>
                      <a:pt x="1383201" y="476846"/>
                      <a:pt x="1360101" y="499946"/>
                      <a:pt x="1331606" y="499946"/>
                    </a:cubicBezTo>
                    <a:lnTo>
                      <a:pt x="51595" y="499946"/>
                    </a:lnTo>
                    <a:cubicBezTo>
                      <a:pt x="23100" y="499946"/>
                      <a:pt x="0" y="476846"/>
                      <a:pt x="0" y="448351"/>
                    </a:cubicBezTo>
                    <a:lnTo>
                      <a:pt x="0" y="51595"/>
                    </a:lnTo>
                    <a:cubicBezTo>
                      <a:pt x="0" y="23100"/>
                      <a:pt x="23100" y="0"/>
                      <a:pt x="51595" y="0"/>
                    </a:cubicBezTo>
                    <a:close/>
                  </a:path>
                </a:pathLst>
              </a:custGeom>
              <a:solidFill>
                <a:srgbClr val="FEDB9E"/>
              </a:solid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0" y="-104775"/>
                <a:ext cx="1383201" cy="6047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20"/>
                  </a:lnSpc>
                </a:pPr>
              </a:p>
            </p:txBody>
          </p:sp>
        </p:grpSp>
        <p:sp>
          <p:nvSpPr>
            <p:cNvPr name="TextBox 44" id="44"/>
            <p:cNvSpPr txBox="true"/>
            <p:nvPr/>
          </p:nvSpPr>
          <p:spPr>
            <a:xfrm rot="0">
              <a:off x="331678" y="1005143"/>
              <a:ext cx="6670775" cy="12417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08"/>
                </a:lnSpc>
              </a:pPr>
              <a:r>
                <a:rPr lang="en-US" sz="2800">
                  <a:solidFill>
                    <a:srgbClr val="5D3700"/>
                  </a:solidFill>
                  <a:latin typeface="Sniglet"/>
                  <a:ea typeface="Sniglet"/>
                  <a:cs typeface="Sniglet"/>
                  <a:sym typeface="Sniglet"/>
                </a:rPr>
                <a:t>Eliminación de cuenta y datos personales.</a:t>
              </a:r>
            </a:p>
          </p:txBody>
        </p:sp>
        <p:sp>
          <p:nvSpPr>
            <p:cNvPr name="TextBox 45" id="45"/>
            <p:cNvSpPr txBox="true"/>
            <p:nvPr/>
          </p:nvSpPr>
          <p:spPr>
            <a:xfrm rot="0">
              <a:off x="331678" y="494617"/>
              <a:ext cx="2936066" cy="5378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30"/>
                </a:lnSpc>
              </a:pPr>
              <a:r>
                <a:rPr lang="en-US" sz="3000" b="true">
                  <a:solidFill>
                    <a:srgbClr val="5D3700"/>
                  </a:solidFill>
                  <a:latin typeface="Balsamiq Sans Bold"/>
                  <a:ea typeface="Balsamiq Sans Bold"/>
                  <a:cs typeface="Balsamiq Sans Bold"/>
                  <a:sym typeface="Balsamiq Sans Bold"/>
                </a:rPr>
                <a:t>RD-06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416627" y="7967018"/>
            <a:ext cx="5417049" cy="1898231"/>
            <a:chOff x="0" y="0"/>
            <a:chExt cx="7222732" cy="2530975"/>
          </a:xfrm>
        </p:grpSpPr>
        <p:grpSp>
          <p:nvGrpSpPr>
            <p:cNvPr name="Group 47" id="47"/>
            <p:cNvGrpSpPr/>
            <p:nvPr/>
          </p:nvGrpSpPr>
          <p:grpSpPr>
            <a:xfrm rot="0">
              <a:off x="0" y="0"/>
              <a:ext cx="7222732" cy="2530975"/>
              <a:chOff x="0" y="0"/>
              <a:chExt cx="1426713" cy="499946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1426713" cy="499946"/>
              </a:xfrm>
              <a:custGeom>
                <a:avLst/>
                <a:gdLst/>
                <a:ahLst/>
                <a:cxnLst/>
                <a:rect r="r" b="b" t="t" l="l"/>
                <a:pathLst>
                  <a:path h="499946" w="1426713">
                    <a:moveTo>
                      <a:pt x="50021" y="0"/>
                    </a:moveTo>
                    <a:lnTo>
                      <a:pt x="1376691" y="0"/>
                    </a:lnTo>
                    <a:cubicBezTo>
                      <a:pt x="1404317" y="0"/>
                      <a:pt x="1426713" y="22395"/>
                      <a:pt x="1426713" y="50021"/>
                    </a:cubicBezTo>
                    <a:lnTo>
                      <a:pt x="1426713" y="449924"/>
                    </a:lnTo>
                    <a:cubicBezTo>
                      <a:pt x="1426713" y="463191"/>
                      <a:pt x="1421443" y="475914"/>
                      <a:pt x="1412062" y="485295"/>
                    </a:cubicBezTo>
                    <a:cubicBezTo>
                      <a:pt x="1402681" y="494676"/>
                      <a:pt x="1389958" y="499946"/>
                      <a:pt x="1376691" y="499946"/>
                    </a:cubicBezTo>
                    <a:lnTo>
                      <a:pt x="50021" y="499946"/>
                    </a:lnTo>
                    <a:cubicBezTo>
                      <a:pt x="22395" y="499946"/>
                      <a:pt x="0" y="477550"/>
                      <a:pt x="0" y="449924"/>
                    </a:cubicBezTo>
                    <a:lnTo>
                      <a:pt x="0" y="50021"/>
                    </a:lnTo>
                    <a:cubicBezTo>
                      <a:pt x="0" y="22395"/>
                      <a:pt x="22395" y="0"/>
                      <a:pt x="50021" y="0"/>
                    </a:cubicBezTo>
                    <a:close/>
                  </a:path>
                </a:pathLst>
              </a:custGeom>
              <a:solidFill>
                <a:srgbClr val="FEDB9E"/>
              </a:solidFill>
            </p:spPr>
          </p:sp>
          <p:sp>
            <p:nvSpPr>
              <p:cNvPr name="TextBox 49" id="49"/>
              <p:cNvSpPr txBox="true"/>
              <p:nvPr/>
            </p:nvSpPr>
            <p:spPr>
              <a:xfrm>
                <a:off x="0" y="-104775"/>
                <a:ext cx="1426713" cy="6047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20"/>
                  </a:lnSpc>
                </a:pPr>
              </a:p>
            </p:txBody>
          </p:sp>
        </p:grpSp>
        <p:sp>
          <p:nvSpPr>
            <p:cNvPr name="TextBox 50" id="50"/>
            <p:cNvSpPr txBox="true"/>
            <p:nvPr/>
          </p:nvSpPr>
          <p:spPr>
            <a:xfrm rot="0">
              <a:off x="342112" y="1005143"/>
              <a:ext cx="6880620" cy="12417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08"/>
                </a:lnSpc>
              </a:pPr>
              <a:r>
                <a:rPr lang="en-US" sz="2800">
                  <a:solidFill>
                    <a:srgbClr val="5D3700"/>
                  </a:solidFill>
                  <a:latin typeface="Sniglet"/>
                  <a:ea typeface="Sniglet"/>
                  <a:cs typeface="Sniglet"/>
                  <a:sym typeface="Sniglet"/>
                </a:rPr>
                <a:t>Protocolo de notificación de vulneraciones.</a:t>
              </a:r>
            </a:p>
          </p:txBody>
        </p:sp>
        <p:sp>
          <p:nvSpPr>
            <p:cNvPr name="TextBox 51" id="51"/>
            <p:cNvSpPr txBox="true"/>
            <p:nvPr/>
          </p:nvSpPr>
          <p:spPr>
            <a:xfrm rot="0">
              <a:off x="342112" y="494617"/>
              <a:ext cx="3028427" cy="5378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30"/>
                </a:lnSpc>
              </a:pPr>
              <a:r>
                <a:rPr lang="en-US" sz="3000" b="true">
                  <a:solidFill>
                    <a:srgbClr val="5D3700"/>
                  </a:solidFill>
                  <a:latin typeface="Balsamiq Sans Bold"/>
                  <a:ea typeface="Balsamiq Sans Bold"/>
                  <a:cs typeface="Balsamiq Sans Bold"/>
                  <a:sym typeface="Balsamiq Sans Bold"/>
                </a:rPr>
                <a:t>RD-07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6435475" y="7967018"/>
            <a:ext cx="5417049" cy="1898231"/>
            <a:chOff x="0" y="0"/>
            <a:chExt cx="7222732" cy="2530975"/>
          </a:xfrm>
        </p:grpSpPr>
        <p:grpSp>
          <p:nvGrpSpPr>
            <p:cNvPr name="Group 53" id="53"/>
            <p:cNvGrpSpPr/>
            <p:nvPr/>
          </p:nvGrpSpPr>
          <p:grpSpPr>
            <a:xfrm rot="0">
              <a:off x="0" y="0"/>
              <a:ext cx="7222732" cy="2530975"/>
              <a:chOff x="0" y="0"/>
              <a:chExt cx="1426713" cy="499946"/>
            </a:xfrm>
          </p:grpSpPr>
          <p:sp>
            <p:nvSpPr>
              <p:cNvPr name="Freeform 54" id="54"/>
              <p:cNvSpPr/>
              <p:nvPr/>
            </p:nvSpPr>
            <p:spPr>
              <a:xfrm flipH="false" flipV="false" rot="0">
                <a:off x="0" y="0"/>
                <a:ext cx="1426713" cy="499946"/>
              </a:xfrm>
              <a:custGeom>
                <a:avLst/>
                <a:gdLst/>
                <a:ahLst/>
                <a:cxnLst/>
                <a:rect r="r" b="b" t="t" l="l"/>
                <a:pathLst>
                  <a:path h="499946" w="1426713">
                    <a:moveTo>
                      <a:pt x="50021" y="0"/>
                    </a:moveTo>
                    <a:lnTo>
                      <a:pt x="1376691" y="0"/>
                    </a:lnTo>
                    <a:cubicBezTo>
                      <a:pt x="1404317" y="0"/>
                      <a:pt x="1426713" y="22395"/>
                      <a:pt x="1426713" y="50021"/>
                    </a:cubicBezTo>
                    <a:lnTo>
                      <a:pt x="1426713" y="449924"/>
                    </a:lnTo>
                    <a:cubicBezTo>
                      <a:pt x="1426713" y="463191"/>
                      <a:pt x="1421443" y="475914"/>
                      <a:pt x="1412062" y="485295"/>
                    </a:cubicBezTo>
                    <a:cubicBezTo>
                      <a:pt x="1402681" y="494676"/>
                      <a:pt x="1389958" y="499946"/>
                      <a:pt x="1376691" y="499946"/>
                    </a:cubicBezTo>
                    <a:lnTo>
                      <a:pt x="50021" y="499946"/>
                    </a:lnTo>
                    <a:cubicBezTo>
                      <a:pt x="22395" y="499946"/>
                      <a:pt x="0" y="477550"/>
                      <a:pt x="0" y="449924"/>
                    </a:cubicBezTo>
                    <a:lnTo>
                      <a:pt x="0" y="50021"/>
                    </a:lnTo>
                    <a:cubicBezTo>
                      <a:pt x="0" y="22395"/>
                      <a:pt x="22395" y="0"/>
                      <a:pt x="50021" y="0"/>
                    </a:cubicBezTo>
                    <a:close/>
                  </a:path>
                </a:pathLst>
              </a:custGeom>
              <a:solidFill>
                <a:srgbClr val="FEDB9E"/>
              </a:solidFill>
            </p:spPr>
          </p:sp>
          <p:sp>
            <p:nvSpPr>
              <p:cNvPr name="TextBox 55" id="55"/>
              <p:cNvSpPr txBox="true"/>
              <p:nvPr/>
            </p:nvSpPr>
            <p:spPr>
              <a:xfrm>
                <a:off x="0" y="-104775"/>
                <a:ext cx="1426713" cy="6047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20"/>
                  </a:lnSpc>
                </a:pPr>
              </a:p>
            </p:txBody>
          </p:sp>
        </p:grpSp>
        <p:sp>
          <p:nvSpPr>
            <p:cNvPr name="TextBox 56" id="56"/>
            <p:cNvSpPr txBox="true"/>
            <p:nvPr/>
          </p:nvSpPr>
          <p:spPr>
            <a:xfrm rot="0">
              <a:off x="342112" y="1005143"/>
              <a:ext cx="6880620" cy="12417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08"/>
                </a:lnSpc>
              </a:pPr>
              <a:r>
                <a:rPr lang="en-US" sz="2800">
                  <a:solidFill>
                    <a:srgbClr val="5D3700"/>
                  </a:solidFill>
                  <a:latin typeface="Sniglet"/>
                  <a:ea typeface="Sniglet"/>
                  <a:cs typeface="Sniglet"/>
                  <a:sym typeface="Sniglet"/>
                </a:rPr>
                <a:t>Dependencia de servicios externos de mensajería.</a:t>
              </a:r>
            </a:p>
          </p:txBody>
        </p:sp>
        <p:sp>
          <p:nvSpPr>
            <p:cNvPr name="TextBox 57" id="57"/>
            <p:cNvSpPr txBox="true"/>
            <p:nvPr/>
          </p:nvSpPr>
          <p:spPr>
            <a:xfrm rot="0">
              <a:off x="342112" y="494617"/>
              <a:ext cx="3028427" cy="5378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30"/>
                </a:lnSpc>
              </a:pPr>
              <a:r>
                <a:rPr lang="en-US" sz="3000" b="true">
                  <a:solidFill>
                    <a:srgbClr val="5D3700"/>
                  </a:solidFill>
                  <a:latin typeface="Balsamiq Sans Bold"/>
                  <a:ea typeface="Balsamiq Sans Bold"/>
                  <a:cs typeface="Balsamiq Sans Bold"/>
                  <a:sym typeface="Balsamiq Sans Bold"/>
                </a:rPr>
                <a:t>RD-08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2339550" y="7967018"/>
            <a:ext cx="5481387" cy="1898231"/>
            <a:chOff x="0" y="0"/>
            <a:chExt cx="7308516" cy="2530975"/>
          </a:xfrm>
        </p:grpSpPr>
        <p:grpSp>
          <p:nvGrpSpPr>
            <p:cNvPr name="Group 59" id="59"/>
            <p:cNvGrpSpPr/>
            <p:nvPr/>
          </p:nvGrpSpPr>
          <p:grpSpPr>
            <a:xfrm rot="0">
              <a:off x="0" y="0"/>
              <a:ext cx="7308516" cy="2530975"/>
              <a:chOff x="0" y="0"/>
              <a:chExt cx="1443657" cy="499946"/>
            </a:xfrm>
          </p:grpSpPr>
          <p:sp>
            <p:nvSpPr>
              <p:cNvPr name="Freeform 60" id="60"/>
              <p:cNvSpPr/>
              <p:nvPr/>
            </p:nvSpPr>
            <p:spPr>
              <a:xfrm flipH="false" flipV="false" rot="0">
                <a:off x="0" y="0"/>
                <a:ext cx="1443658" cy="499946"/>
              </a:xfrm>
              <a:custGeom>
                <a:avLst/>
                <a:gdLst/>
                <a:ahLst/>
                <a:cxnLst/>
                <a:rect r="r" b="b" t="t" l="l"/>
                <a:pathLst>
                  <a:path h="499946" w="1443658">
                    <a:moveTo>
                      <a:pt x="49434" y="0"/>
                    </a:moveTo>
                    <a:lnTo>
                      <a:pt x="1394224" y="0"/>
                    </a:lnTo>
                    <a:cubicBezTo>
                      <a:pt x="1407334" y="0"/>
                      <a:pt x="1419908" y="5208"/>
                      <a:pt x="1429179" y="14479"/>
                    </a:cubicBezTo>
                    <a:cubicBezTo>
                      <a:pt x="1438449" y="23750"/>
                      <a:pt x="1443658" y="36323"/>
                      <a:pt x="1443658" y="49434"/>
                    </a:cubicBezTo>
                    <a:lnTo>
                      <a:pt x="1443658" y="450512"/>
                    </a:lnTo>
                    <a:cubicBezTo>
                      <a:pt x="1443658" y="477813"/>
                      <a:pt x="1421525" y="499946"/>
                      <a:pt x="1394224" y="499946"/>
                    </a:cubicBezTo>
                    <a:lnTo>
                      <a:pt x="49434" y="499946"/>
                    </a:lnTo>
                    <a:cubicBezTo>
                      <a:pt x="22132" y="499946"/>
                      <a:pt x="0" y="477813"/>
                      <a:pt x="0" y="450512"/>
                    </a:cubicBezTo>
                    <a:lnTo>
                      <a:pt x="0" y="49434"/>
                    </a:lnTo>
                    <a:cubicBezTo>
                      <a:pt x="0" y="22132"/>
                      <a:pt x="22132" y="0"/>
                      <a:pt x="49434" y="0"/>
                    </a:cubicBezTo>
                    <a:close/>
                  </a:path>
                </a:pathLst>
              </a:custGeom>
              <a:solidFill>
                <a:srgbClr val="FEDB9E"/>
              </a:solidFill>
            </p:spPr>
          </p:sp>
          <p:sp>
            <p:nvSpPr>
              <p:cNvPr name="TextBox 61" id="61"/>
              <p:cNvSpPr txBox="true"/>
              <p:nvPr/>
            </p:nvSpPr>
            <p:spPr>
              <a:xfrm>
                <a:off x="0" y="-104775"/>
                <a:ext cx="1443657" cy="6047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20"/>
                  </a:lnSpc>
                </a:pPr>
              </a:p>
            </p:txBody>
          </p:sp>
        </p:grpSp>
        <p:sp>
          <p:nvSpPr>
            <p:cNvPr name="TextBox 62" id="62"/>
            <p:cNvSpPr txBox="true"/>
            <p:nvPr/>
          </p:nvSpPr>
          <p:spPr>
            <a:xfrm rot="0">
              <a:off x="346175" y="1005143"/>
              <a:ext cx="6962341" cy="12417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08"/>
                </a:lnSpc>
              </a:pPr>
              <a:r>
                <a:rPr lang="en-US" sz="2800">
                  <a:solidFill>
                    <a:srgbClr val="5D3700"/>
                  </a:solidFill>
                  <a:latin typeface="Sniglet"/>
                  <a:ea typeface="Sniglet"/>
                  <a:cs typeface="Sniglet"/>
                  <a:sym typeface="Sniglet"/>
                </a:rPr>
                <a:t>Anonimización de evidencias para publicación abierta.</a:t>
              </a:r>
            </a:p>
          </p:txBody>
        </p:sp>
        <p:sp>
          <p:nvSpPr>
            <p:cNvPr name="TextBox 63" id="63"/>
            <p:cNvSpPr txBox="true"/>
            <p:nvPr/>
          </p:nvSpPr>
          <p:spPr>
            <a:xfrm rot="0">
              <a:off x="346175" y="494617"/>
              <a:ext cx="3064395" cy="5378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30"/>
                </a:lnSpc>
              </a:pPr>
              <a:r>
                <a:rPr lang="en-US" sz="3000" b="true">
                  <a:solidFill>
                    <a:srgbClr val="5D3700"/>
                  </a:solidFill>
                  <a:latin typeface="Balsamiq Sans Bold"/>
                  <a:ea typeface="Balsamiq Sans Bold"/>
                  <a:cs typeface="Balsamiq Sans Bold"/>
                  <a:sym typeface="Balsamiq Sans Bold"/>
                </a:rPr>
                <a:t>RD-09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983271">
            <a:off x="-2243563" y="7596006"/>
            <a:ext cx="3951963" cy="3324589"/>
          </a:xfrm>
          <a:custGeom>
            <a:avLst/>
            <a:gdLst/>
            <a:ahLst/>
            <a:cxnLst/>
            <a:rect r="r" b="b" t="t" l="l"/>
            <a:pathLst>
              <a:path h="3324589" w="3951963">
                <a:moveTo>
                  <a:pt x="0" y="0"/>
                </a:moveTo>
                <a:lnTo>
                  <a:pt x="3951963" y="0"/>
                </a:lnTo>
                <a:lnTo>
                  <a:pt x="3951963" y="3324588"/>
                </a:lnTo>
                <a:lnTo>
                  <a:pt x="0" y="33245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4083474">
            <a:off x="16312019" y="3892142"/>
            <a:ext cx="3951963" cy="3324589"/>
          </a:xfrm>
          <a:custGeom>
            <a:avLst/>
            <a:gdLst/>
            <a:ahLst/>
            <a:cxnLst/>
            <a:rect r="r" b="b" t="t" l="l"/>
            <a:pathLst>
              <a:path h="3324589" w="3951963">
                <a:moveTo>
                  <a:pt x="0" y="0"/>
                </a:moveTo>
                <a:lnTo>
                  <a:pt x="3951962" y="0"/>
                </a:lnTo>
                <a:lnTo>
                  <a:pt x="3951962" y="3324589"/>
                </a:lnTo>
                <a:lnTo>
                  <a:pt x="0" y="33245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657997" y="468617"/>
            <a:ext cx="2770337" cy="378761"/>
            <a:chOff x="0" y="0"/>
            <a:chExt cx="3693782" cy="50501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58357" cy="505014"/>
            </a:xfrm>
            <a:custGeom>
              <a:avLst/>
              <a:gdLst/>
              <a:ahLst/>
              <a:cxnLst/>
              <a:rect r="r" b="b" t="t" l="l"/>
              <a:pathLst>
                <a:path h="505014" w="658357">
                  <a:moveTo>
                    <a:pt x="0" y="0"/>
                  </a:moveTo>
                  <a:lnTo>
                    <a:pt x="658357" y="0"/>
                  </a:lnTo>
                  <a:lnTo>
                    <a:pt x="658357" y="505014"/>
                  </a:lnTo>
                  <a:lnTo>
                    <a:pt x="0" y="5050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930695" y="-57441"/>
              <a:ext cx="2763087" cy="5602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20"/>
                </a:lnSpc>
                <a:spcBef>
                  <a:spcPct val="0"/>
                </a:spcBef>
              </a:pPr>
              <a:r>
                <a:rPr lang="en-US" sz="2300">
                  <a:solidFill>
                    <a:srgbClr val="FFFFFF"/>
                  </a:solidFill>
                  <a:latin typeface="Jua"/>
                  <a:ea typeface="Jua"/>
                  <a:cs typeface="Jua"/>
                  <a:sym typeface="Jua"/>
                </a:rPr>
                <a:t>MundiPets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57997" y="2942470"/>
            <a:ext cx="5139022" cy="1898231"/>
            <a:chOff x="0" y="0"/>
            <a:chExt cx="6852030" cy="2530975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6852030" cy="2530975"/>
              <a:chOff x="0" y="0"/>
              <a:chExt cx="1353487" cy="499946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353487" cy="499946"/>
              </a:xfrm>
              <a:custGeom>
                <a:avLst/>
                <a:gdLst/>
                <a:ahLst/>
                <a:cxnLst/>
                <a:rect r="r" b="b" t="t" l="l"/>
                <a:pathLst>
                  <a:path h="499946" w="1353487">
                    <a:moveTo>
                      <a:pt x="52727" y="0"/>
                    </a:moveTo>
                    <a:lnTo>
                      <a:pt x="1300760" y="0"/>
                    </a:lnTo>
                    <a:cubicBezTo>
                      <a:pt x="1314744" y="0"/>
                      <a:pt x="1328156" y="5555"/>
                      <a:pt x="1338044" y="15443"/>
                    </a:cubicBezTo>
                    <a:cubicBezTo>
                      <a:pt x="1347932" y="25332"/>
                      <a:pt x="1353487" y="38743"/>
                      <a:pt x="1353487" y="52727"/>
                    </a:cubicBezTo>
                    <a:lnTo>
                      <a:pt x="1353487" y="447218"/>
                    </a:lnTo>
                    <a:cubicBezTo>
                      <a:pt x="1353487" y="461202"/>
                      <a:pt x="1347932" y="474614"/>
                      <a:pt x="1338044" y="484502"/>
                    </a:cubicBezTo>
                    <a:cubicBezTo>
                      <a:pt x="1328156" y="494390"/>
                      <a:pt x="1314744" y="499946"/>
                      <a:pt x="1300760" y="499946"/>
                    </a:cubicBezTo>
                    <a:lnTo>
                      <a:pt x="52727" y="499946"/>
                    </a:lnTo>
                    <a:cubicBezTo>
                      <a:pt x="38743" y="499946"/>
                      <a:pt x="25332" y="494390"/>
                      <a:pt x="15443" y="484502"/>
                    </a:cubicBezTo>
                    <a:cubicBezTo>
                      <a:pt x="5555" y="474614"/>
                      <a:pt x="0" y="461202"/>
                      <a:pt x="0" y="447218"/>
                    </a:cubicBezTo>
                    <a:lnTo>
                      <a:pt x="0" y="52727"/>
                    </a:lnTo>
                    <a:cubicBezTo>
                      <a:pt x="0" y="38743"/>
                      <a:pt x="5555" y="25332"/>
                      <a:pt x="15443" y="15443"/>
                    </a:cubicBezTo>
                    <a:cubicBezTo>
                      <a:pt x="25332" y="5555"/>
                      <a:pt x="38743" y="0"/>
                      <a:pt x="52727" y="0"/>
                    </a:cubicBezTo>
                    <a:close/>
                  </a:path>
                </a:pathLst>
              </a:custGeom>
              <a:solidFill>
                <a:srgbClr val="A2D6FF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104775"/>
                <a:ext cx="1353487" cy="6047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20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0">
              <a:off x="437617" y="500741"/>
              <a:ext cx="1529492" cy="1529492"/>
            </a:xfrm>
            <a:custGeom>
              <a:avLst/>
              <a:gdLst/>
              <a:ahLst/>
              <a:cxnLst/>
              <a:rect r="r" b="b" t="t" l="l"/>
              <a:pathLst>
                <a:path h="1529492" w="1529492">
                  <a:moveTo>
                    <a:pt x="0" y="0"/>
                  </a:moveTo>
                  <a:lnTo>
                    <a:pt x="1529492" y="0"/>
                  </a:lnTo>
                  <a:lnTo>
                    <a:pt x="1529492" y="1529492"/>
                  </a:lnTo>
                  <a:lnTo>
                    <a:pt x="0" y="15294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 rot="0">
              <a:off x="2127543" y="572702"/>
              <a:ext cx="3626674" cy="13379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80"/>
                </a:lnSpc>
              </a:pPr>
              <a:r>
                <a:rPr lang="en-US" sz="3000">
                  <a:solidFill>
                    <a:srgbClr val="5D3700"/>
                  </a:solidFill>
                  <a:latin typeface="Sniglet"/>
                  <a:ea typeface="Sniglet"/>
                  <a:cs typeface="Sniglet"/>
                  <a:sym typeface="Sniglet"/>
                </a:rPr>
                <a:t>Diagrama de contexto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638040" y="2927373"/>
            <a:ext cx="5087950" cy="1928426"/>
            <a:chOff x="0" y="0"/>
            <a:chExt cx="6783933" cy="2571234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6783933" cy="2571234"/>
              <a:chOff x="0" y="0"/>
              <a:chExt cx="1340036" cy="507898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340036" cy="507898"/>
              </a:xfrm>
              <a:custGeom>
                <a:avLst/>
                <a:gdLst/>
                <a:ahLst/>
                <a:cxnLst/>
                <a:rect r="r" b="b" t="t" l="l"/>
                <a:pathLst>
                  <a:path h="507898" w="1340036">
                    <a:moveTo>
                      <a:pt x="53257" y="0"/>
                    </a:moveTo>
                    <a:lnTo>
                      <a:pt x="1286779" y="0"/>
                    </a:lnTo>
                    <a:cubicBezTo>
                      <a:pt x="1300904" y="0"/>
                      <a:pt x="1314450" y="5611"/>
                      <a:pt x="1324438" y="15599"/>
                    </a:cubicBezTo>
                    <a:cubicBezTo>
                      <a:pt x="1334425" y="25586"/>
                      <a:pt x="1340036" y="39132"/>
                      <a:pt x="1340036" y="53257"/>
                    </a:cubicBezTo>
                    <a:lnTo>
                      <a:pt x="1340036" y="454641"/>
                    </a:lnTo>
                    <a:cubicBezTo>
                      <a:pt x="1340036" y="484054"/>
                      <a:pt x="1316192" y="507898"/>
                      <a:pt x="1286779" y="507898"/>
                    </a:cubicBezTo>
                    <a:lnTo>
                      <a:pt x="53257" y="507898"/>
                    </a:lnTo>
                    <a:cubicBezTo>
                      <a:pt x="39132" y="507898"/>
                      <a:pt x="25586" y="502287"/>
                      <a:pt x="15599" y="492300"/>
                    </a:cubicBezTo>
                    <a:cubicBezTo>
                      <a:pt x="5611" y="482312"/>
                      <a:pt x="0" y="468766"/>
                      <a:pt x="0" y="454641"/>
                    </a:cubicBezTo>
                    <a:lnTo>
                      <a:pt x="0" y="53257"/>
                    </a:lnTo>
                    <a:cubicBezTo>
                      <a:pt x="0" y="39132"/>
                      <a:pt x="5611" y="25586"/>
                      <a:pt x="15599" y="15599"/>
                    </a:cubicBezTo>
                    <a:cubicBezTo>
                      <a:pt x="25586" y="5611"/>
                      <a:pt x="39132" y="0"/>
                      <a:pt x="53257" y="0"/>
                    </a:cubicBezTo>
                    <a:close/>
                  </a:path>
                </a:pathLst>
              </a:custGeom>
              <a:solidFill>
                <a:srgbClr val="A2D6FF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104775"/>
                <a:ext cx="1340036" cy="61267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20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2168718" y="592832"/>
              <a:ext cx="4615215" cy="13379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80"/>
                </a:lnSpc>
              </a:pPr>
              <a:r>
                <a:rPr lang="en-US" sz="3000">
                  <a:solidFill>
                    <a:srgbClr val="5D3700"/>
                  </a:solidFill>
                  <a:latin typeface="Sniglet"/>
                  <a:ea typeface="Sniglet"/>
                  <a:cs typeface="Sniglet"/>
                  <a:sym typeface="Sniglet"/>
                </a:rPr>
                <a:t>i* — Dependencia y Razón Estratégica</a:t>
              </a:r>
            </a:p>
          </p:txBody>
        </p:sp>
        <p:sp>
          <p:nvSpPr>
            <p:cNvPr name="Freeform 19" id="19"/>
            <p:cNvSpPr/>
            <p:nvPr/>
          </p:nvSpPr>
          <p:spPr>
            <a:xfrm flipH="false" flipV="false" rot="0">
              <a:off x="288324" y="495200"/>
              <a:ext cx="1540575" cy="1540575"/>
            </a:xfrm>
            <a:custGeom>
              <a:avLst/>
              <a:gdLst/>
              <a:ahLst/>
              <a:cxnLst/>
              <a:rect r="r" b="b" t="t" l="l"/>
              <a:pathLst>
                <a:path h="1540575" w="1540575">
                  <a:moveTo>
                    <a:pt x="0" y="0"/>
                  </a:moveTo>
                  <a:lnTo>
                    <a:pt x="1540575" y="0"/>
                  </a:lnTo>
                  <a:lnTo>
                    <a:pt x="1540575" y="1540575"/>
                  </a:lnTo>
                  <a:lnTo>
                    <a:pt x="0" y="15405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2567010" y="2942470"/>
            <a:ext cx="5169914" cy="1965889"/>
            <a:chOff x="0" y="0"/>
            <a:chExt cx="6893219" cy="2621186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6893219" cy="2621186"/>
              <a:chOff x="0" y="0"/>
              <a:chExt cx="1361623" cy="517765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361623" cy="517765"/>
              </a:xfrm>
              <a:custGeom>
                <a:avLst/>
                <a:gdLst/>
                <a:ahLst/>
                <a:cxnLst/>
                <a:rect r="r" b="b" t="t" l="l"/>
                <a:pathLst>
                  <a:path h="517765" w="1361623">
                    <a:moveTo>
                      <a:pt x="52412" y="0"/>
                    </a:moveTo>
                    <a:lnTo>
                      <a:pt x="1309211" y="0"/>
                    </a:lnTo>
                    <a:cubicBezTo>
                      <a:pt x="1338158" y="0"/>
                      <a:pt x="1361623" y="23466"/>
                      <a:pt x="1361623" y="52412"/>
                    </a:cubicBezTo>
                    <a:lnTo>
                      <a:pt x="1361623" y="465353"/>
                    </a:lnTo>
                    <a:cubicBezTo>
                      <a:pt x="1361623" y="494299"/>
                      <a:pt x="1338158" y="517765"/>
                      <a:pt x="1309211" y="517765"/>
                    </a:cubicBezTo>
                    <a:lnTo>
                      <a:pt x="52412" y="517765"/>
                    </a:lnTo>
                    <a:cubicBezTo>
                      <a:pt x="23466" y="517765"/>
                      <a:pt x="0" y="494299"/>
                      <a:pt x="0" y="465353"/>
                    </a:cubicBezTo>
                    <a:lnTo>
                      <a:pt x="0" y="52412"/>
                    </a:lnTo>
                    <a:cubicBezTo>
                      <a:pt x="0" y="23466"/>
                      <a:pt x="23466" y="0"/>
                      <a:pt x="52412" y="0"/>
                    </a:cubicBezTo>
                    <a:close/>
                  </a:path>
                </a:pathLst>
              </a:custGeom>
              <a:solidFill>
                <a:srgbClr val="A2D6FF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104775"/>
                <a:ext cx="1361623" cy="62254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20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2168718" y="720781"/>
              <a:ext cx="4724501" cy="13379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80"/>
                </a:lnSpc>
              </a:pPr>
              <a:r>
                <a:rPr lang="en-US" sz="3000">
                  <a:solidFill>
                    <a:srgbClr val="5D3700"/>
                  </a:solidFill>
                  <a:latin typeface="Sniglet"/>
                  <a:ea typeface="Sniglet"/>
                  <a:cs typeface="Sniglet"/>
                  <a:sym typeface="Sniglet"/>
                </a:rPr>
                <a:t>Diagrama de clases refinado</a:t>
              </a:r>
            </a:p>
          </p:txBody>
        </p:sp>
        <p:sp>
          <p:nvSpPr>
            <p:cNvPr name="Freeform 25" id="25"/>
            <p:cNvSpPr/>
            <p:nvPr/>
          </p:nvSpPr>
          <p:spPr>
            <a:xfrm flipH="false" flipV="false" rot="0">
              <a:off x="185351" y="471076"/>
              <a:ext cx="1546704" cy="1546704"/>
            </a:xfrm>
            <a:custGeom>
              <a:avLst/>
              <a:gdLst/>
              <a:ahLst/>
              <a:cxnLst/>
              <a:rect r="r" b="b" t="t" l="l"/>
              <a:pathLst>
                <a:path h="1546704" w="1546704">
                  <a:moveTo>
                    <a:pt x="0" y="0"/>
                  </a:moveTo>
                  <a:lnTo>
                    <a:pt x="1546704" y="0"/>
                  </a:lnTo>
                  <a:lnTo>
                    <a:pt x="1546704" y="1546704"/>
                  </a:lnTo>
                  <a:lnTo>
                    <a:pt x="0" y="15467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550929" y="5250277"/>
            <a:ext cx="5169914" cy="1885331"/>
            <a:chOff x="0" y="0"/>
            <a:chExt cx="6893219" cy="2513775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0"/>
              <a:ext cx="6893219" cy="2513775"/>
              <a:chOff x="0" y="0"/>
              <a:chExt cx="1361623" cy="496548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1361623" cy="496548"/>
              </a:xfrm>
              <a:custGeom>
                <a:avLst/>
                <a:gdLst/>
                <a:ahLst/>
                <a:cxnLst/>
                <a:rect r="r" b="b" t="t" l="l"/>
                <a:pathLst>
                  <a:path h="496548" w="1361623">
                    <a:moveTo>
                      <a:pt x="52412" y="0"/>
                    </a:moveTo>
                    <a:lnTo>
                      <a:pt x="1309211" y="0"/>
                    </a:lnTo>
                    <a:cubicBezTo>
                      <a:pt x="1338158" y="0"/>
                      <a:pt x="1361623" y="23466"/>
                      <a:pt x="1361623" y="52412"/>
                    </a:cubicBezTo>
                    <a:lnTo>
                      <a:pt x="1361623" y="444136"/>
                    </a:lnTo>
                    <a:cubicBezTo>
                      <a:pt x="1361623" y="473082"/>
                      <a:pt x="1338158" y="496548"/>
                      <a:pt x="1309211" y="496548"/>
                    </a:cubicBezTo>
                    <a:lnTo>
                      <a:pt x="52412" y="496548"/>
                    </a:lnTo>
                    <a:cubicBezTo>
                      <a:pt x="23466" y="496548"/>
                      <a:pt x="0" y="473082"/>
                      <a:pt x="0" y="444136"/>
                    </a:cubicBezTo>
                    <a:lnTo>
                      <a:pt x="0" y="52412"/>
                    </a:lnTo>
                    <a:cubicBezTo>
                      <a:pt x="0" y="23466"/>
                      <a:pt x="23466" y="0"/>
                      <a:pt x="52412" y="0"/>
                    </a:cubicBezTo>
                    <a:close/>
                  </a:path>
                </a:pathLst>
              </a:custGeom>
              <a:solidFill>
                <a:srgbClr val="A2D6FF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104775"/>
                <a:ext cx="1361623" cy="60132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20"/>
                  </a:lnSpc>
                </a:pPr>
              </a:p>
            </p:txBody>
          </p:sp>
        </p:grpSp>
        <p:sp>
          <p:nvSpPr>
            <p:cNvPr name="TextBox 30" id="30"/>
            <p:cNvSpPr txBox="true"/>
            <p:nvPr/>
          </p:nvSpPr>
          <p:spPr>
            <a:xfrm rot="0">
              <a:off x="2168718" y="907003"/>
              <a:ext cx="4724501" cy="652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80"/>
                </a:lnSpc>
              </a:pPr>
              <a:r>
                <a:rPr lang="en-US" sz="3000">
                  <a:solidFill>
                    <a:srgbClr val="5D3700"/>
                  </a:solidFill>
                  <a:latin typeface="Sniglet"/>
                  <a:ea typeface="Sniglet"/>
                  <a:cs typeface="Sniglet"/>
                  <a:sym typeface="Sniglet"/>
                </a:rPr>
                <a:t>Casos de uso (13)</a:t>
              </a:r>
            </a:p>
          </p:txBody>
        </p:sp>
        <p:sp>
          <p:nvSpPr>
            <p:cNvPr name="Freeform 31" id="31"/>
            <p:cNvSpPr/>
            <p:nvPr/>
          </p:nvSpPr>
          <p:spPr>
            <a:xfrm flipH="false" flipV="false" rot="0">
              <a:off x="331806" y="425450"/>
              <a:ext cx="1617362" cy="1617362"/>
            </a:xfrm>
            <a:custGeom>
              <a:avLst/>
              <a:gdLst/>
              <a:ahLst/>
              <a:cxnLst/>
              <a:rect r="r" b="b" t="t" l="l"/>
              <a:pathLst>
                <a:path h="1617362" w="1617362">
                  <a:moveTo>
                    <a:pt x="0" y="0"/>
                  </a:moveTo>
                  <a:lnTo>
                    <a:pt x="1617362" y="0"/>
                  </a:lnTo>
                  <a:lnTo>
                    <a:pt x="1617362" y="1617362"/>
                  </a:lnTo>
                  <a:lnTo>
                    <a:pt x="0" y="16173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6597058" y="5295568"/>
            <a:ext cx="5169914" cy="1885331"/>
            <a:chOff x="0" y="0"/>
            <a:chExt cx="6893219" cy="2513775"/>
          </a:xfrm>
        </p:grpSpPr>
        <p:grpSp>
          <p:nvGrpSpPr>
            <p:cNvPr name="Group 33" id="33"/>
            <p:cNvGrpSpPr/>
            <p:nvPr/>
          </p:nvGrpSpPr>
          <p:grpSpPr>
            <a:xfrm rot="0">
              <a:off x="0" y="0"/>
              <a:ext cx="6893219" cy="2513775"/>
              <a:chOff x="0" y="0"/>
              <a:chExt cx="1361623" cy="496548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1361623" cy="496548"/>
              </a:xfrm>
              <a:custGeom>
                <a:avLst/>
                <a:gdLst/>
                <a:ahLst/>
                <a:cxnLst/>
                <a:rect r="r" b="b" t="t" l="l"/>
                <a:pathLst>
                  <a:path h="496548" w="1361623">
                    <a:moveTo>
                      <a:pt x="52412" y="0"/>
                    </a:moveTo>
                    <a:lnTo>
                      <a:pt x="1309211" y="0"/>
                    </a:lnTo>
                    <a:cubicBezTo>
                      <a:pt x="1338158" y="0"/>
                      <a:pt x="1361623" y="23466"/>
                      <a:pt x="1361623" y="52412"/>
                    </a:cubicBezTo>
                    <a:lnTo>
                      <a:pt x="1361623" y="444136"/>
                    </a:lnTo>
                    <a:cubicBezTo>
                      <a:pt x="1361623" y="473082"/>
                      <a:pt x="1338158" y="496548"/>
                      <a:pt x="1309211" y="496548"/>
                    </a:cubicBezTo>
                    <a:lnTo>
                      <a:pt x="52412" y="496548"/>
                    </a:lnTo>
                    <a:cubicBezTo>
                      <a:pt x="23466" y="496548"/>
                      <a:pt x="0" y="473082"/>
                      <a:pt x="0" y="444136"/>
                    </a:cubicBezTo>
                    <a:lnTo>
                      <a:pt x="0" y="52412"/>
                    </a:lnTo>
                    <a:cubicBezTo>
                      <a:pt x="0" y="23466"/>
                      <a:pt x="23466" y="0"/>
                      <a:pt x="52412" y="0"/>
                    </a:cubicBezTo>
                    <a:close/>
                  </a:path>
                </a:pathLst>
              </a:custGeom>
              <a:solidFill>
                <a:srgbClr val="A2D6FF"/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-104775"/>
                <a:ext cx="1361623" cy="60132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20"/>
                  </a:lnSpc>
                </a:pPr>
              </a:p>
            </p:txBody>
          </p:sp>
        </p:grpSp>
        <p:sp>
          <p:nvSpPr>
            <p:cNvPr name="TextBox 36" id="36"/>
            <p:cNvSpPr txBox="true"/>
            <p:nvPr/>
          </p:nvSpPr>
          <p:spPr>
            <a:xfrm rot="0">
              <a:off x="2168718" y="564103"/>
              <a:ext cx="4065474" cy="13379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80"/>
                </a:lnSpc>
              </a:pPr>
              <a:r>
                <a:rPr lang="en-US" sz="3000">
                  <a:solidFill>
                    <a:srgbClr val="5D3700"/>
                  </a:solidFill>
                  <a:latin typeface="Sniglet"/>
                  <a:ea typeface="Sniglet"/>
                  <a:cs typeface="Sniglet"/>
                  <a:sym typeface="Sniglet"/>
                </a:rPr>
                <a:t>Diagramas de secuencia (13)</a:t>
              </a:r>
            </a:p>
          </p:txBody>
        </p:sp>
        <p:sp>
          <p:nvSpPr>
            <p:cNvPr name="Freeform 37" id="37"/>
            <p:cNvSpPr/>
            <p:nvPr/>
          </p:nvSpPr>
          <p:spPr>
            <a:xfrm flipH="false" flipV="false" rot="0">
              <a:off x="408284" y="501823"/>
              <a:ext cx="1540988" cy="1540988"/>
            </a:xfrm>
            <a:custGeom>
              <a:avLst/>
              <a:gdLst/>
              <a:ahLst/>
              <a:cxnLst/>
              <a:rect r="r" b="b" t="t" l="l"/>
              <a:pathLst>
                <a:path h="1540988" w="1540988">
                  <a:moveTo>
                    <a:pt x="0" y="0"/>
                  </a:moveTo>
                  <a:lnTo>
                    <a:pt x="1540989" y="0"/>
                  </a:lnTo>
                  <a:lnTo>
                    <a:pt x="1540989" y="1540989"/>
                  </a:lnTo>
                  <a:lnTo>
                    <a:pt x="0" y="15409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2567010" y="5326460"/>
            <a:ext cx="5169914" cy="1854440"/>
            <a:chOff x="0" y="0"/>
            <a:chExt cx="6893219" cy="2472586"/>
          </a:xfrm>
        </p:grpSpPr>
        <p:grpSp>
          <p:nvGrpSpPr>
            <p:cNvPr name="Group 39" id="39"/>
            <p:cNvGrpSpPr/>
            <p:nvPr/>
          </p:nvGrpSpPr>
          <p:grpSpPr>
            <a:xfrm rot="0">
              <a:off x="0" y="0"/>
              <a:ext cx="6893219" cy="2472586"/>
              <a:chOff x="0" y="0"/>
              <a:chExt cx="1361623" cy="488412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1361623" cy="488412"/>
              </a:xfrm>
              <a:custGeom>
                <a:avLst/>
                <a:gdLst/>
                <a:ahLst/>
                <a:cxnLst/>
                <a:rect r="r" b="b" t="t" l="l"/>
                <a:pathLst>
                  <a:path h="488412" w="1361623">
                    <a:moveTo>
                      <a:pt x="52412" y="0"/>
                    </a:moveTo>
                    <a:lnTo>
                      <a:pt x="1309211" y="0"/>
                    </a:lnTo>
                    <a:cubicBezTo>
                      <a:pt x="1338158" y="0"/>
                      <a:pt x="1361623" y="23466"/>
                      <a:pt x="1361623" y="52412"/>
                    </a:cubicBezTo>
                    <a:lnTo>
                      <a:pt x="1361623" y="436000"/>
                    </a:lnTo>
                    <a:cubicBezTo>
                      <a:pt x="1361623" y="464946"/>
                      <a:pt x="1338158" y="488412"/>
                      <a:pt x="1309211" y="488412"/>
                    </a:cubicBezTo>
                    <a:lnTo>
                      <a:pt x="52412" y="488412"/>
                    </a:lnTo>
                    <a:cubicBezTo>
                      <a:pt x="23466" y="488412"/>
                      <a:pt x="0" y="464946"/>
                      <a:pt x="0" y="436000"/>
                    </a:cubicBezTo>
                    <a:lnTo>
                      <a:pt x="0" y="52412"/>
                    </a:lnTo>
                    <a:cubicBezTo>
                      <a:pt x="0" y="23466"/>
                      <a:pt x="23466" y="0"/>
                      <a:pt x="52412" y="0"/>
                    </a:cubicBezTo>
                    <a:close/>
                  </a:path>
                </a:pathLst>
              </a:custGeom>
              <a:solidFill>
                <a:srgbClr val="A2D6FF"/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-104775"/>
                <a:ext cx="1361623" cy="59318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20"/>
                  </a:lnSpc>
                </a:pPr>
              </a:p>
            </p:txBody>
          </p:sp>
        </p:grpSp>
        <p:sp>
          <p:nvSpPr>
            <p:cNvPr name="Freeform 42" id="42"/>
            <p:cNvSpPr/>
            <p:nvPr/>
          </p:nvSpPr>
          <p:spPr>
            <a:xfrm flipH="false" flipV="false" rot="0">
              <a:off x="495496" y="531882"/>
              <a:ext cx="1450012" cy="1450012"/>
            </a:xfrm>
            <a:custGeom>
              <a:avLst/>
              <a:gdLst/>
              <a:ahLst/>
              <a:cxnLst/>
              <a:rect r="r" b="b" t="t" l="l"/>
              <a:pathLst>
                <a:path h="1450012" w="1450012">
                  <a:moveTo>
                    <a:pt x="0" y="0"/>
                  </a:moveTo>
                  <a:lnTo>
                    <a:pt x="1450012" y="0"/>
                  </a:lnTo>
                  <a:lnTo>
                    <a:pt x="1450012" y="1450012"/>
                  </a:lnTo>
                  <a:lnTo>
                    <a:pt x="0" y="14500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 rot="0">
              <a:off x="2168718" y="564103"/>
              <a:ext cx="4065474" cy="13379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80"/>
                </a:lnSpc>
              </a:pPr>
              <a:r>
                <a:rPr lang="en-US" sz="3000">
                  <a:solidFill>
                    <a:srgbClr val="5D3700"/>
                  </a:solidFill>
                  <a:latin typeface="Sniglet"/>
                  <a:ea typeface="Sniglet"/>
                  <a:cs typeface="Sniglet"/>
                  <a:sym typeface="Sniglet"/>
                </a:rPr>
                <a:t>Diagramas de actividades (13)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550929" y="7545183"/>
            <a:ext cx="5169914" cy="1854440"/>
            <a:chOff x="0" y="0"/>
            <a:chExt cx="6893219" cy="2472586"/>
          </a:xfrm>
        </p:grpSpPr>
        <p:grpSp>
          <p:nvGrpSpPr>
            <p:cNvPr name="Group 45" id="45"/>
            <p:cNvGrpSpPr/>
            <p:nvPr/>
          </p:nvGrpSpPr>
          <p:grpSpPr>
            <a:xfrm rot="0">
              <a:off x="0" y="0"/>
              <a:ext cx="6893219" cy="2472586"/>
              <a:chOff x="0" y="0"/>
              <a:chExt cx="1361623" cy="488412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1361623" cy="488412"/>
              </a:xfrm>
              <a:custGeom>
                <a:avLst/>
                <a:gdLst/>
                <a:ahLst/>
                <a:cxnLst/>
                <a:rect r="r" b="b" t="t" l="l"/>
                <a:pathLst>
                  <a:path h="488412" w="1361623">
                    <a:moveTo>
                      <a:pt x="52412" y="0"/>
                    </a:moveTo>
                    <a:lnTo>
                      <a:pt x="1309211" y="0"/>
                    </a:lnTo>
                    <a:cubicBezTo>
                      <a:pt x="1338158" y="0"/>
                      <a:pt x="1361623" y="23466"/>
                      <a:pt x="1361623" y="52412"/>
                    </a:cubicBezTo>
                    <a:lnTo>
                      <a:pt x="1361623" y="436000"/>
                    </a:lnTo>
                    <a:cubicBezTo>
                      <a:pt x="1361623" y="464946"/>
                      <a:pt x="1338158" y="488412"/>
                      <a:pt x="1309211" y="488412"/>
                    </a:cubicBezTo>
                    <a:lnTo>
                      <a:pt x="52412" y="488412"/>
                    </a:lnTo>
                    <a:cubicBezTo>
                      <a:pt x="23466" y="488412"/>
                      <a:pt x="0" y="464946"/>
                      <a:pt x="0" y="436000"/>
                    </a:cubicBezTo>
                    <a:lnTo>
                      <a:pt x="0" y="52412"/>
                    </a:lnTo>
                    <a:cubicBezTo>
                      <a:pt x="0" y="23466"/>
                      <a:pt x="23466" y="0"/>
                      <a:pt x="52412" y="0"/>
                    </a:cubicBezTo>
                    <a:close/>
                  </a:path>
                </a:pathLst>
              </a:custGeom>
              <a:solidFill>
                <a:srgbClr val="A2D6FF"/>
              </a:solid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0" y="-104775"/>
                <a:ext cx="1361623" cy="59318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20"/>
                  </a:lnSpc>
                </a:pPr>
              </a:p>
            </p:txBody>
          </p:sp>
        </p:grpSp>
        <p:sp>
          <p:nvSpPr>
            <p:cNvPr name="Freeform 48" id="48"/>
            <p:cNvSpPr/>
            <p:nvPr/>
          </p:nvSpPr>
          <p:spPr>
            <a:xfrm flipH="false" flipV="false" rot="0">
              <a:off x="281614" y="418688"/>
              <a:ext cx="1483360" cy="1483360"/>
            </a:xfrm>
            <a:custGeom>
              <a:avLst/>
              <a:gdLst/>
              <a:ahLst/>
              <a:cxnLst/>
              <a:rect r="r" b="b" t="t" l="l"/>
              <a:pathLst>
                <a:path h="1483360" w="1483360">
                  <a:moveTo>
                    <a:pt x="0" y="0"/>
                  </a:moveTo>
                  <a:lnTo>
                    <a:pt x="1483360" y="0"/>
                  </a:lnTo>
                  <a:lnTo>
                    <a:pt x="1483360" y="1483360"/>
                  </a:lnTo>
                  <a:lnTo>
                    <a:pt x="0" y="1483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 rot="0">
              <a:off x="2168718" y="564103"/>
              <a:ext cx="4065474" cy="13379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80"/>
                </a:lnSpc>
              </a:pPr>
              <a:r>
                <a:rPr lang="en-US" sz="3000">
                  <a:solidFill>
                    <a:srgbClr val="5D3700"/>
                  </a:solidFill>
                  <a:latin typeface="Sniglet"/>
                  <a:ea typeface="Sniglet"/>
                  <a:cs typeface="Sniglet"/>
                  <a:sym typeface="Sniglet"/>
                </a:rPr>
                <a:t>Máquinas de estado (3)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6559043" y="7638100"/>
            <a:ext cx="5169914" cy="1780573"/>
            <a:chOff x="0" y="0"/>
            <a:chExt cx="6893219" cy="2374097"/>
          </a:xfrm>
        </p:grpSpPr>
        <p:grpSp>
          <p:nvGrpSpPr>
            <p:cNvPr name="Group 51" id="51"/>
            <p:cNvGrpSpPr/>
            <p:nvPr/>
          </p:nvGrpSpPr>
          <p:grpSpPr>
            <a:xfrm rot="0">
              <a:off x="0" y="0"/>
              <a:ext cx="6893219" cy="2374097"/>
              <a:chOff x="0" y="0"/>
              <a:chExt cx="1361623" cy="468957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1361623" cy="468957"/>
              </a:xfrm>
              <a:custGeom>
                <a:avLst/>
                <a:gdLst/>
                <a:ahLst/>
                <a:cxnLst/>
                <a:rect r="r" b="b" t="t" l="l"/>
                <a:pathLst>
                  <a:path h="468957" w="1361623">
                    <a:moveTo>
                      <a:pt x="52412" y="0"/>
                    </a:moveTo>
                    <a:lnTo>
                      <a:pt x="1309211" y="0"/>
                    </a:lnTo>
                    <a:cubicBezTo>
                      <a:pt x="1338158" y="0"/>
                      <a:pt x="1361623" y="23466"/>
                      <a:pt x="1361623" y="52412"/>
                    </a:cubicBezTo>
                    <a:lnTo>
                      <a:pt x="1361623" y="416545"/>
                    </a:lnTo>
                    <a:cubicBezTo>
                      <a:pt x="1361623" y="445492"/>
                      <a:pt x="1338158" y="468957"/>
                      <a:pt x="1309211" y="468957"/>
                    </a:cubicBezTo>
                    <a:lnTo>
                      <a:pt x="52412" y="468957"/>
                    </a:lnTo>
                    <a:cubicBezTo>
                      <a:pt x="23466" y="468957"/>
                      <a:pt x="0" y="445492"/>
                      <a:pt x="0" y="416545"/>
                    </a:cubicBezTo>
                    <a:lnTo>
                      <a:pt x="0" y="52412"/>
                    </a:lnTo>
                    <a:cubicBezTo>
                      <a:pt x="0" y="23466"/>
                      <a:pt x="23466" y="0"/>
                      <a:pt x="52412" y="0"/>
                    </a:cubicBezTo>
                    <a:close/>
                  </a:path>
                </a:pathLst>
              </a:custGeom>
              <a:solidFill>
                <a:srgbClr val="A2D6FF"/>
              </a:solidFill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-104775"/>
                <a:ext cx="1361623" cy="57373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20"/>
                  </a:lnSpc>
                </a:pPr>
              </a:p>
            </p:txBody>
          </p:sp>
        </p:grpSp>
        <p:sp>
          <p:nvSpPr>
            <p:cNvPr name="Freeform 54" id="54"/>
            <p:cNvSpPr/>
            <p:nvPr/>
          </p:nvSpPr>
          <p:spPr>
            <a:xfrm flipH="false" flipV="false" rot="0">
              <a:off x="311472" y="512374"/>
              <a:ext cx="1489026" cy="1489026"/>
            </a:xfrm>
            <a:custGeom>
              <a:avLst/>
              <a:gdLst/>
              <a:ahLst/>
              <a:cxnLst/>
              <a:rect r="r" b="b" t="t" l="l"/>
              <a:pathLst>
                <a:path h="1489026" w="1489026">
                  <a:moveTo>
                    <a:pt x="0" y="0"/>
                  </a:moveTo>
                  <a:lnTo>
                    <a:pt x="1489026" y="0"/>
                  </a:lnTo>
                  <a:lnTo>
                    <a:pt x="1489026" y="1489027"/>
                  </a:lnTo>
                  <a:lnTo>
                    <a:pt x="0" y="14890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>
                <a:extLst>
                  <a:ext uri="{96DAC541-7B7A-43D3-8B79-37D633B846F1}">
                    <asvg:svgBlip xmlns:asvg="http://schemas.microsoft.com/office/drawing/2016/SVG/main" r:embed="rId2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 rot="0">
              <a:off x="2168718" y="564103"/>
              <a:ext cx="4065474" cy="13379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80"/>
                </a:lnSpc>
              </a:pPr>
              <a:r>
                <a:rPr lang="en-US" sz="3000">
                  <a:solidFill>
                    <a:srgbClr val="5D3700"/>
                  </a:solidFill>
                  <a:latin typeface="Sniglet"/>
                  <a:ea typeface="Sniglet"/>
                  <a:cs typeface="Sniglet"/>
                  <a:sym typeface="Sniglet"/>
                </a:rPr>
                <a:t>Diagrama de componentes</a:t>
              </a:r>
            </a:p>
          </p:txBody>
        </p:sp>
      </p:grpSp>
      <p:sp>
        <p:nvSpPr>
          <p:cNvPr name="TextBox 56" id="56"/>
          <p:cNvSpPr txBox="true"/>
          <p:nvPr/>
        </p:nvSpPr>
        <p:spPr>
          <a:xfrm rot="0">
            <a:off x="1318399" y="1482464"/>
            <a:ext cx="15940901" cy="1065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34"/>
              </a:lnSpc>
            </a:pPr>
            <a:r>
              <a:rPr lang="en-US" sz="8499" b="true">
                <a:solidFill>
                  <a:srgbClr val="0D3889"/>
                </a:solidFill>
                <a:latin typeface="Balsamiq Sans Bold"/>
                <a:ea typeface="Balsamiq Sans Bold"/>
                <a:cs typeface="Balsamiq Sans Bold"/>
                <a:sym typeface="Balsamiq Sans Bold"/>
              </a:rPr>
              <a:t>Modelado del sistema con UML</a:t>
            </a:r>
          </a:p>
        </p:txBody>
      </p:sp>
      <p:grpSp>
        <p:nvGrpSpPr>
          <p:cNvPr name="Group 57" id="57"/>
          <p:cNvGrpSpPr/>
          <p:nvPr/>
        </p:nvGrpSpPr>
        <p:grpSpPr>
          <a:xfrm rot="0">
            <a:off x="12567010" y="7638100"/>
            <a:ext cx="5169914" cy="1780573"/>
            <a:chOff x="0" y="0"/>
            <a:chExt cx="6893219" cy="2374097"/>
          </a:xfrm>
        </p:grpSpPr>
        <p:grpSp>
          <p:nvGrpSpPr>
            <p:cNvPr name="Group 58" id="58"/>
            <p:cNvGrpSpPr/>
            <p:nvPr/>
          </p:nvGrpSpPr>
          <p:grpSpPr>
            <a:xfrm rot="0">
              <a:off x="0" y="0"/>
              <a:ext cx="6893219" cy="2374097"/>
              <a:chOff x="0" y="0"/>
              <a:chExt cx="1361623" cy="468957"/>
            </a:xfrm>
          </p:grpSpPr>
          <p:sp>
            <p:nvSpPr>
              <p:cNvPr name="Freeform 59" id="59"/>
              <p:cNvSpPr/>
              <p:nvPr/>
            </p:nvSpPr>
            <p:spPr>
              <a:xfrm flipH="false" flipV="false" rot="0">
                <a:off x="0" y="0"/>
                <a:ext cx="1361623" cy="468957"/>
              </a:xfrm>
              <a:custGeom>
                <a:avLst/>
                <a:gdLst/>
                <a:ahLst/>
                <a:cxnLst/>
                <a:rect r="r" b="b" t="t" l="l"/>
                <a:pathLst>
                  <a:path h="468957" w="1361623">
                    <a:moveTo>
                      <a:pt x="52412" y="0"/>
                    </a:moveTo>
                    <a:lnTo>
                      <a:pt x="1309211" y="0"/>
                    </a:lnTo>
                    <a:cubicBezTo>
                      <a:pt x="1338158" y="0"/>
                      <a:pt x="1361623" y="23466"/>
                      <a:pt x="1361623" y="52412"/>
                    </a:cubicBezTo>
                    <a:lnTo>
                      <a:pt x="1361623" y="416545"/>
                    </a:lnTo>
                    <a:cubicBezTo>
                      <a:pt x="1361623" y="445492"/>
                      <a:pt x="1338158" y="468957"/>
                      <a:pt x="1309211" y="468957"/>
                    </a:cubicBezTo>
                    <a:lnTo>
                      <a:pt x="52412" y="468957"/>
                    </a:lnTo>
                    <a:cubicBezTo>
                      <a:pt x="23466" y="468957"/>
                      <a:pt x="0" y="445492"/>
                      <a:pt x="0" y="416545"/>
                    </a:cubicBezTo>
                    <a:lnTo>
                      <a:pt x="0" y="52412"/>
                    </a:lnTo>
                    <a:cubicBezTo>
                      <a:pt x="0" y="23466"/>
                      <a:pt x="23466" y="0"/>
                      <a:pt x="52412" y="0"/>
                    </a:cubicBezTo>
                    <a:close/>
                  </a:path>
                </a:pathLst>
              </a:custGeom>
              <a:solidFill>
                <a:srgbClr val="A2D6FF"/>
              </a:solidFill>
            </p:spPr>
          </p:sp>
          <p:sp>
            <p:nvSpPr>
              <p:cNvPr name="TextBox 60" id="60"/>
              <p:cNvSpPr txBox="true"/>
              <p:nvPr/>
            </p:nvSpPr>
            <p:spPr>
              <a:xfrm>
                <a:off x="0" y="-104775"/>
                <a:ext cx="1361623" cy="57373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20"/>
                  </a:lnSpc>
                </a:pPr>
              </a:p>
            </p:txBody>
          </p:sp>
        </p:grpSp>
        <p:sp>
          <p:nvSpPr>
            <p:cNvPr name="Freeform 61" id="61"/>
            <p:cNvSpPr/>
            <p:nvPr/>
          </p:nvSpPr>
          <p:spPr>
            <a:xfrm flipH="false" flipV="false" rot="0">
              <a:off x="333382" y="431227"/>
              <a:ext cx="1470821" cy="1470821"/>
            </a:xfrm>
            <a:custGeom>
              <a:avLst/>
              <a:gdLst/>
              <a:ahLst/>
              <a:cxnLst/>
              <a:rect r="r" b="b" t="t" l="l"/>
              <a:pathLst>
                <a:path h="1470821" w="1470821">
                  <a:moveTo>
                    <a:pt x="0" y="0"/>
                  </a:moveTo>
                  <a:lnTo>
                    <a:pt x="1470820" y="0"/>
                  </a:lnTo>
                  <a:lnTo>
                    <a:pt x="1470820" y="1470821"/>
                  </a:lnTo>
                  <a:lnTo>
                    <a:pt x="0" y="14708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>
                <a:extLst>
                  <a:ext uri="{96DAC541-7B7A-43D3-8B79-37D633B846F1}">
                    <asvg:svgBlip xmlns:asvg="http://schemas.microsoft.com/office/drawing/2016/SVG/main" r:embed="rId2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 rot="0">
              <a:off x="2168718" y="564103"/>
              <a:ext cx="4065474" cy="13379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80"/>
                </a:lnSpc>
              </a:pPr>
              <a:r>
                <a:rPr lang="en-US" sz="3000">
                  <a:solidFill>
                    <a:srgbClr val="5D3700"/>
                  </a:solidFill>
                  <a:latin typeface="Sniglet"/>
                  <a:ea typeface="Sniglet"/>
                  <a:cs typeface="Sniglet"/>
                  <a:sym typeface="Sniglet"/>
                </a:rPr>
                <a:t>Diagrama de despliegue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944676">
            <a:off x="13539938" y="-820384"/>
            <a:ext cx="5760414" cy="2922101"/>
          </a:xfrm>
          <a:custGeom>
            <a:avLst/>
            <a:gdLst/>
            <a:ahLst/>
            <a:cxnLst/>
            <a:rect r="r" b="b" t="t" l="l"/>
            <a:pathLst>
              <a:path h="2922101" w="5760414">
                <a:moveTo>
                  <a:pt x="0" y="0"/>
                </a:moveTo>
                <a:lnTo>
                  <a:pt x="5760414" y="0"/>
                </a:lnTo>
                <a:lnTo>
                  <a:pt x="5760414" y="2922101"/>
                </a:lnTo>
                <a:lnTo>
                  <a:pt x="0" y="292210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660771">
            <a:off x="-1330137" y="-820384"/>
            <a:ext cx="5760414" cy="2922101"/>
          </a:xfrm>
          <a:custGeom>
            <a:avLst/>
            <a:gdLst/>
            <a:ahLst/>
            <a:cxnLst/>
            <a:rect r="r" b="b" t="t" l="l"/>
            <a:pathLst>
              <a:path h="2922101" w="5760414">
                <a:moveTo>
                  <a:pt x="0" y="0"/>
                </a:moveTo>
                <a:lnTo>
                  <a:pt x="5760414" y="0"/>
                </a:lnTo>
                <a:lnTo>
                  <a:pt x="5760414" y="2922101"/>
                </a:lnTo>
                <a:lnTo>
                  <a:pt x="0" y="292210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2700000">
            <a:off x="391727" y="9199890"/>
            <a:ext cx="823482" cy="651174"/>
          </a:xfrm>
          <a:custGeom>
            <a:avLst/>
            <a:gdLst/>
            <a:ahLst/>
            <a:cxnLst/>
            <a:rect r="r" b="b" t="t" l="l"/>
            <a:pathLst>
              <a:path h="651174" w="823482">
                <a:moveTo>
                  <a:pt x="0" y="0"/>
                </a:moveTo>
                <a:lnTo>
                  <a:pt x="823482" y="0"/>
                </a:lnTo>
                <a:lnTo>
                  <a:pt x="823482" y="651174"/>
                </a:lnTo>
                <a:lnTo>
                  <a:pt x="0" y="65117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3129142">
            <a:off x="17166600" y="2824325"/>
            <a:ext cx="823482" cy="651174"/>
          </a:xfrm>
          <a:custGeom>
            <a:avLst/>
            <a:gdLst/>
            <a:ahLst/>
            <a:cxnLst/>
            <a:rect r="r" b="b" t="t" l="l"/>
            <a:pathLst>
              <a:path h="651174" w="823482">
                <a:moveTo>
                  <a:pt x="0" y="0"/>
                </a:moveTo>
                <a:lnTo>
                  <a:pt x="823482" y="0"/>
                </a:lnTo>
                <a:lnTo>
                  <a:pt x="823482" y="651175"/>
                </a:lnTo>
                <a:lnTo>
                  <a:pt x="0" y="65117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900481" y="1628206"/>
            <a:ext cx="12916403" cy="2046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34"/>
              </a:lnSpc>
            </a:pPr>
            <a:r>
              <a:rPr lang="en-US" sz="8499" b="true">
                <a:solidFill>
                  <a:srgbClr val="2856AD"/>
                </a:solidFill>
                <a:latin typeface="Balsamiq Sans Bold"/>
                <a:ea typeface="Balsamiq Sans Bold"/>
                <a:cs typeface="Balsamiq Sans Bold"/>
                <a:sym typeface="Balsamiq Sans Bold"/>
              </a:rPr>
              <a:t>H</a:t>
            </a:r>
            <a:r>
              <a:rPr lang="en-US" b="true" sz="8499">
                <a:solidFill>
                  <a:srgbClr val="2856AD"/>
                </a:solidFill>
                <a:latin typeface="Balsamiq Sans Bold"/>
                <a:ea typeface="Balsamiq Sans Bold"/>
                <a:cs typeface="Balsamiq Sans Bold"/>
                <a:sym typeface="Balsamiq Sans Bold"/>
              </a:rPr>
              <a:t>istorias de usuario y casos de prueba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507330" y="261905"/>
            <a:ext cx="2770337" cy="378761"/>
            <a:chOff x="0" y="0"/>
            <a:chExt cx="3693782" cy="50501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8357" cy="505014"/>
            </a:xfrm>
            <a:custGeom>
              <a:avLst/>
              <a:gdLst/>
              <a:ahLst/>
              <a:cxnLst/>
              <a:rect r="r" b="b" t="t" l="l"/>
              <a:pathLst>
                <a:path h="505014" w="658357">
                  <a:moveTo>
                    <a:pt x="0" y="0"/>
                  </a:moveTo>
                  <a:lnTo>
                    <a:pt x="658357" y="0"/>
                  </a:lnTo>
                  <a:lnTo>
                    <a:pt x="658357" y="505014"/>
                  </a:lnTo>
                  <a:lnTo>
                    <a:pt x="0" y="5050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 rot="0">
              <a:off x="930695" y="-57441"/>
              <a:ext cx="2763087" cy="5602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20"/>
                </a:lnSpc>
                <a:spcBef>
                  <a:spcPct val="0"/>
                </a:spcBef>
              </a:pPr>
              <a:r>
                <a:rPr lang="en-US" sz="2300">
                  <a:solidFill>
                    <a:srgbClr val="FFFFFF"/>
                  </a:solidFill>
                  <a:latin typeface="Jua"/>
                  <a:ea typeface="Jua"/>
                  <a:cs typeface="Jua"/>
                  <a:sym typeface="Jua"/>
                </a:rPr>
                <a:t>MundiPets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24838" y="4000246"/>
            <a:ext cx="4357276" cy="2286509"/>
            <a:chOff x="0" y="0"/>
            <a:chExt cx="5809701" cy="3048678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5809701" cy="3048678"/>
              <a:chOff x="0" y="0"/>
              <a:chExt cx="1147595" cy="602208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147595" cy="602208"/>
              </a:xfrm>
              <a:custGeom>
                <a:avLst/>
                <a:gdLst/>
                <a:ahLst/>
                <a:cxnLst/>
                <a:rect r="r" b="b" t="t" l="l"/>
                <a:pathLst>
                  <a:path h="602208" w="1147595">
                    <a:moveTo>
                      <a:pt x="62187" y="0"/>
                    </a:moveTo>
                    <a:lnTo>
                      <a:pt x="1085408" y="0"/>
                    </a:lnTo>
                    <a:cubicBezTo>
                      <a:pt x="1119753" y="0"/>
                      <a:pt x="1147595" y="27842"/>
                      <a:pt x="1147595" y="62187"/>
                    </a:cubicBezTo>
                    <a:lnTo>
                      <a:pt x="1147595" y="540021"/>
                    </a:lnTo>
                    <a:cubicBezTo>
                      <a:pt x="1147595" y="556514"/>
                      <a:pt x="1141044" y="572331"/>
                      <a:pt x="1129381" y="583994"/>
                    </a:cubicBezTo>
                    <a:cubicBezTo>
                      <a:pt x="1117719" y="595656"/>
                      <a:pt x="1101901" y="602208"/>
                      <a:pt x="1085408" y="602208"/>
                    </a:cubicBezTo>
                    <a:lnTo>
                      <a:pt x="62187" y="602208"/>
                    </a:lnTo>
                    <a:cubicBezTo>
                      <a:pt x="45694" y="602208"/>
                      <a:pt x="29877" y="595656"/>
                      <a:pt x="18214" y="583994"/>
                    </a:cubicBezTo>
                    <a:cubicBezTo>
                      <a:pt x="6552" y="572331"/>
                      <a:pt x="0" y="556514"/>
                      <a:pt x="0" y="540021"/>
                    </a:cubicBezTo>
                    <a:lnTo>
                      <a:pt x="0" y="62187"/>
                    </a:lnTo>
                    <a:cubicBezTo>
                      <a:pt x="0" y="45694"/>
                      <a:pt x="6552" y="29877"/>
                      <a:pt x="18214" y="18214"/>
                    </a:cubicBezTo>
                    <a:cubicBezTo>
                      <a:pt x="29877" y="6552"/>
                      <a:pt x="45694" y="0"/>
                      <a:pt x="62187" y="0"/>
                    </a:cubicBezTo>
                    <a:close/>
                  </a:path>
                </a:pathLst>
              </a:custGeom>
              <a:solidFill>
                <a:srgbClr val="6391E8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104775"/>
                <a:ext cx="1147595" cy="70698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20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0" y="1266350"/>
              <a:ext cx="5809701" cy="13379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080"/>
                </a:lnSpc>
              </a:pPr>
              <a:r>
                <a:rPr lang="en-US" sz="3000">
                  <a:solidFill>
                    <a:srgbClr val="1F2937"/>
                  </a:solidFill>
                  <a:latin typeface="Sniglet"/>
                  <a:ea typeface="Sniglet"/>
                  <a:cs typeface="Sniglet"/>
                  <a:sym typeface="Sniglet"/>
                </a:rPr>
                <a:t>Historias de</a:t>
              </a:r>
            </a:p>
            <a:p>
              <a:pPr algn="ctr">
                <a:lnSpc>
                  <a:spcPts val="4080"/>
                </a:lnSpc>
              </a:pPr>
              <a:r>
                <a:rPr lang="en-US" sz="3000">
                  <a:solidFill>
                    <a:srgbClr val="1F2937"/>
                  </a:solidFill>
                  <a:latin typeface="Sniglet"/>
                  <a:ea typeface="Sniglet"/>
                  <a:cs typeface="Sniglet"/>
                  <a:sym typeface="Sniglet"/>
                </a:rPr>
                <a:t>usuario (HU-01 a HU-27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1131321" y="430267"/>
              <a:ext cx="3547059" cy="8837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550"/>
                </a:lnSpc>
              </a:pPr>
              <a:r>
                <a:rPr lang="en-US" b="true" sz="5000">
                  <a:solidFill>
                    <a:srgbClr val="FFAE34"/>
                  </a:solidFill>
                  <a:latin typeface="Balsamiq Sans Bold"/>
                  <a:ea typeface="Balsamiq Sans Bold"/>
                  <a:cs typeface="Balsamiq Sans Bold"/>
                  <a:sym typeface="Balsamiq Sans Bold"/>
                </a:rPr>
                <a:t>27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965362" y="4000246"/>
            <a:ext cx="4357276" cy="2286509"/>
            <a:chOff x="0" y="0"/>
            <a:chExt cx="5809701" cy="3048678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5809701" cy="3048678"/>
              <a:chOff x="0" y="0"/>
              <a:chExt cx="1147595" cy="602208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147595" cy="602208"/>
              </a:xfrm>
              <a:custGeom>
                <a:avLst/>
                <a:gdLst/>
                <a:ahLst/>
                <a:cxnLst/>
                <a:rect r="r" b="b" t="t" l="l"/>
                <a:pathLst>
                  <a:path h="602208" w="1147595">
                    <a:moveTo>
                      <a:pt x="62187" y="0"/>
                    </a:moveTo>
                    <a:lnTo>
                      <a:pt x="1085408" y="0"/>
                    </a:lnTo>
                    <a:cubicBezTo>
                      <a:pt x="1119753" y="0"/>
                      <a:pt x="1147595" y="27842"/>
                      <a:pt x="1147595" y="62187"/>
                    </a:cubicBezTo>
                    <a:lnTo>
                      <a:pt x="1147595" y="540021"/>
                    </a:lnTo>
                    <a:cubicBezTo>
                      <a:pt x="1147595" y="556514"/>
                      <a:pt x="1141044" y="572331"/>
                      <a:pt x="1129381" y="583994"/>
                    </a:cubicBezTo>
                    <a:cubicBezTo>
                      <a:pt x="1117719" y="595656"/>
                      <a:pt x="1101901" y="602208"/>
                      <a:pt x="1085408" y="602208"/>
                    </a:cubicBezTo>
                    <a:lnTo>
                      <a:pt x="62187" y="602208"/>
                    </a:lnTo>
                    <a:cubicBezTo>
                      <a:pt x="45694" y="602208"/>
                      <a:pt x="29877" y="595656"/>
                      <a:pt x="18214" y="583994"/>
                    </a:cubicBezTo>
                    <a:cubicBezTo>
                      <a:pt x="6552" y="572331"/>
                      <a:pt x="0" y="556514"/>
                      <a:pt x="0" y="540021"/>
                    </a:cubicBezTo>
                    <a:lnTo>
                      <a:pt x="0" y="62187"/>
                    </a:lnTo>
                    <a:cubicBezTo>
                      <a:pt x="0" y="45694"/>
                      <a:pt x="6552" y="29877"/>
                      <a:pt x="18214" y="18214"/>
                    </a:cubicBezTo>
                    <a:cubicBezTo>
                      <a:pt x="29877" y="6552"/>
                      <a:pt x="45694" y="0"/>
                      <a:pt x="62187" y="0"/>
                    </a:cubicBezTo>
                    <a:close/>
                  </a:path>
                </a:pathLst>
              </a:custGeom>
              <a:solidFill>
                <a:srgbClr val="6391E8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104775"/>
                <a:ext cx="1147595" cy="70698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20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0" y="1266350"/>
              <a:ext cx="5809701" cy="13379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080"/>
                </a:lnSpc>
              </a:pPr>
              <a:r>
                <a:rPr lang="en-US" sz="3000">
                  <a:solidFill>
                    <a:srgbClr val="1F2937"/>
                  </a:solidFill>
                  <a:latin typeface="Sniglet"/>
                  <a:ea typeface="Sniglet"/>
                  <a:cs typeface="Sniglet"/>
                  <a:sym typeface="Sniglet"/>
                </a:rPr>
                <a:t>Cr</a:t>
              </a:r>
              <a:r>
                <a:rPr lang="en-US" sz="3000">
                  <a:solidFill>
                    <a:srgbClr val="1F2937"/>
                  </a:solidFill>
                  <a:latin typeface="Sniglet"/>
                  <a:ea typeface="Sniglet"/>
                  <a:cs typeface="Sniglet"/>
                  <a:sym typeface="Sniglet"/>
                </a:rPr>
                <a:t>iterio de aceptación</a:t>
              </a:r>
            </a:p>
            <a:p>
              <a:pPr algn="ctr">
                <a:lnSpc>
                  <a:spcPts val="4080"/>
                </a:lnSpc>
              </a:pPr>
              <a:r>
                <a:rPr lang="en-US" sz="3000">
                  <a:solidFill>
                    <a:srgbClr val="1F2937"/>
                  </a:solidFill>
                  <a:latin typeface="Sniglet"/>
                  <a:ea typeface="Sniglet"/>
                  <a:cs typeface="Sniglet"/>
                  <a:sym typeface="Sniglet"/>
                </a:rPr>
                <a:t>Gherkin por HU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1131321" y="430267"/>
              <a:ext cx="3547059" cy="8837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550"/>
                </a:lnSpc>
              </a:pPr>
              <a:r>
                <a:rPr lang="en-US" sz="5000" b="true">
                  <a:solidFill>
                    <a:srgbClr val="FFAE34"/>
                  </a:solidFill>
                  <a:latin typeface="Balsamiq Sans Bold"/>
                  <a:ea typeface="Balsamiq Sans Bold"/>
                  <a:cs typeface="Balsamiq Sans Bold"/>
                  <a:sym typeface="Balsamiq Sans Bold"/>
                </a:rPr>
                <a:t>1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608513" y="4000246"/>
            <a:ext cx="4357276" cy="2286509"/>
            <a:chOff x="0" y="0"/>
            <a:chExt cx="5809701" cy="3048678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5809701" cy="3048678"/>
              <a:chOff x="0" y="0"/>
              <a:chExt cx="1147595" cy="602208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1147595" cy="602208"/>
              </a:xfrm>
              <a:custGeom>
                <a:avLst/>
                <a:gdLst/>
                <a:ahLst/>
                <a:cxnLst/>
                <a:rect r="r" b="b" t="t" l="l"/>
                <a:pathLst>
                  <a:path h="602208" w="1147595">
                    <a:moveTo>
                      <a:pt x="62187" y="0"/>
                    </a:moveTo>
                    <a:lnTo>
                      <a:pt x="1085408" y="0"/>
                    </a:lnTo>
                    <a:cubicBezTo>
                      <a:pt x="1119753" y="0"/>
                      <a:pt x="1147595" y="27842"/>
                      <a:pt x="1147595" y="62187"/>
                    </a:cubicBezTo>
                    <a:lnTo>
                      <a:pt x="1147595" y="540021"/>
                    </a:lnTo>
                    <a:cubicBezTo>
                      <a:pt x="1147595" y="556514"/>
                      <a:pt x="1141044" y="572331"/>
                      <a:pt x="1129381" y="583994"/>
                    </a:cubicBezTo>
                    <a:cubicBezTo>
                      <a:pt x="1117719" y="595656"/>
                      <a:pt x="1101901" y="602208"/>
                      <a:pt x="1085408" y="602208"/>
                    </a:cubicBezTo>
                    <a:lnTo>
                      <a:pt x="62187" y="602208"/>
                    </a:lnTo>
                    <a:cubicBezTo>
                      <a:pt x="45694" y="602208"/>
                      <a:pt x="29877" y="595656"/>
                      <a:pt x="18214" y="583994"/>
                    </a:cubicBezTo>
                    <a:cubicBezTo>
                      <a:pt x="6552" y="572331"/>
                      <a:pt x="0" y="556514"/>
                      <a:pt x="0" y="540021"/>
                    </a:cubicBezTo>
                    <a:lnTo>
                      <a:pt x="0" y="62187"/>
                    </a:lnTo>
                    <a:cubicBezTo>
                      <a:pt x="0" y="45694"/>
                      <a:pt x="6552" y="29877"/>
                      <a:pt x="18214" y="18214"/>
                    </a:cubicBezTo>
                    <a:cubicBezTo>
                      <a:pt x="29877" y="6552"/>
                      <a:pt x="45694" y="0"/>
                      <a:pt x="62187" y="0"/>
                    </a:cubicBezTo>
                    <a:close/>
                  </a:path>
                </a:pathLst>
              </a:custGeom>
              <a:solidFill>
                <a:srgbClr val="6391E8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104775"/>
                <a:ext cx="1147595" cy="70698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20"/>
                  </a:lnSpc>
                </a:pPr>
              </a:p>
            </p:txBody>
          </p:sp>
        </p:grpSp>
        <p:sp>
          <p:nvSpPr>
            <p:cNvPr name="TextBox 27" id="27"/>
            <p:cNvSpPr txBox="true"/>
            <p:nvPr/>
          </p:nvSpPr>
          <p:spPr>
            <a:xfrm rot="0">
              <a:off x="0" y="1266350"/>
              <a:ext cx="5809701" cy="13379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080"/>
                </a:lnSpc>
              </a:pPr>
              <a:r>
                <a:rPr lang="en-US" sz="3000">
                  <a:solidFill>
                    <a:srgbClr val="1F2937"/>
                  </a:solidFill>
                  <a:latin typeface="Sniglet"/>
                  <a:ea typeface="Sniglet"/>
                  <a:cs typeface="Sniglet"/>
                  <a:sym typeface="Sniglet"/>
                </a:rPr>
                <a:t>Cas</a:t>
              </a:r>
              <a:r>
                <a:rPr lang="en-US" sz="3000">
                  <a:solidFill>
                    <a:srgbClr val="1F2937"/>
                  </a:solidFill>
                  <a:latin typeface="Sniglet"/>
                  <a:ea typeface="Sniglet"/>
                  <a:cs typeface="Sniglet"/>
                  <a:sym typeface="Sniglet"/>
                </a:rPr>
                <a:t>o de prueba por</a:t>
              </a:r>
            </a:p>
            <a:p>
              <a:pPr algn="ctr">
                <a:lnSpc>
                  <a:spcPts val="4080"/>
                </a:lnSpc>
              </a:pPr>
              <a:r>
                <a:rPr lang="en-US" sz="3000">
                  <a:solidFill>
                    <a:srgbClr val="1F2937"/>
                  </a:solidFill>
                  <a:latin typeface="Sniglet"/>
                  <a:ea typeface="Sniglet"/>
                  <a:cs typeface="Sniglet"/>
                  <a:sym typeface="Sniglet"/>
                </a:rPr>
                <a:t>cada requisito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1131321" y="430267"/>
              <a:ext cx="3547059" cy="8837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550"/>
                </a:lnSpc>
              </a:pPr>
              <a:r>
                <a:rPr lang="en-US" sz="5000" b="true">
                  <a:solidFill>
                    <a:srgbClr val="FFAE34"/>
                  </a:solidFill>
                  <a:latin typeface="Balsamiq Sans Bold"/>
                  <a:ea typeface="Balsamiq Sans Bold"/>
                  <a:cs typeface="Balsamiq Sans Bold"/>
                  <a:sym typeface="Balsamiq Sans Bold"/>
                </a:rPr>
                <a:t>+1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348212" y="6610604"/>
            <a:ext cx="15720402" cy="3120005"/>
            <a:chOff x="0" y="0"/>
            <a:chExt cx="20960535" cy="4160007"/>
          </a:xfrm>
        </p:grpSpPr>
        <p:grpSp>
          <p:nvGrpSpPr>
            <p:cNvPr name="Group 30" id="30"/>
            <p:cNvGrpSpPr/>
            <p:nvPr/>
          </p:nvGrpSpPr>
          <p:grpSpPr>
            <a:xfrm rot="0">
              <a:off x="0" y="0"/>
              <a:ext cx="20960535" cy="4160007"/>
              <a:chOff x="0" y="0"/>
              <a:chExt cx="4140353" cy="82173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4140353" cy="821730"/>
              </a:xfrm>
              <a:custGeom>
                <a:avLst/>
                <a:gdLst/>
                <a:ahLst/>
                <a:cxnLst/>
                <a:rect r="r" b="b" t="t" l="l"/>
                <a:pathLst>
                  <a:path h="821730" w="4140353">
                    <a:moveTo>
                      <a:pt x="17237" y="0"/>
                    </a:moveTo>
                    <a:lnTo>
                      <a:pt x="4123116" y="0"/>
                    </a:lnTo>
                    <a:cubicBezTo>
                      <a:pt x="4132636" y="0"/>
                      <a:pt x="4140353" y="7717"/>
                      <a:pt x="4140353" y="17237"/>
                    </a:cubicBezTo>
                    <a:lnTo>
                      <a:pt x="4140353" y="804493"/>
                    </a:lnTo>
                    <a:cubicBezTo>
                      <a:pt x="4140353" y="814013"/>
                      <a:pt x="4132636" y="821730"/>
                      <a:pt x="4123116" y="821730"/>
                    </a:cubicBezTo>
                    <a:lnTo>
                      <a:pt x="17237" y="821730"/>
                    </a:lnTo>
                    <a:cubicBezTo>
                      <a:pt x="7717" y="821730"/>
                      <a:pt x="0" y="814013"/>
                      <a:pt x="0" y="804493"/>
                    </a:cubicBezTo>
                    <a:lnTo>
                      <a:pt x="0" y="17237"/>
                    </a:lnTo>
                    <a:cubicBezTo>
                      <a:pt x="0" y="7717"/>
                      <a:pt x="7717" y="0"/>
                      <a:pt x="17237" y="0"/>
                    </a:cubicBezTo>
                    <a:close/>
                  </a:path>
                </a:pathLst>
              </a:custGeom>
              <a:solidFill>
                <a:srgbClr val="FEDB9E"/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104775"/>
                <a:ext cx="4140353" cy="92650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20"/>
                  </a:lnSpc>
                </a:pPr>
              </a:p>
            </p:txBody>
          </p:sp>
        </p:grpSp>
        <p:sp>
          <p:nvSpPr>
            <p:cNvPr name="TextBox 33" id="33"/>
            <p:cNvSpPr txBox="true"/>
            <p:nvPr/>
          </p:nvSpPr>
          <p:spPr>
            <a:xfrm rot="0">
              <a:off x="0" y="1273161"/>
              <a:ext cx="20508670" cy="25117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04521" indent="-302261" lvl="1">
                <a:lnSpc>
                  <a:spcPts val="3808"/>
                </a:lnSpc>
                <a:buFont typeface="Arial"/>
                <a:buChar char="•"/>
              </a:pPr>
              <a:r>
                <a:rPr lang="en-US" sz="2800">
                  <a:solidFill>
                    <a:srgbClr val="5D3700"/>
                  </a:solidFill>
                  <a:latin typeface="Sniglet"/>
                  <a:ea typeface="Sniglet"/>
                  <a:cs typeface="Sniglet"/>
                  <a:sym typeface="Sniglet"/>
                </a:rPr>
                <a:t>Todo requisito —funcional, no funcional, de diseño o legal— tiene al menos un caso de prueba (norma ISO/IEC/IEEE 29119-3).</a:t>
              </a:r>
            </a:p>
            <a:p>
              <a:pPr algn="l" marL="604521" indent="-302261" lvl="1">
                <a:lnSpc>
                  <a:spcPts val="3808"/>
                </a:lnSpc>
                <a:buFont typeface="Arial"/>
                <a:buChar char="•"/>
              </a:pPr>
              <a:r>
                <a:rPr lang="en-US" sz="2800">
                  <a:solidFill>
                    <a:srgbClr val="5D3700"/>
                  </a:solidFill>
                  <a:latin typeface="Sniglet"/>
                  <a:ea typeface="Sniglet"/>
                  <a:cs typeface="Sniglet"/>
                  <a:sym typeface="Sniglet"/>
                </a:rPr>
                <a:t>Los requisitos funcionales no duplican trabajo: el caso de prueba ejecuta el mismo escenario Gherkin ya definido como criterio de aceptación de su historia de usuario.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552462" y="494617"/>
              <a:ext cx="11353561" cy="5378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30"/>
                </a:lnSpc>
              </a:pPr>
              <a:r>
                <a:rPr lang="en-US" sz="3000" b="true">
                  <a:solidFill>
                    <a:srgbClr val="5D3700"/>
                  </a:solidFill>
                  <a:latin typeface="Balsamiq Sans Bold"/>
                  <a:ea typeface="Balsamiq Sans Bold"/>
                  <a:cs typeface="Balsamiq Sans Bold"/>
                  <a:sym typeface="Balsamiq Sans Bold"/>
                </a:rPr>
                <a:t>Verificación conforme a ISO/IEC/IEEE 29119-3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983271">
            <a:off x="-1975981" y="3178590"/>
            <a:ext cx="3951963" cy="3324589"/>
          </a:xfrm>
          <a:custGeom>
            <a:avLst/>
            <a:gdLst/>
            <a:ahLst/>
            <a:cxnLst/>
            <a:rect r="r" b="b" t="t" l="l"/>
            <a:pathLst>
              <a:path h="3324589" w="3951963">
                <a:moveTo>
                  <a:pt x="0" y="0"/>
                </a:moveTo>
                <a:lnTo>
                  <a:pt x="3951962" y="0"/>
                </a:lnTo>
                <a:lnTo>
                  <a:pt x="3951962" y="3324589"/>
                </a:lnTo>
                <a:lnTo>
                  <a:pt x="0" y="33245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4083474">
            <a:off x="16713613" y="7404141"/>
            <a:ext cx="3951963" cy="3324589"/>
          </a:xfrm>
          <a:custGeom>
            <a:avLst/>
            <a:gdLst/>
            <a:ahLst/>
            <a:cxnLst/>
            <a:rect r="r" b="b" t="t" l="l"/>
            <a:pathLst>
              <a:path h="3324589" w="3951963">
                <a:moveTo>
                  <a:pt x="0" y="0"/>
                </a:moveTo>
                <a:lnTo>
                  <a:pt x="3951963" y="0"/>
                </a:lnTo>
                <a:lnTo>
                  <a:pt x="3951963" y="3324589"/>
                </a:lnTo>
                <a:lnTo>
                  <a:pt x="0" y="33245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69398" y="1067920"/>
            <a:ext cx="16836766" cy="1065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34"/>
              </a:lnSpc>
            </a:pPr>
            <a:r>
              <a:rPr lang="en-US" sz="8499" b="true">
                <a:solidFill>
                  <a:srgbClr val="FFFFFF"/>
                </a:solidFill>
                <a:latin typeface="Balsamiq Sans Bold"/>
                <a:ea typeface="Balsamiq Sans Bold"/>
                <a:cs typeface="Balsamiq Sans Bold"/>
                <a:sym typeface="Balsamiq Sans Bold"/>
              </a:rPr>
              <a:t>Cadena de trazabilidad extendida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57997" y="468617"/>
            <a:ext cx="2770337" cy="378761"/>
            <a:chOff x="0" y="0"/>
            <a:chExt cx="3693782" cy="50501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58357" cy="505014"/>
            </a:xfrm>
            <a:custGeom>
              <a:avLst/>
              <a:gdLst/>
              <a:ahLst/>
              <a:cxnLst/>
              <a:rect r="r" b="b" t="t" l="l"/>
              <a:pathLst>
                <a:path h="505014" w="658357">
                  <a:moveTo>
                    <a:pt x="0" y="0"/>
                  </a:moveTo>
                  <a:lnTo>
                    <a:pt x="658357" y="0"/>
                  </a:lnTo>
                  <a:lnTo>
                    <a:pt x="658357" y="505014"/>
                  </a:lnTo>
                  <a:lnTo>
                    <a:pt x="0" y="5050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930695" y="-57441"/>
              <a:ext cx="2763087" cy="5602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20"/>
                </a:lnSpc>
                <a:spcBef>
                  <a:spcPct val="0"/>
                </a:spcBef>
              </a:pPr>
              <a:r>
                <a:rPr lang="en-US" sz="2300">
                  <a:solidFill>
                    <a:srgbClr val="FFFFFF"/>
                  </a:solidFill>
                  <a:latin typeface="Jua"/>
                  <a:ea typeface="Jua"/>
                  <a:cs typeface="Jua"/>
                  <a:sym typeface="Jua"/>
                </a:rPr>
                <a:t>MundiPets</a:t>
              </a:r>
            </a:p>
          </p:txBody>
        </p:sp>
      </p:grpSp>
      <p:sp>
        <p:nvSpPr>
          <p:cNvPr name="AutoShape 9" id="9"/>
          <p:cNvSpPr/>
          <p:nvPr/>
        </p:nvSpPr>
        <p:spPr>
          <a:xfrm>
            <a:off x="2106666" y="3241651"/>
            <a:ext cx="6492240" cy="0"/>
          </a:xfrm>
          <a:prstGeom prst="line">
            <a:avLst/>
          </a:prstGeom>
          <a:ln cap="flat" w="38100">
            <a:solidFill>
              <a:srgbClr val="E5E7EB"/>
            </a:solidFill>
            <a:prstDash val="sysDash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358198" y="2385211"/>
            <a:ext cx="1989724" cy="1712880"/>
            <a:chOff x="0" y="0"/>
            <a:chExt cx="524042" cy="4511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24042" cy="451129"/>
            </a:xfrm>
            <a:custGeom>
              <a:avLst/>
              <a:gdLst/>
              <a:ahLst/>
              <a:cxnLst/>
              <a:rect r="r" b="b" t="t" l="l"/>
              <a:pathLst>
                <a:path h="451129" w="524042">
                  <a:moveTo>
                    <a:pt x="136183" y="0"/>
                  </a:moveTo>
                  <a:lnTo>
                    <a:pt x="387859" y="0"/>
                  </a:lnTo>
                  <a:cubicBezTo>
                    <a:pt x="463071" y="0"/>
                    <a:pt x="524042" y="60971"/>
                    <a:pt x="524042" y="136183"/>
                  </a:cubicBezTo>
                  <a:lnTo>
                    <a:pt x="524042" y="314945"/>
                  </a:lnTo>
                  <a:cubicBezTo>
                    <a:pt x="524042" y="390157"/>
                    <a:pt x="463071" y="451129"/>
                    <a:pt x="387859" y="451129"/>
                  </a:cubicBezTo>
                  <a:lnTo>
                    <a:pt x="136183" y="451129"/>
                  </a:lnTo>
                  <a:cubicBezTo>
                    <a:pt x="100065" y="451129"/>
                    <a:pt x="65426" y="436781"/>
                    <a:pt x="39887" y="411242"/>
                  </a:cubicBezTo>
                  <a:cubicBezTo>
                    <a:pt x="14348" y="385702"/>
                    <a:pt x="0" y="351064"/>
                    <a:pt x="0" y="314945"/>
                  </a:cubicBezTo>
                  <a:lnTo>
                    <a:pt x="0" y="136183"/>
                  </a:lnTo>
                  <a:cubicBezTo>
                    <a:pt x="0" y="60971"/>
                    <a:pt x="60971" y="0"/>
                    <a:pt x="136183" y="0"/>
                  </a:cubicBezTo>
                  <a:close/>
                </a:path>
              </a:pathLst>
            </a:custGeom>
            <a:solidFill>
              <a:srgbClr val="D0EBC8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04775"/>
              <a:ext cx="524042" cy="5559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028700" y="2997828"/>
            <a:ext cx="553576" cy="466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8"/>
              </a:lnSpc>
            </a:pPr>
            <a:r>
              <a:rPr lang="en-US" sz="2800">
                <a:solidFill>
                  <a:srgbClr val="5D3700"/>
                </a:solidFill>
                <a:latin typeface="Sniglet"/>
                <a:ea typeface="Sniglet"/>
                <a:cs typeface="Sniglet"/>
                <a:sym typeface="Sniglet"/>
              </a:rPr>
              <a:t>Ley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2987100" y="2351836"/>
            <a:ext cx="2069341" cy="1663968"/>
            <a:chOff x="0" y="0"/>
            <a:chExt cx="545012" cy="43824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45012" cy="438247"/>
            </a:xfrm>
            <a:custGeom>
              <a:avLst/>
              <a:gdLst/>
              <a:ahLst/>
              <a:cxnLst/>
              <a:rect r="r" b="b" t="t" l="l"/>
              <a:pathLst>
                <a:path h="438247" w="545012">
                  <a:moveTo>
                    <a:pt x="130944" y="0"/>
                  </a:moveTo>
                  <a:lnTo>
                    <a:pt x="414068" y="0"/>
                  </a:lnTo>
                  <a:cubicBezTo>
                    <a:pt x="486386" y="0"/>
                    <a:pt x="545012" y="58626"/>
                    <a:pt x="545012" y="130944"/>
                  </a:cubicBezTo>
                  <a:lnTo>
                    <a:pt x="545012" y="307303"/>
                  </a:lnTo>
                  <a:cubicBezTo>
                    <a:pt x="545012" y="342031"/>
                    <a:pt x="531216" y="375337"/>
                    <a:pt x="506659" y="399894"/>
                  </a:cubicBezTo>
                  <a:cubicBezTo>
                    <a:pt x="482102" y="424451"/>
                    <a:pt x="448796" y="438247"/>
                    <a:pt x="414068" y="438247"/>
                  </a:cubicBezTo>
                  <a:lnTo>
                    <a:pt x="130944" y="438247"/>
                  </a:lnTo>
                  <a:cubicBezTo>
                    <a:pt x="58626" y="438247"/>
                    <a:pt x="0" y="379621"/>
                    <a:pt x="0" y="307303"/>
                  </a:cubicBezTo>
                  <a:lnTo>
                    <a:pt x="0" y="130944"/>
                  </a:lnTo>
                  <a:cubicBezTo>
                    <a:pt x="0" y="58626"/>
                    <a:pt x="58626" y="0"/>
                    <a:pt x="130944" y="0"/>
                  </a:cubicBezTo>
                  <a:close/>
                </a:path>
              </a:pathLst>
            </a:custGeom>
            <a:solidFill>
              <a:srgbClr val="D0EBC8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04775"/>
              <a:ext cx="545012" cy="5430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3269658" y="2984349"/>
            <a:ext cx="1442755" cy="466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8"/>
              </a:lnSpc>
            </a:pPr>
            <a:r>
              <a:rPr lang="en-US" sz="2800">
                <a:solidFill>
                  <a:srgbClr val="5D3700"/>
                </a:solidFill>
                <a:latin typeface="Sniglet"/>
                <a:ea typeface="Sniglet"/>
                <a:cs typeface="Sniglet"/>
                <a:sym typeface="Sniglet"/>
              </a:rPr>
              <a:t>Objetivo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5694616" y="2385211"/>
            <a:ext cx="2556798" cy="1645947"/>
            <a:chOff x="0" y="0"/>
            <a:chExt cx="673395" cy="43350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73395" cy="433501"/>
            </a:xfrm>
            <a:custGeom>
              <a:avLst/>
              <a:gdLst/>
              <a:ahLst/>
              <a:cxnLst/>
              <a:rect r="r" b="b" t="t" l="l"/>
              <a:pathLst>
                <a:path h="433501" w="673395">
                  <a:moveTo>
                    <a:pt x="105979" y="0"/>
                  </a:moveTo>
                  <a:lnTo>
                    <a:pt x="567416" y="0"/>
                  </a:lnTo>
                  <a:cubicBezTo>
                    <a:pt x="625947" y="0"/>
                    <a:pt x="673395" y="47448"/>
                    <a:pt x="673395" y="105979"/>
                  </a:cubicBezTo>
                  <a:lnTo>
                    <a:pt x="673395" y="327521"/>
                  </a:lnTo>
                  <a:cubicBezTo>
                    <a:pt x="673395" y="386052"/>
                    <a:pt x="625947" y="433501"/>
                    <a:pt x="567416" y="433501"/>
                  </a:cubicBezTo>
                  <a:lnTo>
                    <a:pt x="105979" y="433501"/>
                  </a:lnTo>
                  <a:cubicBezTo>
                    <a:pt x="47448" y="433501"/>
                    <a:pt x="0" y="386052"/>
                    <a:pt x="0" y="327521"/>
                  </a:cubicBezTo>
                  <a:lnTo>
                    <a:pt x="0" y="105979"/>
                  </a:lnTo>
                  <a:cubicBezTo>
                    <a:pt x="0" y="47448"/>
                    <a:pt x="47448" y="0"/>
                    <a:pt x="105979" y="0"/>
                  </a:cubicBezTo>
                  <a:close/>
                </a:path>
              </a:pathLst>
            </a:custGeom>
            <a:solidFill>
              <a:srgbClr val="D0EBC8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04775"/>
              <a:ext cx="673395" cy="5382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5976797" y="2997828"/>
            <a:ext cx="1992434" cy="466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8"/>
              </a:lnSpc>
            </a:pPr>
            <a:r>
              <a:rPr lang="en-US" sz="2800">
                <a:solidFill>
                  <a:srgbClr val="5D3700"/>
                </a:solidFill>
                <a:latin typeface="Sniglet"/>
                <a:ea typeface="Sniglet"/>
                <a:cs typeface="Sniglet"/>
                <a:sym typeface="Sniglet"/>
              </a:rPr>
              <a:t>Stakeholder </a:t>
            </a:r>
          </a:p>
        </p:txBody>
      </p:sp>
      <p:sp>
        <p:nvSpPr>
          <p:cNvPr name="AutoShape 22" id="22"/>
          <p:cNvSpPr/>
          <p:nvPr/>
        </p:nvSpPr>
        <p:spPr>
          <a:xfrm>
            <a:off x="8585970" y="3241651"/>
            <a:ext cx="6492240" cy="0"/>
          </a:xfrm>
          <a:prstGeom prst="line">
            <a:avLst/>
          </a:prstGeom>
          <a:ln cap="flat" w="38100">
            <a:solidFill>
              <a:srgbClr val="E5E7EB"/>
            </a:solidFill>
            <a:prstDash val="sysDash"/>
            <a:headEnd type="none" len="sm" w="sm"/>
            <a:tailEnd type="none" len="sm" w="sm"/>
          </a:ln>
        </p:spPr>
      </p:sp>
      <p:grpSp>
        <p:nvGrpSpPr>
          <p:cNvPr name="Group 23" id="23"/>
          <p:cNvGrpSpPr/>
          <p:nvPr/>
        </p:nvGrpSpPr>
        <p:grpSpPr>
          <a:xfrm rot="0">
            <a:off x="8819427" y="2383706"/>
            <a:ext cx="2111942" cy="1645947"/>
            <a:chOff x="0" y="0"/>
            <a:chExt cx="556232" cy="43350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56232" cy="433501"/>
            </a:xfrm>
            <a:custGeom>
              <a:avLst/>
              <a:gdLst/>
              <a:ahLst/>
              <a:cxnLst/>
              <a:rect r="r" b="b" t="t" l="l"/>
              <a:pathLst>
                <a:path h="433501" w="556232">
                  <a:moveTo>
                    <a:pt x="128302" y="0"/>
                  </a:moveTo>
                  <a:lnTo>
                    <a:pt x="427929" y="0"/>
                  </a:lnTo>
                  <a:cubicBezTo>
                    <a:pt x="498789" y="0"/>
                    <a:pt x="556232" y="57443"/>
                    <a:pt x="556232" y="128302"/>
                  </a:cubicBezTo>
                  <a:lnTo>
                    <a:pt x="556232" y="305198"/>
                  </a:lnTo>
                  <a:cubicBezTo>
                    <a:pt x="556232" y="376058"/>
                    <a:pt x="498789" y="433501"/>
                    <a:pt x="427929" y="433501"/>
                  </a:cubicBezTo>
                  <a:lnTo>
                    <a:pt x="128302" y="433501"/>
                  </a:lnTo>
                  <a:cubicBezTo>
                    <a:pt x="57443" y="433501"/>
                    <a:pt x="0" y="376058"/>
                    <a:pt x="0" y="305198"/>
                  </a:cubicBezTo>
                  <a:lnTo>
                    <a:pt x="0" y="128302"/>
                  </a:lnTo>
                  <a:cubicBezTo>
                    <a:pt x="0" y="57443"/>
                    <a:pt x="57443" y="0"/>
                    <a:pt x="128302" y="0"/>
                  </a:cubicBezTo>
                  <a:close/>
                </a:path>
              </a:pathLst>
            </a:custGeom>
            <a:solidFill>
              <a:srgbClr val="D0EBC8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04775"/>
              <a:ext cx="556232" cy="5382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8872076" y="2997828"/>
            <a:ext cx="1756513" cy="466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8"/>
              </a:lnSpc>
            </a:pPr>
            <a:r>
              <a:rPr lang="en-US" sz="2800">
                <a:solidFill>
                  <a:srgbClr val="5D3700"/>
                </a:solidFill>
                <a:latin typeface="Sniglet"/>
                <a:ea typeface="Sniglet"/>
                <a:cs typeface="Sniglet"/>
                <a:sym typeface="Sniglet"/>
              </a:rPr>
              <a:t>ID-EV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1686180" y="2351836"/>
            <a:ext cx="2140297" cy="1654957"/>
            <a:chOff x="0" y="0"/>
            <a:chExt cx="563700" cy="43587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63700" cy="435874"/>
            </a:xfrm>
            <a:custGeom>
              <a:avLst/>
              <a:gdLst/>
              <a:ahLst/>
              <a:cxnLst/>
              <a:rect r="r" b="b" t="t" l="l"/>
              <a:pathLst>
                <a:path h="435874" w="563700">
                  <a:moveTo>
                    <a:pt x="126603" y="0"/>
                  </a:moveTo>
                  <a:lnTo>
                    <a:pt x="437097" y="0"/>
                  </a:lnTo>
                  <a:cubicBezTo>
                    <a:pt x="470674" y="0"/>
                    <a:pt x="502876" y="13338"/>
                    <a:pt x="526619" y="37081"/>
                  </a:cubicBezTo>
                  <a:cubicBezTo>
                    <a:pt x="550361" y="60824"/>
                    <a:pt x="563700" y="93026"/>
                    <a:pt x="563700" y="126603"/>
                  </a:cubicBezTo>
                  <a:lnTo>
                    <a:pt x="563700" y="309271"/>
                  </a:lnTo>
                  <a:cubicBezTo>
                    <a:pt x="563700" y="379192"/>
                    <a:pt x="507018" y="435874"/>
                    <a:pt x="437097" y="435874"/>
                  </a:cubicBezTo>
                  <a:lnTo>
                    <a:pt x="126603" y="435874"/>
                  </a:lnTo>
                  <a:cubicBezTo>
                    <a:pt x="93026" y="435874"/>
                    <a:pt x="60824" y="422535"/>
                    <a:pt x="37081" y="398792"/>
                  </a:cubicBezTo>
                  <a:cubicBezTo>
                    <a:pt x="13338" y="375050"/>
                    <a:pt x="0" y="342848"/>
                    <a:pt x="0" y="309271"/>
                  </a:cubicBezTo>
                  <a:lnTo>
                    <a:pt x="0" y="126603"/>
                  </a:lnTo>
                  <a:cubicBezTo>
                    <a:pt x="0" y="93026"/>
                    <a:pt x="13338" y="60824"/>
                    <a:pt x="37081" y="37081"/>
                  </a:cubicBezTo>
                  <a:cubicBezTo>
                    <a:pt x="60824" y="13338"/>
                    <a:pt x="93026" y="0"/>
                    <a:pt x="126603" y="0"/>
                  </a:cubicBezTo>
                  <a:close/>
                </a:path>
              </a:pathLst>
            </a:custGeom>
            <a:solidFill>
              <a:srgbClr val="D0EBC8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04775"/>
              <a:ext cx="563700" cy="5406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1995686" y="2997828"/>
            <a:ext cx="1677638" cy="466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8"/>
              </a:lnSpc>
            </a:pPr>
            <a:r>
              <a:rPr lang="en-US" sz="2800">
                <a:solidFill>
                  <a:srgbClr val="5D3700"/>
                </a:solidFill>
                <a:latin typeface="Sniglet"/>
                <a:ea typeface="Sniglet"/>
                <a:cs typeface="Sniglet"/>
                <a:sym typeface="Sniglet"/>
              </a:rPr>
              <a:t>Requisito</a:t>
            </a:r>
          </a:p>
        </p:txBody>
      </p:sp>
      <p:sp>
        <p:nvSpPr>
          <p:cNvPr name="AutoShape 31" id="31"/>
          <p:cNvSpPr/>
          <p:nvPr/>
        </p:nvSpPr>
        <p:spPr>
          <a:xfrm>
            <a:off x="8089048" y="5484841"/>
            <a:ext cx="6492240" cy="0"/>
          </a:xfrm>
          <a:prstGeom prst="line">
            <a:avLst/>
          </a:prstGeom>
          <a:ln cap="flat" w="38100">
            <a:solidFill>
              <a:srgbClr val="E5E7EB"/>
            </a:solidFill>
            <a:prstDash val="sysDash"/>
            <a:headEnd type="none" len="sm" w="sm"/>
            <a:tailEnd type="none" len="sm" w="sm"/>
          </a:ln>
        </p:spPr>
      </p:sp>
      <p:grpSp>
        <p:nvGrpSpPr>
          <p:cNvPr name="Group 32" id="32"/>
          <p:cNvGrpSpPr/>
          <p:nvPr/>
        </p:nvGrpSpPr>
        <p:grpSpPr>
          <a:xfrm rot="0">
            <a:off x="14116587" y="4655432"/>
            <a:ext cx="2617204" cy="1676839"/>
            <a:chOff x="0" y="0"/>
            <a:chExt cx="689305" cy="44163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89305" cy="441637"/>
            </a:xfrm>
            <a:custGeom>
              <a:avLst/>
              <a:gdLst/>
              <a:ahLst/>
              <a:cxnLst/>
              <a:rect r="r" b="b" t="t" l="l"/>
              <a:pathLst>
                <a:path h="441637" w="689305">
                  <a:moveTo>
                    <a:pt x="103533" y="0"/>
                  </a:moveTo>
                  <a:lnTo>
                    <a:pt x="585772" y="0"/>
                  </a:lnTo>
                  <a:cubicBezTo>
                    <a:pt x="642952" y="0"/>
                    <a:pt x="689305" y="46353"/>
                    <a:pt x="689305" y="103533"/>
                  </a:cubicBezTo>
                  <a:lnTo>
                    <a:pt x="689305" y="338104"/>
                  </a:lnTo>
                  <a:cubicBezTo>
                    <a:pt x="689305" y="365562"/>
                    <a:pt x="678397" y="391896"/>
                    <a:pt x="658981" y="411313"/>
                  </a:cubicBezTo>
                  <a:cubicBezTo>
                    <a:pt x="639565" y="430729"/>
                    <a:pt x="613230" y="441637"/>
                    <a:pt x="585772" y="441637"/>
                  </a:cubicBezTo>
                  <a:lnTo>
                    <a:pt x="103533" y="441637"/>
                  </a:lnTo>
                  <a:cubicBezTo>
                    <a:pt x="76074" y="441637"/>
                    <a:pt x="49740" y="430729"/>
                    <a:pt x="30324" y="411313"/>
                  </a:cubicBezTo>
                  <a:cubicBezTo>
                    <a:pt x="10908" y="391896"/>
                    <a:pt x="0" y="365562"/>
                    <a:pt x="0" y="338104"/>
                  </a:cubicBezTo>
                  <a:lnTo>
                    <a:pt x="0" y="103533"/>
                  </a:lnTo>
                  <a:cubicBezTo>
                    <a:pt x="0" y="76074"/>
                    <a:pt x="10908" y="49740"/>
                    <a:pt x="30324" y="30324"/>
                  </a:cubicBezTo>
                  <a:cubicBezTo>
                    <a:pt x="49740" y="10908"/>
                    <a:pt x="76074" y="0"/>
                    <a:pt x="103533" y="0"/>
                  </a:cubicBezTo>
                  <a:close/>
                </a:path>
              </a:pathLst>
            </a:custGeom>
            <a:solidFill>
              <a:srgbClr val="D0EBC8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04775"/>
              <a:ext cx="689305" cy="5464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14246560" y="5045019"/>
            <a:ext cx="2357260" cy="943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8"/>
              </a:lnSpc>
            </a:pPr>
            <a:r>
              <a:rPr lang="en-US" sz="2800">
                <a:solidFill>
                  <a:srgbClr val="5D3700"/>
                </a:solidFill>
                <a:latin typeface="Sniglet"/>
                <a:ea typeface="Sniglet"/>
                <a:cs typeface="Sniglet"/>
                <a:sym typeface="Sniglet"/>
              </a:rPr>
              <a:t>Historia de usuario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0725030" y="4655432"/>
            <a:ext cx="2541312" cy="1720603"/>
            <a:chOff x="0" y="0"/>
            <a:chExt cx="669317" cy="453163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69317" cy="453163"/>
            </a:xfrm>
            <a:custGeom>
              <a:avLst/>
              <a:gdLst/>
              <a:ahLst/>
              <a:cxnLst/>
              <a:rect r="r" b="b" t="t" l="l"/>
              <a:pathLst>
                <a:path h="453163" w="669317">
                  <a:moveTo>
                    <a:pt x="106625" y="0"/>
                  </a:moveTo>
                  <a:lnTo>
                    <a:pt x="562692" y="0"/>
                  </a:lnTo>
                  <a:cubicBezTo>
                    <a:pt x="590970" y="0"/>
                    <a:pt x="618091" y="11234"/>
                    <a:pt x="638087" y="31230"/>
                  </a:cubicBezTo>
                  <a:cubicBezTo>
                    <a:pt x="658083" y="51226"/>
                    <a:pt x="669317" y="78346"/>
                    <a:pt x="669317" y="106625"/>
                  </a:cubicBezTo>
                  <a:lnTo>
                    <a:pt x="669317" y="346538"/>
                  </a:lnTo>
                  <a:cubicBezTo>
                    <a:pt x="669317" y="374817"/>
                    <a:pt x="658083" y="401937"/>
                    <a:pt x="638087" y="421933"/>
                  </a:cubicBezTo>
                  <a:cubicBezTo>
                    <a:pt x="618091" y="441929"/>
                    <a:pt x="590970" y="453163"/>
                    <a:pt x="562692" y="453163"/>
                  </a:cubicBezTo>
                  <a:lnTo>
                    <a:pt x="106625" y="453163"/>
                  </a:lnTo>
                  <a:cubicBezTo>
                    <a:pt x="78346" y="453163"/>
                    <a:pt x="51226" y="441929"/>
                    <a:pt x="31230" y="421933"/>
                  </a:cubicBezTo>
                  <a:cubicBezTo>
                    <a:pt x="11234" y="401937"/>
                    <a:pt x="0" y="374817"/>
                    <a:pt x="0" y="346538"/>
                  </a:cubicBezTo>
                  <a:lnTo>
                    <a:pt x="0" y="106625"/>
                  </a:lnTo>
                  <a:cubicBezTo>
                    <a:pt x="0" y="78346"/>
                    <a:pt x="11234" y="51226"/>
                    <a:pt x="31230" y="31230"/>
                  </a:cubicBezTo>
                  <a:cubicBezTo>
                    <a:pt x="51226" y="11234"/>
                    <a:pt x="78346" y="0"/>
                    <a:pt x="106625" y="0"/>
                  </a:cubicBezTo>
                  <a:close/>
                </a:path>
              </a:pathLst>
            </a:custGeom>
            <a:solidFill>
              <a:srgbClr val="D0EBC8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04775"/>
              <a:ext cx="669317" cy="5579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10851233" y="5020306"/>
            <a:ext cx="2288905" cy="943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8"/>
              </a:lnSpc>
            </a:pPr>
            <a:r>
              <a:rPr lang="en-US" sz="2800">
                <a:solidFill>
                  <a:srgbClr val="5D3700"/>
                </a:solidFill>
                <a:latin typeface="Sniglet"/>
                <a:ea typeface="Sniglet"/>
                <a:cs typeface="Sniglet"/>
                <a:sym typeface="Sniglet"/>
              </a:rPr>
              <a:t>Criterio de aceptación</a:t>
            </a:r>
          </a:p>
        </p:txBody>
      </p:sp>
      <p:sp>
        <p:nvSpPr>
          <p:cNvPr name="AutoShape 40" id="40"/>
          <p:cNvSpPr/>
          <p:nvPr/>
        </p:nvSpPr>
        <p:spPr>
          <a:xfrm>
            <a:off x="2905648" y="5534783"/>
            <a:ext cx="6492240" cy="0"/>
          </a:xfrm>
          <a:prstGeom prst="line">
            <a:avLst/>
          </a:prstGeom>
          <a:ln cap="flat" w="38100">
            <a:solidFill>
              <a:srgbClr val="E5E7EB"/>
            </a:solidFill>
            <a:prstDash val="sysDash"/>
            <a:headEnd type="none" len="sm" w="sm"/>
            <a:tailEnd type="none" len="sm" w="sm"/>
          </a:ln>
        </p:spPr>
      </p:sp>
      <p:grpSp>
        <p:nvGrpSpPr>
          <p:cNvPr name="Group 41" id="41"/>
          <p:cNvGrpSpPr/>
          <p:nvPr/>
        </p:nvGrpSpPr>
        <p:grpSpPr>
          <a:xfrm rot="0">
            <a:off x="7320507" y="4624540"/>
            <a:ext cx="2556798" cy="1720603"/>
            <a:chOff x="0" y="0"/>
            <a:chExt cx="673395" cy="453163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73395" cy="453163"/>
            </a:xfrm>
            <a:custGeom>
              <a:avLst/>
              <a:gdLst/>
              <a:ahLst/>
              <a:cxnLst/>
              <a:rect r="r" b="b" t="t" l="l"/>
              <a:pathLst>
                <a:path h="453163" w="673395">
                  <a:moveTo>
                    <a:pt x="105979" y="0"/>
                  </a:moveTo>
                  <a:lnTo>
                    <a:pt x="567416" y="0"/>
                  </a:lnTo>
                  <a:cubicBezTo>
                    <a:pt x="625947" y="0"/>
                    <a:pt x="673395" y="47448"/>
                    <a:pt x="673395" y="105979"/>
                  </a:cubicBezTo>
                  <a:lnTo>
                    <a:pt x="673395" y="347184"/>
                  </a:lnTo>
                  <a:cubicBezTo>
                    <a:pt x="673395" y="375291"/>
                    <a:pt x="662230" y="402247"/>
                    <a:pt x="642355" y="422122"/>
                  </a:cubicBezTo>
                  <a:cubicBezTo>
                    <a:pt x="622480" y="441997"/>
                    <a:pt x="595524" y="453163"/>
                    <a:pt x="567416" y="453163"/>
                  </a:cubicBezTo>
                  <a:lnTo>
                    <a:pt x="105979" y="453163"/>
                  </a:lnTo>
                  <a:cubicBezTo>
                    <a:pt x="47448" y="453163"/>
                    <a:pt x="0" y="405714"/>
                    <a:pt x="0" y="347184"/>
                  </a:cubicBezTo>
                  <a:lnTo>
                    <a:pt x="0" y="105979"/>
                  </a:lnTo>
                  <a:cubicBezTo>
                    <a:pt x="0" y="47448"/>
                    <a:pt x="47448" y="0"/>
                    <a:pt x="105979" y="0"/>
                  </a:cubicBezTo>
                  <a:close/>
                </a:path>
              </a:pathLst>
            </a:custGeom>
            <a:solidFill>
              <a:srgbClr val="D0EBC8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04775"/>
              <a:ext cx="673395" cy="5579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7447480" y="4989414"/>
            <a:ext cx="2302853" cy="943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8"/>
              </a:lnSpc>
            </a:pPr>
            <a:r>
              <a:rPr lang="en-US" sz="2800">
                <a:solidFill>
                  <a:srgbClr val="5D3700"/>
                </a:solidFill>
                <a:latin typeface="Sniglet"/>
                <a:ea typeface="Sniglet"/>
                <a:cs typeface="Sniglet"/>
                <a:sym typeface="Sniglet"/>
              </a:rPr>
              <a:t>Caso de Prueba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4102059" y="4655432"/>
            <a:ext cx="2460565" cy="1658819"/>
            <a:chOff x="0" y="0"/>
            <a:chExt cx="648050" cy="436891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48050" cy="436891"/>
            </a:xfrm>
            <a:custGeom>
              <a:avLst/>
              <a:gdLst/>
              <a:ahLst/>
              <a:cxnLst/>
              <a:rect r="r" b="b" t="t" l="l"/>
              <a:pathLst>
                <a:path h="436891" w="648050">
                  <a:moveTo>
                    <a:pt x="110124" y="0"/>
                  </a:moveTo>
                  <a:lnTo>
                    <a:pt x="537926" y="0"/>
                  </a:lnTo>
                  <a:cubicBezTo>
                    <a:pt x="598746" y="0"/>
                    <a:pt x="648050" y="49304"/>
                    <a:pt x="648050" y="110124"/>
                  </a:cubicBezTo>
                  <a:lnTo>
                    <a:pt x="648050" y="326767"/>
                  </a:lnTo>
                  <a:cubicBezTo>
                    <a:pt x="648050" y="387586"/>
                    <a:pt x="598746" y="436891"/>
                    <a:pt x="537926" y="436891"/>
                  </a:cubicBezTo>
                  <a:lnTo>
                    <a:pt x="110124" y="436891"/>
                  </a:lnTo>
                  <a:cubicBezTo>
                    <a:pt x="49304" y="436891"/>
                    <a:pt x="0" y="387586"/>
                    <a:pt x="0" y="326767"/>
                  </a:cubicBezTo>
                  <a:lnTo>
                    <a:pt x="0" y="110124"/>
                  </a:lnTo>
                  <a:cubicBezTo>
                    <a:pt x="0" y="49304"/>
                    <a:pt x="49304" y="0"/>
                    <a:pt x="110124" y="0"/>
                  </a:cubicBezTo>
                  <a:close/>
                </a:path>
              </a:pathLst>
            </a:custGeom>
            <a:solidFill>
              <a:srgbClr val="D0EBC8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104775"/>
              <a:ext cx="648050" cy="5416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4254635" y="4935469"/>
            <a:ext cx="2155413" cy="943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8"/>
              </a:lnSpc>
            </a:pPr>
            <a:r>
              <a:rPr lang="en-US" sz="2800">
                <a:solidFill>
                  <a:srgbClr val="5D3700"/>
                </a:solidFill>
                <a:latin typeface="Sniglet"/>
                <a:ea typeface="Sniglet"/>
                <a:cs typeface="Sniglet"/>
                <a:sym typeface="Sniglet"/>
              </a:rPr>
              <a:t>ID-Componente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869398" y="4655432"/>
            <a:ext cx="2558936" cy="1658819"/>
            <a:chOff x="0" y="0"/>
            <a:chExt cx="673959" cy="436891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673959" cy="436891"/>
            </a:xfrm>
            <a:custGeom>
              <a:avLst/>
              <a:gdLst/>
              <a:ahLst/>
              <a:cxnLst/>
              <a:rect r="r" b="b" t="t" l="l"/>
              <a:pathLst>
                <a:path h="436891" w="673959">
                  <a:moveTo>
                    <a:pt x="105891" y="0"/>
                  </a:moveTo>
                  <a:lnTo>
                    <a:pt x="568068" y="0"/>
                  </a:lnTo>
                  <a:cubicBezTo>
                    <a:pt x="596152" y="0"/>
                    <a:pt x="623086" y="11156"/>
                    <a:pt x="642944" y="31015"/>
                  </a:cubicBezTo>
                  <a:cubicBezTo>
                    <a:pt x="662802" y="50873"/>
                    <a:pt x="673959" y="77807"/>
                    <a:pt x="673959" y="105891"/>
                  </a:cubicBezTo>
                  <a:lnTo>
                    <a:pt x="673959" y="331000"/>
                  </a:lnTo>
                  <a:cubicBezTo>
                    <a:pt x="673959" y="359084"/>
                    <a:pt x="662802" y="386018"/>
                    <a:pt x="642944" y="405876"/>
                  </a:cubicBezTo>
                  <a:cubicBezTo>
                    <a:pt x="623086" y="425734"/>
                    <a:pt x="596152" y="436891"/>
                    <a:pt x="568068" y="436891"/>
                  </a:cubicBezTo>
                  <a:lnTo>
                    <a:pt x="105891" y="436891"/>
                  </a:lnTo>
                  <a:cubicBezTo>
                    <a:pt x="77807" y="436891"/>
                    <a:pt x="50873" y="425734"/>
                    <a:pt x="31015" y="405876"/>
                  </a:cubicBezTo>
                  <a:cubicBezTo>
                    <a:pt x="11156" y="386018"/>
                    <a:pt x="0" y="359084"/>
                    <a:pt x="0" y="331000"/>
                  </a:cubicBezTo>
                  <a:lnTo>
                    <a:pt x="0" y="105891"/>
                  </a:lnTo>
                  <a:cubicBezTo>
                    <a:pt x="0" y="77807"/>
                    <a:pt x="11156" y="50873"/>
                    <a:pt x="31015" y="31015"/>
                  </a:cubicBezTo>
                  <a:cubicBezTo>
                    <a:pt x="50873" y="11156"/>
                    <a:pt x="77807" y="0"/>
                    <a:pt x="105891" y="0"/>
                  </a:cubicBezTo>
                  <a:close/>
                </a:path>
              </a:pathLst>
            </a:custGeom>
            <a:solidFill>
              <a:srgbClr val="D0EBC8"/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104775"/>
              <a:ext cx="673959" cy="5416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sp>
        <p:nvSpPr>
          <p:cNvPr name="TextBox 52" id="52"/>
          <p:cNvSpPr txBox="true"/>
          <p:nvPr/>
        </p:nvSpPr>
        <p:spPr>
          <a:xfrm rot="0">
            <a:off x="1028074" y="5227539"/>
            <a:ext cx="2241585" cy="466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8"/>
              </a:lnSpc>
            </a:pPr>
            <a:r>
              <a:rPr lang="en-US" sz="2800">
                <a:solidFill>
                  <a:srgbClr val="5D3700"/>
                </a:solidFill>
                <a:latin typeface="Sniglet"/>
                <a:ea typeface="Sniglet"/>
                <a:cs typeface="Sniglet"/>
                <a:sym typeface="Sniglet"/>
              </a:rPr>
              <a:t>ID-Mockup</a:t>
            </a:r>
          </a:p>
        </p:txBody>
      </p:sp>
      <p:sp>
        <p:nvSpPr>
          <p:cNvPr name="Freeform 53" id="53"/>
          <p:cNvSpPr/>
          <p:nvPr/>
        </p:nvSpPr>
        <p:spPr>
          <a:xfrm>
            <a:off x="16752554" y="3206680"/>
            <a:ext cx="1049716" cy="2224216"/>
          </a:xfrm>
          <a:custGeom>
            <a:avLst/>
            <a:gdLst/>
            <a:ahLst/>
            <a:cxnLst/>
            <a:rect r="r" b="b" t="t" l="l"/>
            <a:pathLst>
              <a:path h="2224216" w="1049716">
                <a:moveTo>
                  <a:pt x="0" y="0"/>
                </a:moveTo>
                <a:quadBezTo>
                  <a:pt x="2065520" y="1051143"/>
                  <a:pt x="66727" y="2224216"/>
                </a:quadBezTo>
              </a:path>
            </a:pathLst>
          </a:custGeom>
          <a:ln cap="flat" w="38100">
            <a:solidFill>
              <a:srgbClr val="E5E7EB"/>
            </a:solidFill>
            <a:prstDash val="sysDash"/>
            <a:headEnd type="none" len="sm" w="sm"/>
            <a:tailEnd type="none" len="sm" w="sm"/>
          </a:ln>
        </p:spPr>
      </p:sp>
      <p:grpSp>
        <p:nvGrpSpPr>
          <p:cNvPr name="Group 54" id="54"/>
          <p:cNvGrpSpPr/>
          <p:nvPr/>
        </p:nvGrpSpPr>
        <p:grpSpPr>
          <a:xfrm rot="0">
            <a:off x="768066" y="6886572"/>
            <a:ext cx="16491234" cy="3120005"/>
            <a:chOff x="0" y="0"/>
            <a:chExt cx="21988312" cy="4160007"/>
          </a:xfrm>
        </p:grpSpPr>
        <p:grpSp>
          <p:nvGrpSpPr>
            <p:cNvPr name="Group 55" id="55"/>
            <p:cNvGrpSpPr/>
            <p:nvPr/>
          </p:nvGrpSpPr>
          <p:grpSpPr>
            <a:xfrm rot="0">
              <a:off x="0" y="0"/>
              <a:ext cx="21988312" cy="4160007"/>
              <a:chOff x="0" y="0"/>
              <a:chExt cx="4343370" cy="821730"/>
            </a:xfrm>
          </p:grpSpPr>
          <p:sp>
            <p:nvSpPr>
              <p:cNvPr name="Freeform 56" id="56"/>
              <p:cNvSpPr/>
              <p:nvPr/>
            </p:nvSpPr>
            <p:spPr>
              <a:xfrm flipH="false" flipV="false" rot="0">
                <a:off x="0" y="0"/>
                <a:ext cx="4343370" cy="821730"/>
              </a:xfrm>
              <a:custGeom>
                <a:avLst/>
                <a:gdLst/>
                <a:ahLst/>
                <a:cxnLst/>
                <a:rect r="r" b="b" t="t" l="l"/>
                <a:pathLst>
                  <a:path h="821730" w="4343370">
                    <a:moveTo>
                      <a:pt x="16431" y="0"/>
                    </a:moveTo>
                    <a:lnTo>
                      <a:pt x="4326939" y="0"/>
                    </a:lnTo>
                    <a:cubicBezTo>
                      <a:pt x="4331297" y="0"/>
                      <a:pt x="4335476" y="1731"/>
                      <a:pt x="4338558" y="4813"/>
                    </a:cubicBezTo>
                    <a:cubicBezTo>
                      <a:pt x="4341639" y="7894"/>
                      <a:pt x="4343370" y="12073"/>
                      <a:pt x="4343370" y="16431"/>
                    </a:cubicBezTo>
                    <a:lnTo>
                      <a:pt x="4343370" y="805299"/>
                    </a:lnTo>
                    <a:cubicBezTo>
                      <a:pt x="4343370" y="814373"/>
                      <a:pt x="4336014" y="821730"/>
                      <a:pt x="4326939" y="821730"/>
                    </a:cubicBezTo>
                    <a:lnTo>
                      <a:pt x="16431" y="821730"/>
                    </a:lnTo>
                    <a:cubicBezTo>
                      <a:pt x="7356" y="821730"/>
                      <a:pt x="0" y="814373"/>
                      <a:pt x="0" y="805299"/>
                    </a:cubicBezTo>
                    <a:lnTo>
                      <a:pt x="0" y="16431"/>
                    </a:lnTo>
                    <a:cubicBezTo>
                      <a:pt x="0" y="7356"/>
                      <a:pt x="7356" y="0"/>
                      <a:pt x="16431" y="0"/>
                    </a:cubicBezTo>
                    <a:close/>
                  </a:path>
                </a:pathLst>
              </a:custGeom>
              <a:solidFill>
                <a:srgbClr val="FFF37A"/>
              </a:solidFill>
            </p:spPr>
          </p:sp>
          <p:sp>
            <p:nvSpPr>
              <p:cNvPr name="TextBox 57" id="57"/>
              <p:cNvSpPr txBox="true"/>
              <p:nvPr/>
            </p:nvSpPr>
            <p:spPr>
              <a:xfrm>
                <a:off x="0" y="-104775"/>
                <a:ext cx="4343370" cy="92650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20"/>
                  </a:lnSpc>
                </a:pPr>
              </a:p>
            </p:txBody>
          </p:sp>
        </p:grpSp>
        <p:sp>
          <p:nvSpPr>
            <p:cNvPr name="TextBox 58" id="58"/>
            <p:cNvSpPr txBox="true"/>
            <p:nvPr/>
          </p:nvSpPr>
          <p:spPr>
            <a:xfrm rot="0">
              <a:off x="0" y="1273161"/>
              <a:ext cx="21562188" cy="25117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04521" indent="-302261" lvl="1">
                <a:lnSpc>
                  <a:spcPts val="3808"/>
                </a:lnSpc>
                <a:buFont typeface="Arial"/>
                <a:buChar char="•"/>
              </a:pPr>
              <a:r>
                <a:rPr lang="en-US" sz="2800">
                  <a:solidFill>
                    <a:srgbClr val="5D3700"/>
                  </a:solidFill>
                  <a:latin typeface="Sniglet"/>
                  <a:ea typeface="Sniglet"/>
                  <a:cs typeface="Sniglet"/>
                  <a:sym typeface="Sniglet"/>
                </a:rPr>
                <a:t>61 registros: cada fila une un artículo de la LOPDP o un objetivo con el stakeholder que lo origina y la evidencia de campo que lo respalda (EV-XX). </a:t>
              </a:r>
            </a:p>
            <a:p>
              <a:pPr algn="l" marL="604521" indent="-302261" lvl="1">
                <a:lnSpc>
                  <a:spcPts val="3808"/>
                </a:lnSpc>
                <a:buFont typeface="Arial"/>
                <a:buChar char="•"/>
              </a:pPr>
              <a:r>
                <a:rPr lang="en-US" sz="2800">
                  <a:solidFill>
                    <a:srgbClr val="5D3700"/>
                  </a:solidFill>
                  <a:latin typeface="Sniglet"/>
                  <a:ea typeface="Sniglet"/>
                  <a:cs typeface="Sniglet"/>
                  <a:sym typeface="Sniglet"/>
                </a:rPr>
                <a:t>La cobertura llega hasta caso de uso, historia de usuario, criterio de aceptación, caso de prueba, componente y mockup — ningún requisito queda sin al menos una evidencia primaria.</a:t>
              </a:r>
            </a:p>
          </p:txBody>
        </p:sp>
        <p:sp>
          <p:nvSpPr>
            <p:cNvPr name="TextBox 59" id="59"/>
            <p:cNvSpPr txBox="true"/>
            <p:nvPr/>
          </p:nvSpPr>
          <p:spPr>
            <a:xfrm rot="0">
              <a:off x="596922" y="494617"/>
              <a:ext cx="12267241" cy="5378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30"/>
                </a:lnSpc>
              </a:pPr>
              <a:r>
                <a:rPr lang="en-US" sz="3000" b="true">
                  <a:solidFill>
                    <a:srgbClr val="5D3700"/>
                  </a:solidFill>
                  <a:latin typeface="Balsamiq Sans Bold"/>
                  <a:ea typeface="Balsamiq Sans Bold"/>
                  <a:cs typeface="Balsamiq Sans Bold"/>
                  <a:sym typeface="Balsamiq Sans Bold"/>
                </a:rPr>
                <a:t>61 registros trazados en la matriz extendida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4581288" y="2351836"/>
            <a:ext cx="2237993" cy="1654957"/>
            <a:chOff x="0" y="0"/>
            <a:chExt cx="589430" cy="435874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89430" cy="435874"/>
            </a:xfrm>
            <a:custGeom>
              <a:avLst/>
              <a:gdLst/>
              <a:ahLst/>
              <a:cxnLst/>
              <a:rect r="r" b="b" t="t" l="l"/>
              <a:pathLst>
                <a:path h="435874" w="589430">
                  <a:moveTo>
                    <a:pt x="121076" y="0"/>
                  </a:moveTo>
                  <a:lnTo>
                    <a:pt x="468354" y="0"/>
                  </a:lnTo>
                  <a:cubicBezTo>
                    <a:pt x="500466" y="0"/>
                    <a:pt x="531262" y="12756"/>
                    <a:pt x="553968" y="35462"/>
                  </a:cubicBezTo>
                  <a:cubicBezTo>
                    <a:pt x="576674" y="58168"/>
                    <a:pt x="589430" y="88965"/>
                    <a:pt x="589430" y="121076"/>
                  </a:cubicBezTo>
                  <a:lnTo>
                    <a:pt x="589430" y="314798"/>
                  </a:lnTo>
                  <a:cubicBezTo>
                    <a:pt x="589430" y="346909"/>
                    <a:pt x="576674" y="377705"/>
                    <a:pt x="553968" y="400411"/>
                  </a:cubicBezTo>
                  <a:cubicBezTo>
                    <a:pt x="531262" y="423117"/>
                    <a:pt x="500466" y="435874"/>
                    <a:pt x="468354" y="435874"/>
                  </a:cubicBezTo>
                  <a:lnTo>
                    <a:pt x="121076" y="435874"/>
                  </a:lnTo>
                  <a:cubicBezTo>
                    <a:pt x="88965" y="435874"/>
                    <a:pt x="58168" y="423117"/>
                    <a:pt x="35462" y="400411"/>
                  </a:cubicBezTo>
                  <a:cubicBezTo>
                    <a:pt x="12756" y="377705"/>
                    <a:pt x="0" y="346909"/>
                    <a:pt x="0" y="314798"/>
                  </a:cubicBezTo>
                  <a:lnTo>
                    <a:pt x="0" y="121076"/>
                  </a:lnTo>
                  <a:cubicBezTo>
                    <a:pt x="0" y="88965"/>
                    <a:pt x="12756" y="58168"/>
                    <a:pt x="35462" y="35462"/>
                  </a:cubicBezTo>
                  <a:cubicBezTo>
                    <a:pt x="58168" y="12756"/>
                    <a:pt x="88965" y="0"/>
                    <a:pt x="121076" y="0"/>
                  </a:cubicBezTo>
                  <a:close/>
                </a:path>
              </a:pathLst>
            </a:custGeom>
            <a:solidFill>
              <a:srgbClr val="D0EBC8"/>
            </a:solid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104775"/>
              <a:ext cx="589430" cy="5406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sp>
        <p:nvSpPr>
          <p:cNvPr name="TextBox 63" id="63"/>
          <p:cNvSpPr txBox="true"/>
          <p:nvPr/>
        </p:nvSpPr>
        <p:spPr>
          <a:xfrm rot="0">
            <a:off x="14731712" y="2984349"/>
            <a:ext cx="1924773" cy="466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8"/>
              </a:lnSpc>
            </a:pPr>
            <a:r>
              <a:rPr lang="en-US" sz="2800">
                <a:solidFill>
                  <a:srgbClr val="5D3700"/>
                </a:solidFill>
                <a:latin typeface="Sniglet"/>
                <a:ea typeface="Sniglet"/>
                <a:cs typeface="Sniglet"/>
                <a:sym typeface="Sniglet"/>
              </a:rPr>
              <a:t>Caso de uso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81100" y="802339"/>
            <a:ext cx="2770337" cy="378761"/>
            <a:chOff x="0" y="0"/>
            <a:chExt cx="3693782" cy="50501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58357" cy="505014"/>
            </a:xfrm>
            <a:custGeom>
              <a:avLst/>
              <a:gdLst/>
              <a:ahLst/>
              <a:cxnLst/>
              <a:rect r="r" b="b" t="t" l="l"/>
              <a:pathLst>
                <a:path h="505014" w="658357">
                  <a:moveTo>
                    <a:pt x="0" y="0"/>
                  </a:moveTo>
                  <a:lnTo>
                    <a:pt x="658357" y="0"/>
                  </a:lnTo>
                  <a:lnTo>
                    <a:pt x="658357" y="505014"/>
                  </a:lnTo>
                  <a:lnTo>
                    <a:pt x="0" y="5050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 rot="0">
              <a:off x="930695" y="-57441"/>
              <a:ext cx="2763087" cy="5602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20"/>
                </a:lnSpc>
                <a:spcBef>
                  <a:spcPct val="0"/>
                </a:spcBef>
              </a:pPr>
              <a:r>
                <a:rPr lang="en-US" sz="2300">
                  <a:solidFill>
                    <a:srgbClr val="FFFFFF"/>
                  </a:solidFill>
                  <a:latin typeface="Jua"/>
                  <a:ea typeface="Jua"/>
                  <a:cs typeface="Jua"/>
                  <a:sym typeface="Jua"/>
                </a:rPr>
                <a:t>MundiPets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473771" y="1634378"/>
            <a:ext cx="11832279" cy="2046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34"/>
              </a:lnSpc>
            </a:pPr>
            <a:r>
              <a:rPr lang="en-US" sz="8499" b="true">
                <a:solidFill>
                  <a:srgbClr val="FFFFFF"/>
                </a:solidFill>
                <a:latin typeface="Balsamiq Sans Bold"/>
                <a:ea typeface="Balsamiq Sans Bold"/>
                <a:cs typeface="Balsamiq Sans Bold"/>
                <a:sym typeface="Balsamiq Sans Bold"/>
              </a:rPr>
              <a:t>Priorización: MoSCoW, Kano y WSJF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1964618">
            <a:off x="16668329" y="1354555"/>
            <a:ext cx="1190764" cy="941605"/>
          </a:xfrm>
          <a:custGeom>
            <a:avLst/>
            <a:gdLst/>
            <a:ahLst/>
            <a:cxnLst/>
            <a:rect r="r" b="b" t="t" l="l"/>
            <a:pathLst>
              <a:path h="941605" w="1190764">
                <a:moveTo>
                  <a:pt x="0" y="0"/>
                </a:moveTo>
                <a:lnTo>
                  <a:pt x="1190763" y="0"/>
                </a:lnTo>
                <a:lnTo>
                  <a:pt x="1190763" y="941605"/>
                </a:lnTo>
                <a:lnTo>
                  <a:pt x="0" y="9416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084807">
            <a:off x="15417305" y="542940"/>
            <a:ext cx="1135064" cy="897560"/>
          </a:xfrm>
          <a:custGeom>
            <a:avLst/>
            <a:gdLst/>
            <a:ahLst/>
            <a:cxnLst/>
            <a:rect r="r" b="b" t="t" l="l"/>
            <a:pathLst>
              <a:path h="897560" w="1135064">
                <a:moveTo>
                  <a:pt x="0" y="0"/>
                </a:moveTo>
                <a:lnTo>
                  <a:pt x="1135064" y="0"/>
                </a:lnTo>
                <a:lnTo>
                  <a:pt x="1135064" y="897560"/>
                </a:lnTo>
                <a:lnTo>
                  <a:pt x="0" y="8975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344865" y="3967072"/>
            <a:ext cx="5757778" cy="5195184"/>
            <a:chOff x="0" y="0"/>
            <a:chExt cx="7677037" cy="6926913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7677037" cy="6926913"/>
              <a:chOff x="0" y="0"/>
              <a:chExt cx="1516452" cy="1368279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516452" cy="1368279"/>
              </a:xfrm>
              <a:custGeom>
                <a:avLst/>
                <a:gdLst/>
                <a:ahLst/>
                <a:cxnLst/>
                <a:rect r="r" b="b" t="t" l="l"/>
                <a:pathLst>
                  <a:path h="1368279" w="1516452">
                    <a:moveTo>
                      <a:pt x="47061" y="0"/>
                    </a:moveTo>
                    <a:lnTo>
                      <a:pt x="1469391" y="0"/>
                    </a:lnTo>
                    <a:cubicBezTo>
                      <a:pt x="1481872" y="0"/>
                      <a:pt x="1493842" y="4958"/>
                      <a:pt x="1502668" y="13784"/>
                    </a:cubicBezTo>
                    <a:cubicBezTo>
                      <a:pt x="1511494" y="22610"/>
                      <a:pt x="1516452" y="34580"/>
                      <a:pt x="1516452" y="47061"/>
                    </a:cubicBezTo>
                    <a:lnTo>
                      <a:pt x="1516452" y="1321218"/>
                    </a:lnTo>
                    <a:cubicBezTo>
                      <a:pt x="1516452" y="1333699"/>
                      <a:pt x="1511494" y="1345670"/>
                      <a:pt x="1502668" y="1354495"/>
                    </a:cubicBezTo>
                    <a:cubicBezTo>
                      <a:pt x="1493842" y="1363321"/>
                      <a:pt x="1481872" y="1368279"/>
                      <a:pt x="1469391" y="1368279"/>
                    </a:cubicBezTo>
                    <a:lnTo>
                      <a:pt x="47061" y="1368279"/>
                    </a:lnTo>
                    <a:cubicBezTo>
                      <a:pt x="34580" y="1368279"/>
                      <a:pt x="22610" y="1363321"/>
                      <a:pt x="13784" y="1354495"/>
                    </a:cubicBezTo>
                    <a:cubicBezTo>
                      <a:pt x="4958" y="1345670"/>
                      <a:pt x="0" y="1333699"/>
                      <a:pt x="0" y="1321218"/>
                    </a:cubicBezTo>
                    <a:lnTo>
                      <a:pt x="0" y="47061"/>
                    </a:lnTo>
                    <a:cubicBezTo>
                      <a:pt x="0" y="34580"/>
                      <a:pt x="4958" y="22610"/>
                      <a:pt x="13784" y="13784"/>
                    </a:cubicBezTo>
                    <a:cubicBezTo>
                      <a:pt x="22610" y="4958"/>
                      <a:pt x="34580" y="0"/>
                      <a:pt x="47061" y="0"/>
                    </a:cubicBezTo>
                    <a:close/>
                  </a:path>
                </a:pathLst>
              </a:custGeom>
              <a:solidFill>
                <a:srgbClr val="FEDB9E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104775"/>
                <a:ext cx="1516452" cy="147305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20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0" y="1787316"/>
              <a:ext cx="6854075" cy="44167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604521" indent="-302261" lvl="1">
                <a:lnSpc>
                  <a:spcPts val="3808"/>
                </a:lnSpc>
                <a:buFont typeface="Arial"/>
                <a:buChar char="•"/>
              </a:pPr>
              <a:r>
                <a:rPr lang="en-US" sz="2800">
                  <a:solidFill>
                    <a:srgbClr val="5D3700"/>
                  </a:solidFill>
                  <a:latin typeface="Sniglet"/>
                  <a:ea typeface="Sniglet"/>
                  <a:cs typeface="Sniglet"/>
                  <a:sym typeface="Sniglet"/>
                </a:rPr>
                <a:t>Must: el núcleo del sistema — registro, historial médico, perfil, adopción y evaluación de compatibilidad.</a:t>
              </a:r>
            </a:p>
            <a:p>
              <a:pPr algn="just" marL="604521" indent="-302261" lvl="1">
                <a:lnSpc>
                  <a:spcPts val="3808"/>
                </a:lnSpc>
                <a:buFont typeface="Arial"/>
                <a:buChar char="•"/>
              </a:pPr>
              <a:r>
                <a:rPr lang="en-US" sz="2800">
                  <a:solidFill>
                    <a:srgbClr val="5D3700"/>
                  </a:solidFill>
                  <a:latin typeface="Sniglet"/>
                  <a:ea typeface="Sniglet"/>
                  <a:cs typeface="Sniglet"/>
                  <a:sym typeface="Sniglet"/>
                </a:rPr>
                <a:t>Should/Could: funciones de apoyo, como recordatorios, avisos y filtros avanzados.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2070375" y="749444"/>
              <a:ext cx="3536288" cy="7107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39"/>
                </a:lnSpc>
              </a:pPr>
              <a:r>
                <a:rPr lang="en-US" sz="3999" b="true">
                  <a:solidFill>
                    <a:srgbClr val="5D3700"/>
                  </a:solidFill>
                  <a:latin typeface="Balsamiq Sans Bold"/>
                  <a:ea typeface="Balsamiq Sans Bold"/>
                  <a:cs typeface="Balsamiq Sans Bold"/>
                  <a:sym typeface="Balsamiq Sans Bold"/>
                </a:rPr>
                <a:t>MoSCoW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519353" y="4036578"/>
            <a:ext cx="5109048" cy="5125678"/>
            <a:chOff x="0" y="0"/>
            <a:chExt cx="6812064" cy="6834237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6812064" cy="6834237"/>
              <a:chOff x="0" y="0"/>
              <a:chExt cx="1345593" cy="1349973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345593" cy="1349973"/>
              </a:xfrm>
              <a:custGeom>
                <a:avLst/>
                <a:gdLst/>
                <a:ahLst/>
                <a:cxnLst/>
                <a:rect r="r" b="b" t="t" l="l"/>
                <a:pathLst>
                  <a:path h="1349973" w="1345593">
                    <a:moveTo>
                      <a:pt x="53037" y="0"/>
                    </a:moveTo>
                    <a:lnTo>
                      <a:pt x="1292556" y="0"/>
                    </a:lnTo>
                    <a:cubicBezTo>
                      <a:pt x="1306622" y="0"/>
                      <a:pt x="1320113" y="5588"/>
                      <a:pt x="1330059" y="15534"/>
                    </a:cubicBezTo>
                    <a:cubicBezTo>
                      <a:pt x="1340005" y="25480"/>
                      <a:pt x="1345593" y="38971"/>
                      <a:pt x="1345593" y="53037"/>
                    </a:cubicBezTo>
                    <a:lnTo>
                      <a:pt x="1345593" y="1296936"/>
                    </a:lnTo>
                    <a:cubicBezTo>
                      <a:pt x="1345593" y="1311002"/>
                      <a:pt x="1340005" y="1324492"/>
                      <a:pt x="1330059" y="1334439"/>
                    </a:cubicBezTo>
                    <a:cubicBezTo>
                      <a:pt x="1320113" y="1344385"/>
                      <a:pt x="1306622" y="1349973"/>
                      <a:pt x="1292556" y="1349973"/>
                    </a:cubicBezTo>
                    <a:lnTo>
                      <a:pt x="53037" y="1349973"/>
                    </a:lnTo>
                    <a:cubicBezTo>
                      <a:pt x="38971" y="1349973"/>
                      <a:pt x="25480" y="1344385"/>
                      <a:pt x="15534" y="1334439"/>
                    </a:cubicBezTo>
                    <a:cubicBezTo>
                      <a:pt x="5588" y="1324492"/>
                      <a:pt x="0" y="1311002"/>
                      <a:pt x="0" y="1296936"/>
                    </a:cubicBezTo>
                    <a:lnTo>
                      <a:pt x="0" y="53037"/>
                    </a:lnTo>
                    <a:cubicBezTo>
                      <a:pt x="0" y="38971"/>
                      <a:pt x="5588" y="25480"/>
                      <a:pt x="15534" y="15534"/>
                    </a:cubicBezTo>
                    <a:cubicBezTo>
                      <a:pt x="25480" y="5588"/>
                      <a:pt x="38971" y="0"/>
                      <a:pt x="53037" y="0"/>
                    </a:cubicBezTo>
                    <a:close/>
                  </a:path>
                </a:pathLst>
              </a:custGeom>
              <a:solidFill>
                <a:srgbClr val="A2D6FF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104775"/>
                <a:ext cx="1345593" cy="145474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20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548044" y="2652289"/>
              <a:ext cx="5715977" cy="25117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08"/>
                </a:lnSpc>
              </a:pPr>
              <a:r>
                <a:rPr lang="en-US" sz="2800">
                  <a:solidFill>
                    <a:srgbClr val="5D3700"/>
                  </a:solidFill>
                  <a:latin typeface="Sniglet"/>
                  <a:ea typeface="Sniglet"/>
                  <a:cs typeface="Sniglet"/>
                  <a:sym typeface="Sniglet"/>
                </a:rPr>
                <a:t>Aproximación de un solo factor (importancia declarada, cuestionario v2.0)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2586347" y="1284904"/>
              <a:ext cx="1639369" cy="7107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39"/>
                </a:lnSpc>
              </a:pPr>
              <a:r>
                <a:rPr lang="en-US" sz="3999" b="true">
                  <a:solidFill>
                    <a:srgbClr val="5D3700"/>
                  </a:solidFill>
                  <a:latin typeface="Balsamiq Sans Bold"/>
                  <a:ea typeface="Balsamiq Sans Bold"/>
                  <a:cs typeface="Balsamiq Sans Bold"/>
                  <a:sym typeface="Balsamiq Sans Bold"/>
                </a:rPr>
                <a:t>Kano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045112" y="3909908"/>
            <a:ext cx="5974021" cy="5332681"/>
            <a:chOff x="0" y="0"/>
            <a:chExt cx="7965362" cy="7110242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7965362" cy="7110242"/>
              <a:chOff x="0" y="0"/>
              <a:chExt cx="1573405" cy="1404492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573405" cy="1404492"/>
              </a:xfrm>
              <a:custGeom>
                <a:avLst/>
                <a:gdLst/>
                <a:ahLst/>
                <a:cxnLst/>
                <a:rect r="r" b="b" t="t" l="l"/>
                <a:pathLst>
                  <a:path h="1404492" w="1573405">
                    <a:moveTo>
                      <a:pt x="45358" y="0"/>
                    </a:moveTo>
                    <a:lnTo>
                      <a:pt x="1528047" y="0"/>
                    </a:lnTo>
                    <a:cubicBezTo>
                      <a:pt x="1540077" y="0"/>
                      <a:pt x="1551614" y="4779"/>
                      <a:pt x="1560120" y="13285"/>
                    </a:cubicBezTo>
                    <a:cubicBezTo>
                      <a:pt x="1568626" y="21791"/>
                      <a:pt x="1573405" y="33328"/>
                      <a:pt x="1573405" y="45358"/>
                    </a:cubicBezTo>
                    <a:lnTo>
                      <a:pt x="1573405" y="1359135"/>
                    </a:lnTo>
                    <a:cubicBezTo>
                      <a:pt x="1573405" y="1384185"/>
                      <a:pt x="1553097" y="1404492"/>
                      <a:pt x="1528047" y="1404492"/>
                    </a:cubicBezTo>
                    <a:lnTo>
                      <a:pt x="45358" y="1404492"/>
                    </a:lnTo>
                    <a:cubicBezTo>
                      <a:pt x="33328" y="1404492"/>
                      <a:pt x="21791" y="1399713"/>
                      <a:pt x="13285" y="1391207"/>
                    </a:cubicBezTo>
                    <a:cubicBezTo>
                      <a:pt x="4779" y="1382701"/>
                      <a:pt x="0" y="1371164"/>
                      <a:pt x="0" y="1359135"/>
                    </a:cubicBezTo>
                    <a:lnTo>
                      <a:pt x="0" y="45358"/>
                    </a:lnTo>
                    <a:cubicBezTo>
                      <a:pt x="0" y="20307"/>
                      <a:pt x="20307" y="0"/>
                      <a:pt x="45358" y="0"/>
                    </a:cubicBezTo>
                    <a:close/>
                  </a:path>
                </a:pathLst>
              </a:custGeom>
              <a:solidFill>
                <a:srgbClr val="FEDB9E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104775"/>
                <a:ext cx="1573405" cy="150926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20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0" y="1742108"/>
              <a:ext cx="7677037" cy="50517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604521" indent="-302261" lvl="1">
                <a:lnSpc>
                  <a:spcPts val="3808"/>
                </a:lnSpc>
                <a:buFont typeface="Arial"/>
                <a:buChar char="•"/>
              </a:pPr>
              <a:r>
                <a:rPr lang="en-US" sz="2800">
                  <a:solidFill>
                    <a:srgbClr val="5D3700"/>
                  </a:solidFill>
                  <a:latin typeface="Sniglet"/>
                  <a:ea typeface="Sniglet"/>
                  <a:cs typeface="Sniglet"/>
                  <a:sym typeface="Sniglet"/>
                </a:rPr>
                <a:t>El valor de negocio se calcula por requisito para priorizar el backlog.</a:t>
              </a:r>
            </a:p>
            <a:p>
              <a:pPr algn="just" marL="604521" indent="-302261" lvl="1">
                <a:lnSpc>
                  <a:spcPts val="3808"/>
                </a:lnSpc>
                <a:buFont typeface="Arial"/>
                <a:buChar char="•"/>
              </a:pPr>
              <a:r>
                <a:rPr lang="en-US" sz="2800">
                  <a:solidFill>
                    <a:srgbClr val="5D3700"/>
                  </a:solidFill>
                  <a:latin typeface="Sniglet"/>
                  <a:ea typeface="Sniglet"/>
                  <a:cs typeface="Sniglet"/>
                  <a:sym typeface="Sniglet"/>
                </a:rPr>
                <a:t>RF-01 (registrar mascota) y RF-03 (consultar perfil) tienen los puntajes más altos: son la base de la que dependen los demás procesos.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2910131" y="790633"/>
              <a:ext cx="2145099" cy="7107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39"/>
                </a:lnSpc>
              </a:pPr>
              <a:r>
                <a:rPr lang="en-US" sz="3999" b="true">
                  <a:solidFill>
                    <a:srgbClr val="5D3700"/>
                  </a:solidFill>
                  <a:latin typeface="Balsamiq Sans Bold"/>
                  <a:ea typeface="Balsamiq Sans Bold"/>
                  <a:cs typeface="Balsamiq Sans Bold"/>
                  <a:sym typeface="Balsamiq Sans Bold"/>
                </a:rPr>
                <a:t>WSJF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983271">
            <a:off x="-2243563" y="7596006"/>
            <a:ext cx="3951963" cy="3324589"/>
          </a:xfrm>
          <a:custGeom>
            <a:avLst/>
            <a:gdLst/>
            <a:ahLst/>
            <a:cxnLst/>
            <a:rect r="r" b="b" t="t" l="l"/>
            <a:pathLst>
              <a:path h="3324589" w="3951963">
                <a:moveTo>
                  <a:pt x="0" y="0"/>
                </a:moveTo>
                <a:lnTo>
                  <a:pt x="3951963" y="0"/>
                </a:lnTo>
                <a:lnTo>
                  <a:pt x="3951963" y="3324588"/>
                </a:lnTo>
                <a:lnTo>
                  <a:pt x="0" y="33245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4083474">
            <a:off x="16312019" y="3892142"/>
            <a:ext cx="3951963" cy="3324589"/>
          </a:xfrm>
          <a:custGeom>
            <a:avLst/>
            <a:gdLst/>
            <a:ahLst/>
            <a:cxnLst/>
            <a:rect r="r" b="b" t="t" l="l"/>
            <a:pathLst>
              <a:path h="3324589" w="3951963">
                <a:moveTo>
                  <a:pt x="0" y="0"/>
                </a:moveTo>
                <a:lnTo>
                  <a:pt x="3951962" y="0"/>
                </a:lnTo>
                <a:lnTo>
                  <a:pt x="3951962" y="3324589"/>
                </a:lnTo>
                <a:lnTo>
                  <a:pt x="0" y="33245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657997" y="468617"/>
            <a:ext cx="2770337" cy="378761"/>
            <a:chOff x="0" y="0"/>
            <a:chExt cx="3693782" cy="50501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58357" cy="505014"/>
            </a:xfrm>
            <a:custGeom>
              <a:avLst/>
              <a:gdLst/>
              <a:ahLst/>
              <a:cxnLst/>
              <a:rect r="r" b="b" t="t" l="l"/>
              <a:pathLst>
                <a:path h="505014" w="658357">
                  <a:moveTo>
                    <a:pt x="0" y="0"/>
                  </a:moveTo>
                  <a:lnTo>
                    <a:pt x="658357" y="0"/>
                  </a:lnTo>
                  <a:lnTo>
                    <a:pt x="658357" y="505014"/>
                  </a:lnTo>
                  <a:lnTo>
                    <a:pt x="0" y="5050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930695" y="-57441"/>
              <a:ext cx="2763087" cy="5602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20"/>
                </a:lnSpc>
                <a:spcBef>
                  <a:spcPct val="0"/>
                </a:spcBef>
              </a:pPr>
              <a:r>
                <a:rPr lang="en-US" sz="2300">
                  <a:solidFill>
                    <a:srgbClr val="FFFFFF"/>
                  </a:solidFill>
                  <a:latin typeface="Jua"/>
                  <a:ea typeface="Jua"/>
                  <a:cs typeface="Jua"/>
                  <a:sym typeface="Jua"/>
                </a:rPr>
                <a:t>MundiPets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57997" y="3529416"/>
            <a:ext cx="5139022" cy="5220654"/>
            <a:chOff x="0" y="0"/>
            <a:chExt cx="1353487" cy="137498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53487" cy="1374987"/>
            </a:xfrm>
            <a:custGeom>
              <a:avLst/>
              <a:gdLst/>
              <a:ahLst/>
              <a:cxnLst/>
              <a:rect r="r" b="b" t="t" l="l"/>
              <a:pathLst>
                <a:path h="1374987" w="1353487">
                  <a:moveTo>
                    <a:pt x="52727" y="0"/>
                  </a:moveTo>
                  <a:lnTo>
                    <a:pt x="1300760" y="0"/>
                  </a:lnTo>
                  <a:cubicBezTo>
                    <a:pt x="1314744" y="0"/>
                    <a:pt x="1328156" y="5555"/>
                    <a:pt x="1338044" y="15443"/>
                  </a:cubicBezTo>
                  <a:cubicBezTo>
                    <a:pt x="1347932" y="25332"/>
                    <a:pt x="1353487" y="38743"/>
                    <a:pt x="1353487" y="52727"/>
                  </a:cubicBezTo>
                  <a:lnTo>
                    <a:pt x="1353487" y="1322260"/>
                  </a:lnTo>
                  <a:cubicBezTo>
                    <a:pt x="1353487" y="1336244"/>
                    <a:pt x="1347932" y="1349655"/>
                    <a:pt x="1338044" y="1359544"/>
                  </a:cubicBezTo>
                  <a:cubicBezTo>
                    <a:pt x="1328156" y="1369432"/>
                    <a:pt x="1314744" y="1374987"/>
                    <a:pt x="1300760" y="1374987"/>
                  </a:cubicBezTo>
                  <a:lnTo>
                    <a:pt x="52727" y="1374987"/>
                  </a:lnTo>
                  <a:cubicBezTo>
                    <a:pt x="38743" y="1374987"/>
                    <a:pt x="25332" y="1369432"/>
                    <a:pt x="15443" y="1359544"/>
                  </a:cubicBezTo>
                  <a:cubicBezTo>
                    <a:pt x="5555" y="1349655"/>
                    <a:pt x="0" y="1336244"/>
                    <a:pt x="0" y="1322260"/>
                  </a:cubicBezTo>
                  <a:lnTo>
                    <a:pt x="0" y="52727"/>
                  </a:lnTo>
                  <a:cubicBezTo>
                    <a:pt x="0" y="38743"/>
                    <a:pt x="5555" y="25332"/>
                    <a:pt x="15443" y="15443"/>
                  </a:cubicBezTo>
                  <a:cubicBezTo>
                    <a:pt x="25332" y="5555"/>
                    <a:pt x="38743" y="0"/>
                    <a:pt x="52727" y="0"/>
                  </a:cubicBezTo>
                  <a:close/>
                </a:path>
              </a:pathLst>
            </a:custGeom>
            <a:solidFill>
              <a:srgbClr val="A2D6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04775"/>
              <a:ext cx="1353487" cy="14797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986210" y="3904973"/>
            <a:ext cx="1147119" cy="1147119"/>
          </a:xfrm>
          <a:custGeom>
            <a:avLst/>
            <a:gdLst/>
            <a:ahLst/>
            <a:cxnLst/>
            <a:rect r="r" b="b" t="t" l="l"/>
            <a:pathLst>
              <a:path h="1147119" w="1147119">
                <a:moveTo>
                  <a:pt x="0" y="0"/>
                </a:moveTo>
                <a:lnTo>
                  <a:pt x="1147119" y="0"/>
                </a:lnTo>
                <a:lnTo>
                  <a:pt x="1147119" y="1147118"/>
                </a:lnTo>
                <a:lnTo>
                  <a:pt x="0" y="114711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95208" y="5584307"/>
            <a:ext cx="4264600" cy="2558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0"/>
              </a:lnSpc>
            </a:pPr>
            <a:r>
              <a:rPr lang="en-US" sz="3000">
                <a:solidFill>
                  <a:srgbClr val="0D3889"/>
                </a:solidFill>
                <a:latin typeface="Sniglet"/>
                <a:ea typeface="Sniglet"/>
                <a:cs typeface="Sniglet"/>
                <a:sym typeface="Sniglet"/>
              </a:rPr>
              <a:t>Evalúa si dos mascotas son compatibles para cruza y entrega un veredicto en tres niveles con explicación (RNF-13).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318680" y="4777771"/>
            <a:ext cx="3183384" cy="501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0"/>
              </a:lnSpc>
            </a:pPr>
            <a:r>
              <a:rPr lang="en-US" sz="3000">
                <a:solidFill>
                  <a:srgbClr val="5D3700"/>
                </a:solidFill>
                <a:latin typeface="Sniglet"/>
                <a:ea typeface="Sniglet"/>
                <a:cs typeface="Sniglet"/>
                <a:sym typeface="Sniglet"/>
              </a:rPr>
              <a:t>vinculado a RF-06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295268" y="4235043"/>
            <a:ext cx="1514387" cy="433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5"/>
              </a:lnSpc>
            </a:pPr>
            <a:r>
              <a:rPr lang="en-US" sz="3500" b="true">
                <a:solidFill>
                  <a:srgbClr val="0D3889"/>
                </a:solidFill>
                <a:latin typeface="Balsamiq Sans Bold"/>
                <a:ea typeface="Balsamiq Sans Bold"/>
                <a:cs typeface="Balsamiq Sans Bold"/>
                <a:sym typeface="Balsamiq Sans Bold"/>
              </a:rPr>
              <a:t>IA-01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582000" y="3529416"/>
            <a:ext cx="5139022" cy="5220654"/>
            <a:chOff x="0" y="0"/>
            <a:chExt cx="1353487" cy="137498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53487" cy="1374987"/>
            </a:xfrm>
            <a:custGeom>
              <a:avLst/>
              <a:gdLst/>
              <a:ahLst/>
              <a:cxnLst/>
              <a:rect r="r" b="b" t="t" l="l"/>
              <a:pathLst>
                <a:path h="1374987" w="1353487">
                  <a:moveTo>
                    <a:pt x="52727" y="0"/>
                  </a:moveTo>
                  <a:lnTo>
                    <a:pt x="1300760" y="0"/>
                  </a:lnTo>
                  <a:cubicBezTo>
                    <a:pt x="1314744" y="0"/>
                    <a:pt x="1328156" y="5555"/>
                    <a:pt x="1338044" y="15443"/>
                  </a:cubicBezTo>
                  <a:cubicBezTo>
                    <a:pt x="1347932" y="25332"/>
                    <a:pt x="1353487" y="38743"/>
                    <a:pt x="1353487" y="52727"/>
                  </a:cubicBezTo>
                  <a:lnTo>
                    <a:pt x="1353487" y="1322260"/>
                  </a:lnTo>
                  <a:cubicBezTo>
                    <a:pt x="1353487" y="1336244"/>
                    <a:pt x="1347932" y="1349655"/>
                    <a:pt x="1338044" y="1359544"/>
                  </a:cubicBezTo>
                  <a:cubicBezTo>
                    <a:pt x="1328156" y="1369432"/>
                    <a:pt x="1314744" y="1374987"/>
                    <a:pt x="1300760" y="1374987"/>
                  </a:cubicBezTo>
                  <a:lnTo>
                    <a:pt x="52727" y="1374987"/>
                  </a:lnTo>
                  <a:cubicBezTo>
                    <a:pt x="38743" y="1374987"/>
                    <a:pt x="25332" y="1369432"/>
                    <a:pt x="15443" y="1359544"/>
                  </a:cubicBezTo>
                  <a:cubicBezTo>
                    <a:pt x="5555" y="1349655"/>
                    <a:pt x="0" y="1336244"/>
                    <a:pt x="0" y="1322260"/>
                  </a:cubicBezTo>
                  <a:lnTo>
                    <a:pt x="0" y="52727"/>
                  </a:lnTo>
                  <a:cubicBezTo>
                    <a:pt x="0" y="38743"/>
                    <a:pt x="5555" y="25332"/>
                    <a:pt x="15443" y="15443"/>
                  </a:cubicBezTo>
                  <a:cubicBezTo>
                    <a:pt x="25332" y="5555"/>
                    <a:pt x="38743" y="0"/>
                    <a:pt x="52727" y="0"/>
                  </a:cubicBezTo>
                  <a:close/>
                </a:path>
              </a:pathLst>
            </a:custGeom>
            <a:solidFill>
              <a:srgbClr val="A2D6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04775"/>
              <a:ext cx="1353487" cy="14797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7019211" y="5585946"/>
            <a:ext cx="4264600" cy="2558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0"/>
              </a:lnSpc>
            </a:pPr>
            <a:r>
              <a:rPr lang="en-US" sz="3000">
                <a:solidFill>
                  <a:srgbClr val="0D3889"/>
                </a:solidFill>
                <a:latin typeface="Sniglet"/>
                <a:ea typeface="Sniglet"/>
                <a:cs typeface="Sniglet"/>
                <a:sym typeface="Sniglet"/>
              </a:rPr>
              <a:t>Valida que las imágenes de perfil sean reales y de calidad adecuada, con explicación del rechazo o aceptación (RNF-14).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242683" y="4779410"/>
            <a:ext cx="3183384" cy="501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0"/>
              </a:lnSpc>
            </a:pPr>
            <a:r>
              <a:rPr lang="en-US" sz="3000">
                <a:solidFill>
                  <a:srgbClr val="5D3700"/>
                </a:solidFill>
                <a:latin typeface="Sniglet"/>
                <a:ea typeface="Sniglet"/>
                <a:cs typeface="Sniglet"/>
                <a:sym typeface="Sniglet"/>
              </a:rPr>
              <a:t>vinculado a RF-17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281183" y="4235043"/>
            <a:ext cx="1514387" cy="433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5"/>
              </a:lnSpc>
            </a:pPr>
            <a:r>
              <a:rPr lang="en-US" sz="3500" b="true">
                <a:solidFill>
                  <a:srgbClr val="0D3889"/>
                </a:solidFill>
                <a:latin typeface="Balsamiq Sans Bold"/>
                <a:ea typeface="Balsamiq Sans Bold"/>
                <a:cs typeface="Balsamiq Sans Bold"/>
                <a:sym typeface="Balsamiq Sans Bold"/>
              </a:rPr>
              <a:t>IA-02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6914007" y="4091033"/>
            <a:ext cx="1155431" cy="1155431"/>
          </a:xfrm>
          <a:custGeom>
            <a:avLst/>
            <a:gdLst/>
            <a:ahLst/>
            <a:cxnLst/>
            <a:rect r="r" b="b" t="t" l="l"/>
            <a:pathLst>
              <a:path h="1155431" w="1155431">
                <a:moveTo>
                  <a:pt x="0" y="0"/>
                </a:moveTo>
                <a:lnTo>
                  <a:pt x="1155432" y="0"/>
                </a:lnTo>
                <a:lnTo>
                  <a:pt x="1155432" y="1155431"/>
                </a:lnTo>
                <a:lnTo>
                  <a:pt x="0" y="115543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12120278" y="3529416"/>
            <a:ext cx="5139022" cy="5220654"/>
            <a:chOff x="0" y="0"/>
            <a:chExt cx="1353487" cy="137498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353487" cy="1374987"/>
            </a:xfrm>
            <a:custGeom>
              <a:avLst/>
              <a:gdLst/>
              <a:ahLst/>
              <a:cxnLst/>
              <a:rect r="r" b="b" t="t" l="l"/>
              <a:pathLst>
                <a:path h="1374987" w="1353487">
                  <a:moveTo>
                    <a:pt x="52727" y="0"/>
                  </a:moveTo>
                  <a:lnTo>
                    <a:pt x="1300760" y="0"/>
                  </a:lnTo>
                  <a:cubicBezTo>
                    <a:pt x="1314744" y="0"/>
                    <a:pt x="1328156" y="5555"/>
                    <a:pt x="1338044" y="15443"/>
                  </a:cubicBezTo>
                  <a:cubicBezTo>
                    <a:pt x="1347932" y="25332"/>
                    <a:pt x="1353487" y="38743"/>
                    <a:pt x="1353487" y="52727"/>
                  </a:cubicBezTo>
                  <a:lnTo>
                    <a:pt x="1353487" y="1322260"/>
                  </a:lnTo>
                  <a:cubicBezTo>
                    <a:pt x="1353487" y="1336244"/>
                    <a:pt x="1347932" y="1349655"/>
                    <a:pt x="1338044" y="1359544"/>
                  </a:cubicBezTo>
                  <a:cubicBezTo>
                    <a:pt x="1328156" y="1369432"/>
                    <a:pt x="1314744" y="1374987"/>
                    <a:pt x="1300760" y="1374987"/>
                  </a:cubicBezTo>
                  <a:lnTo>
                    <a:pt x="52727" y="1374987"/>
                  </a:lnTo>
                  <a:cubicBezTo>
                    <a:pt x="38743" y="1374987"/>
                    <a:pt x="25332" y="1369432"/>
                    <a:pt x="15443" y="1359544"/>
                  </a:cubicBezTo>
                  <a:cubicBezTo>
                    <a:pt x="5555" y="1349655"/>
                    <a:pt x="0" y="1336244"/>
                    <a:pt x="0" y="1322260"/>
                  </a:cubicBezTo>
                  <a:lnTo>
                    <a:pt x="0" y="52727"/>
                  </a:lnTo>
                  <a:cubicBezTo>
                    <a:pt x="0" y="38743"/>
                    <a:pt x="5555" y="25332"/>
                    <a:pt x="15443" y="15443"/>
                  </a:cubicBezTo>
                  <a:cubicBezTo>
                    <a:pt x="25332" y="5555"/>
                    <a:pt x="38743" y="0"/>
                    <a:pt x="52727" y="0"/>
                  </a:cubicBezTo>
                  <a:close/>
                </a:path>
              </a:pathLst>
            </a:custGeom>
            <a:solidFill>
              <a:srgbClr val="A2D6FF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04775"/>
              <a:ext cx="1353487" cy="14797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2557489" y="5584307"/>
            <a:ext cx="4264600" cy="2558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0"/>
              </a:lnSpc>
            </a:pPr>
            <a:r>
              <a:rPr lang="en-US" sz="3000">
                <a:solidFill>
                  <a:srgbClr val="0D3889"/>
                </a:solidFill>
                <a:latin typeface="Sniglet"/>
                <a:ea typeface="Sniglet"/>
                <a:cs typeface="Sniglet"/>
                <a:sym typeface="Sniglet"/>
              </a:rPr>
              <a:t>Modera los mensajes entre usuarios, con explicabilidad de las decisiones de moderación (RNF-15).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780961" y="4777771"/>
            <a:ext cx="3183384" cy="501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0"/>
              </a:lnSpc>
            </a:pPr>
            <a:r>
              <a:rPr lang="en-US" sz="3000">
                <a:solidFill>
                  <a:srgbClr val="5D3700"/>
                </a:solidFill>
                <a:latin typeface="Sniglet"/>
                <a:ea typeface="Sniglet"/>
                <a:cs typeface="Sniglet"/>
                <a:sym typeface="Sniglet"/>
              </a:rPr>
              <a:t>vinculado a RF-07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819461" y="4233404"/>
            <a:ext cx="1514387" cy="433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5"/>
              </a:lnSpc>
            </a:pPr>
            <a:r>
              <a:rPr lang="en-US" sz="3500" b="true">
                <a:solidFill>
                  <a:srgbClr val="0D3889"/>
                </a:solidFill>
                <a:latin typeface="Balsamiq Sans Bold"/>
                <a:ea typeface="Balsamiq Sans Bold"/>
                <a:cs typeface="Balsamiq Sans Bold"/>
                <a:sym typeface="Balsamiq Sans Bold"/>
              </a:rPr>
              <a:t>IA-03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12445737" y="4088734"/>
            <a:ext cx="1160028" cy="1160028"/>
          </a:xfrm>
          <a:custGeom>
            <a:avLst/>
            <a:gdLst/>
            <a:ahLst/>
            <a:cxnLst/>
            <a:rect r="r" b="b" t="t" l="l"/>
            <a:pathLst>
              <a:path h="1160028" w="1160028">
                <a:moveTo>
                  <a:pt x="0" y="0"/>
                </a:moveTo>
                <a:lnTo>
                  <a:pt x="1160027" y="0"/>
                </a:lnTo>
                <a:lnTo>
                  <a:pt x="1160027" y="1160028"/>
                </a:lnTo>
                <a:lnTo>
                  <a:pt x="0" y="116002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-340153" y="1766935"/>
            <a:ext cx="18968306" cy="942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25"/>
              </a:lnSpc>
            </a:pPr>
            <a:r>
              <a:rPr lang="en-US" sz="7500" b="true">
                <a:solidFill>
                  <a:srgbClr val="0D3889"/>
                </a:solidFill>
                <a:latin typeface="Balsamiq Sans Bold"/>
                <a:ea typeface="Balsamiq Sans Bold"/>
                <a:cs typeface="Balsamiq Sans Bold"/>
                <a:sym typeface="Balsamiq Sans Bold"/>
              </a:rPr>
              <a:t>Componentes de inteligencia artificial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02740" y="1238929"/>
            <a:ext cx="2629958" cy="2128868"/>
            <a:chOff x="0" y="0"/>
            <a:chExt cx="3506610" cy="2838491"/>
          </a:xfrm>
        </p:grpSpPr>
        <p:sp>
          <p:nvSpPr>
            <p:cNvPr name="Freeform 4" id="4"/>
            <p:cNvSpPr/>
            <p:nvPr/>
          </p:nvSpPr>
          <p:spPr>
            <a:xfrm flipH="false" flipV="false" rot="1490239">
              <a:off x="163379" y="1150111"/>
              <a:ext cx="2253202" cy="1274083"/>
            </a:xfrm>
            <a:custGeom>
              <a:avLst/>
              <a:gdLst/>
              <a:ahLst/>
              <a:cxnLst/>
              <a:rect r="r" b="b" t="t" l="l"/>
              <a:pathLst>
                <a:path h="1274083" w="2253202">
                  <a:moveTo>
                    <a:pt x="0" y="0"/>
                  </a:moveTo>
                  <a:lnTo>
                    <a:pt x="2253202" y="0"/>
                  </a:lnTo>
                  <a:lnTo>
                    <a:pt x="2253202" y="1274083"/>
                  </a:lnTo>
                  <a:lnTo>
                    <a:pt x="0" y="12740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1388864">
              <a:off x="550046" y="493858"/>
              <a:ext cx="2796589" cy="1386642"/>
            </a:xfrm>
            <a:custGeom>
              <a:avLst/>
              <a:gdLst/>
              <a:ahLst/>
              <a:cxnLst/>
              <a:rect r="r" b="b" t="t" l="l"/>
              <a:pathLst>
                <a:path h="1386642" w="2796589">
                  <a:moveTo>
                    <a:pt x="0" y="0"/>
                  </a:moveTo>
                  <a:lnTo>
                    <a:pt x="2796588" y="0"/>
                  </a:lnTo>
                  <a:lnTo>
                    <a:pt x="2796588" y="1386642"/>
                  </a:lnTo>
                  <a:lnTo>
                    <a:pt x="0" y="13866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5843991" y="958694"/>
            <a:ext cx="2538109" cy="2409104"/>
            <a:chOff x="0" y="0"/>
            <a:chExt cx="3384145" cy="3212138"/>
          </a:xfrm>
        </p:grpSpPr>
        <p:sp>
          <p:nvSpPr>
            <p:cNvPr name="Freeform 7" id="7"/>
            <p:cNvSpPr/>
            <p:nvPr/>
          </p:nvSpPr>
          <p:spPr>
            <a:xfrm flipH="false" flipV="false" rot="-1033563">
              <a:off x="365329" y="1485512"/>
              <a:ext cx="2463640" cy="1393076"/>
            </a:xfrm>
            <a:custGeom>
              <a:avLst/>
              <a:gdLst/>
              <a:ahLst/>
              <a:cxnLst/>
              <a:rect r="r" b="b" t="t" l="l"/>
              <a:pathLst>
                <a:path h="1393076" w="2463640">
                  <a:moveTo>
                    <a:pt x="0" y="0"/>
                  </a:moveTo>
                  <a:lnTo>
                    <a:pt x="2463639" y="0"/>
                  </a:lnTo>
                  <a:lnTo>
                    <a:pt x="2463639" y="1393076"/>
                  </a:lnTo>
                  <a:lnTo>
                    <a:pt x="0" y="13930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-1134938">
              <a:off x="163184" y="454690"/>
              <a:ext cx="3057776" cy="1516147"/>
            </a:xfrm>
            <a:custGeom>
              <a:avLst/>
              <a:gdLst/>
              <a:ahLst/>
              <a:cxnLst/>
              <a:rect r="r" b="b" t="t" l="l"/>
              <a:pathLst>
                <a:path h="1516147" w="3057776">
                  <a:moveTo>
                    <a:pt x="0" y="0"/>
                  </a:moveTo>
                  <a:lnTo>
                    <a:pt x="3057776" y="0"/>
                  </a:lnTo>
                  <a:lnTo>
                    <a:pt x="3057776" y="1516147"/>
                  </a:lnTo>
                  <a:lnTo>
                    <a:pt x="0" y="15161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1983271">
            <a:off x="-1701816" y="6609991"/>
            <a:ext cx="3951963" cy="3324589"/>
          </a:xfrm>
          <a:custGeom>
            <a:avLst/>
            <a:gdLst/>
            <a:ahLst/>
            <a:cxnLst/>
            <a:rect r="r" b="b" t="t" l="l"/>
            <a:pathLst>
              <a:path h="3324589" w="3951963">
                <a:moveTo>
                  <a:pt x="0" y="0"/>
                </a:moveTo>
                <a:lnTo>
                  <a:pt x="3951963" y="0"/>
                </a:lnTo>
                <a:lnTo>
                  <a:pt x="3951963" y="3324589"/>
                </a:lnTo>
                <a:lnTo>
                  <a:pt x="0" y="33245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9999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4083474">
            <a:off x="16406118" y="3953926"/>
            <a:ext cx="3951963" cy="3324589"/>
          </a:xfrm>
          <a:custGeom>
            <a:avLst/>
            <a:gdLst/>
            <a:ahLst/>
            <a:cxnLst/>
            <a:rect r="r" b="b" t="t" l="l"/>
            <a:pathLst>
              <a:path h="3324589" w="3951963">
                <a:moveTo>
                  <a:pt x="0" y="0"/>
                </a:moveTo>
                <a:lnTo>
                  <a:pt x="3951963" y="0"/>
                </a:lnTo>
                <a:lnTo>
                  <a:pt x="3951963" y="3324589"/>
                </a:lnTo>
                <a:lnTo>
                  <a:pt x="0" y="33245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9999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451846" y="661343"/>
            <a:ext cx="2770337" cy="378761"/>
            <a:chOff x="0" y="0"/>
            <a:chExt cx="3693782" cy="50501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58357" cy="505014"/>
            </a:xfrm>
            <a:custGeom>
              <a:avLst/>
              <a:gdLst/>
              <a:ahLst/>
              <a:cxnLst/>
              <a:rect r="r" b="b" t="t" l="l"/>
              <a:pathLst>
                <a:path h="505014" w="658357">
                  <a:moveTo>
                    <a:pt x="0" y="0"/>
                  </a:moveTo>
                  <a:lnTo>
                    <a:pt x="658357" y="0"/>
                  </a:lnTo>
                  <a:lnTo>
                    <a:pt x="658357" y="505014"/>
                  </a:lnTo>
                  <a:lnTo>
                    <a:pt x="0" y="5050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 rot="0">
              <a:off x="930695" y="-57441"/>
              <a:ext cx="2763087" cy="5602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20"/>
                </a:lnSpc>
                <a:spcBef>
                  <a:spcPct val="0"/>
                </a:spcBef>
              </a:pPr>
              <a:r>
                <a:rPr lang="en-US" sz="2300">
                  <a:solidFill>
                    <a:srgbClr val="FFFFFF"/>
                  </a:solidFill>
                  <a:latin typeface="Jua"/>
                  <a:ea typeface="Jua"/>
                  <a:cs typeface="Jua"/>
                  <a:sym typeface="Jua"/>
                </a:rPr>
                <a:t>MundiPets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932698" y="1394361"/>
            <a:ext cx="12882603" cy="2046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34"/>
              </a:lnSpc>
            </a:pPr>
            <a:r>
              <a:rPr lang="en-US" sz="8499" b="true">
                <a:solidFill>
                  <a:srgbClr val="FFFFFF"/>
                </a:solidFill>
                <a:latin typeface="Balsamiq Sans Bold"/>
                <a:ea typeface="Balsamiq Sans Bold"/>
                <a:cs typeface="Balsamiq Sans Bold"/>
                <a:sym typeface="Balsamiq Sans Bold"/>
              </a:rPr>
              <a:t>Producto Mínimo Viable</a:t>
            </a:r>
          </a:p>
          <a:p>
            <a:pPr algn="ctr">
              <a:lnSpc>
                <a:spcPts val="7734"/>
              </a:lnSpc>
            </a:pPr>
            <a:r>
              <a:rPr lang="en-US" sz="8499" b="true">
                <a:solidFill>
                  <a:srgbClr val="FFFFFF"/>
                </a:solidFill>
                <a:latin typeface="Balsamiq Sans Bold"/>
                <a:ea typeface="Balsamiq Sans Bold"/>
                <a:cs typeface="Balsamiq Sans Bold"/>
                <a:sym typeface="Balsamiq Sans Bold"/>
              </a:rPr>
              <a:t>(MVP)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4873286" y="4811763"/>
            <a:ext cx="9001427" cy="989495"/>
            <a:chOff x="0" y="0"/>
            <a:chExt cx="12001902" cy="1319326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12001902" cy="1319326"/>
              <a:chOff x="0" y="0"/>
              <a:chExt cx="2370746" cy="260608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2370746" cy="260608"/>
              </a:xfrm>
              <a:custGeom>
                <a:avLst/>
                <a:gdLst/>
                <a:ahLst/>
                <a:cxnLst/>
                <a:rect r="r" b="b" t="t" l="l"/>
                <a:pathLst>
                  <a:path h="260608" w="2370746">
                    <a:moveTo>
                      <a:pt x="30103" y="0"/>
                    </a:moveTo>
                    <a:lnTo>
                      <a:pt x="2340644" y="0"/>
                    </a:lnTo>
                    <a:cubicBezTo>
                      <a:pt x="2348627" y="0"/>
                      <a:pt x="2356284" y="3172"/>
                      <a:pt x="2361929" y="8817"/>
                    </a:cubicBezTo>
                    <a:cubicBezTo>
                      <a:pt x="2367575" y="14462"/>
                      <a:pt x="2370746" y="22119"/>
                      <a:pt x="2370746" y="30103"/>
                    </a:cubicBezTo>
                    <a:lnTo>
                      <a:pt x="2370746" y="230505"/>
                    </a:lnTo>
                    <a:cubicBezTo>
                      <a:pt x="2370746" y="247130"/>
                      <a:pt x="2357269" y="260608"/>
                      <a:pt x="2340644" y="260608"/>
                    </a:cubicBezTo>
                    <a:lnTo>
                      <a:pt x="30103" y="260608"/>
                    </a:lnTo>
                    <a:cubicBezTo>
                      <a:pt x="13477" y="260608"/>
                      <a:pt x="0" y="247130"/>
                      <a:pt x="0" y="230505"/>
                    </a:cubicBezTo>
                    <a:lnTo>
                      <a:pt x="0" y="30103"/>
                    </a:lnTo>
                    <a:cubicBezTo>
                      <a:pt x="0" y="13477"/>
                      <a:pt x="13477" y="0"/>
                      <a:pt x="30103" y="0"/>
                    </a:cubicBezTo>
                    <a:close/>
                  </a:path>
                </a:pathLst>
              </a:custGeom>
              <a:solidFill>
                <a:srgbClr val="A2D6FF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104775"/>
                <a:ext cx="2370746" cy="36538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20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452741" y="332469"/>
              <a:ext cx="11032809" cy="6067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07"/>
                </a:lnSpc>
              </a:pPr>
              <a:r>
                <a:rPr lang="en-US" sz="2799">
                  <a:solidFill>
                    <a:srgbClr val="1F2937"/>
                  </a:solidFill>
                  <a:latin typeface="Sniglet"/>
                  <a:ea typeface="Sniglet"/>
                  <a:cs typeface="Sniglet"/>
                  <a:sym typeface="Sniglet"/>
                </a:rPr>
                <a:t>https://mundipets-mvp.netlify.app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7644054" y="7491908"/>
            <a:ext cx="3500169" cy="1735500"/>
          </a:xfrm>
          <a:custGeom>
            <a:avLst/>
            <a:gdLst/>
            <a:ahLst/>
            <a:cxnLst/>
            <a:rect r="r" b="b" t="t" l="l"/>
            <a:pathLst>
              <a:path h="1735500" w="3500169">
                <a:moveTo>
                  <a:pt x="0" y="0"/>
                </a:moveTo>
                <a:lnTo>
                  <a:pt x="3500168" y="0"/>
                </a:lnTo>
                <a:lnTo>
                  <a:pt x="3500168" y="1735500"/>
                </a:lnTo>
                <a:lnTo>
                  <a:pt x="0" y="17355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410440" y="4086118"/>
            <a:ext cx="3199587" cy="526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90"/>
              </a:lnSpc>
              <a:spcBef>
                <a:spcPct val="0"/>
              </a:spcBef>
            </a:pPr>
            <a:r>
              <a:rPr lang="en-US" sz="2707">
                <a:solidFill>
                  <a:srgbClr val="FFAE34"/>
                </a:solidFill>
                <a:latin typeface="Jua"/>
                <a:ea typeface="Jua"/>
                <a:cs typeface="Jua"/>
                <a:sym typeface="Jua"/>
              </a:rPr>
              <a:t>Seasonal Discounts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410440" y="5361754"/>
            <a:ext cx="3199587" cy="526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90"/>
              </a:lnSpc>
              <a:spcBef>
                <a:spcPct val="0"/>
              </a:spcBef>
            </a:pPr>
            <a:r>
              <a:rPr lang="en-US" sz="2707">
                <a:solidFill>
                  <a:srgbClr val="FFAE34"/>
                </a:solidFill>
                <a:latin typeface="Jua"/>
                <a:ea typeface="Jua"/>
                <a:cs typeface="Jua"/>
                <a:sym typeface="Jua"/>
              </a:rPr>
              <a:t>Loyalty Programs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410440" y="6634222"/>
            <a:ext cx="3199587" cy="526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90"/>
              </a:lnSpc>
              <a:spcBef>
                <a:spcPct val="0"/>
              </a:spcBef>
            </a:pPr>
            <a:r>
              <a:rPr lang="en-US" sz="2707">
                <a:solidFill>
                  <a:srgbClr val="FFAE34"/>
                </a:solidFill>
                <a:latin typeface="Jua"/>
                <a:ea typeface="Jua"/>
                <a:cs typeface="Jua"/>
                <a:sym typeface="Jua"/>
              </a:rPr>
              <a:t>Bundle Deals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410440" y="7906691"/>
            <a:ext cx="3199587" cy="526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90"/>
              </a:lnSpc>
              <a:spcBef>
                <a:spcPct val="0"/>
              </a:spcBef>
            </a:pPr>
            <a:r>
              <a:rPr lang="en-US" sz="2707">
                <a:solidFill>
                  <a:srgbClr val="FFAE34"/>
                </a:solidFill>
                <a:latin typeface="Jua"/>
                <a:ea typeface="Jua"/>
                <a:cs typeface="Jua"/>
                <a:sym typeface="Jua"/>
              </a:rPr>
              <a:t>New customer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6994632" y="526312"/>
            <a:ext cx="529336" cy="502388"/>
          </a:xfrm>
          <a:custGeom>
            <a:avLst/>
            <a:gdLst/>
            <a:ahLst/>
            <a:cxnLst/>
            <a:rect r="r" b="b" t="t" l="l"/>
            <a:pathLst>
              <a:path h="502388" w="529336">
                <a:moveTo>
                  <a:pt x="0" y="0"/>
                </a:moveTo>
                <a:lnTo>
                  <a:pt x="529336" y="0"/>
                </a:lnTo>
                <a:lnTo>
                  <a:pt x="529336" y="502388"/>
                </a:lnTo>
                <a:lnTo>
                  <a:pt x="0" y="5023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78681" y="9377809"/>
            <a:ext cx="529336" cy="502388"/>
          </a:xfrm>
          <a:custGeom>
            <a:avLst/>
            <a:gdLst/>
            <a:ahLst/>
            <a:cxnLst/>
            <a:rect r="r" b="b" t="t" l="l"/>
            <a:pathLst>
              <a:path h="502388" w="529336">
                <a:moveTo>
                  <a:pt x="0" y="0"/>
                </a:moveTo>
                <a:lnTo>
                  <a:pt x="529336" y="0"/>
                </a:lnTo>
                <a:lnTo>
                  <a:pt x="529336" y="502388"/>
                </a:lnTo>
                <a:lnTo>
                  <a:pt x="0" y="5023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7259300" y="1472174"/>
            <a:ext cx="529336" cy="502388"/>
          </a:xfrm>
          <a:custGeom>
            <a:avLst/>
            <a:gdLst/>
            <a:ahLst/>
            <a:cxnLst/>
            <a:rect r="r" b="b" t="t" l="l"/>
            <a:pathLst>
              <a:path h="502388" w="529336">
                <a:moveTo>
                  <a:pt x="0" y="0"/>
                </a:moveTo>
                <a:lnTo>
                  <a:pt x="529336" y="0"/>
                </a:lnTo>
                <a:lnTo>
                  <a:pt x="529336" y="502388"/>
                </a:lnTo>
                <a:lnTo>
                  <a:pt x="0" y="5023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21970" y="1603083"/>
            <a:ext cx="16937330" cy="942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25"/>
              </a:lnSpc>
            </a:pPr>
            <a:r>
              <a:rPr lang="en-US" sz="7500" b="true">
                <a:solidFill>
                  <a:srgbClr val="0D3889"/>
                </a:solidFill>
                <a:latin typeface="Balsamiq Sans Bold"/>
                <a:ea typeface="Balsamiq Sans Bold"/>
                <a:cs typeface="Balsamiq Sans Bold"/>
                <a:sym typeface="Balsamiq Sans Bold"/>
              </a:rPr>
              <a:t>Lecciones aprendidas y conclusiones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430522" y="3661240"/>
            <a:ext cx="5449167" cy="5336257"/>
            <a:chOff x="0" y="0"/>
            <a:chExt cx="7265556" cy="7115010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7265556" cy="7115010"/>
              <a:chOff x="0" y="0"/>
              <a:chExt cx="1435172" cy="1405434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435172" cy="1405434"/>
              </a:xfrm>
              <a:custGeom>
                <a:avLst/>
                <a:gdLst/>
                <a:ahLst/>
                <a:cxnLst/>
                <a:rect r="r" b="b" t="t" l="l"/>
                <a:pathLst>
                  <a:path h="1405434" w="1435172">
                    <a:moveTo>
                      <a:pt x="49726" y="0"/>
                    </a:moveTo>
                    <a:lnTo>
                      <a:pt x="1385445" y="0"/>
                    </a:lnTo>
                    <a:cubicBezTo>
                      <a:pt x="1412908" y="0"/>
                      <a:pt x="1435172" y="22263"/>
                      <a:pt x="1435172" y="49726"/>
                    </a:cubicBezTo>
                    <a:lnTo>
                      <a:pt x="1435172" y="1355708"/>
                    </a:lnTo>
                    <a:cubicBezTo>
                      <a:pt x="1435172" y="1383171"/>
                      <a:pt x="1412908" y="1405434"/>
                      <a:pt x="1385445" y="1405434"/>
                    </a:cubicBezTo>
                    <a:lnTo>
                      <a:pt x="49726" y="1405434"/>
                    </a:lnTo>
                    <a:cubicBezTo>
                      <a:pt x="22263" y="1405434"/>
                      <a:pt x="0" y="1383171"/>
                      <a:pt x="0" y="1355708"/>
                    </a:cubicBezTo>
                    <a:lnTo>
                      <a:pt x="0" y="49726"/>
                    </a:lnTo>
                    <a:cubicBezTo>
                      <a:pt x="0" y="22263"/>
                      <a:pt x="22263" y="0"/>
                      <a:pt x="49726" y="0"/>
                    </a:cubicBezTo>
                    <a:close/>
                  </a:path>
                </a:pathLst>
              </a:custGeom>
              <a:solidFill>
                <a:srgbClr val="6391E8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104775"/>
                <a:ext cx="1435172" cy="151020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20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411481" y="2668765"/>
              <a:ext cx="6854075" cy="31467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08"/>
                </a:lnSpc>
              </a:pPr>
              <a:r>
                <a:rPr lang="en-US" sz="2800">
                  <a:solidFill>
                    <a:srgbClr val="5D3700"/>
                  </a:solidFill>
                  <a:latin typeface="Sniglet"/>
                  <a:ea typeface="Sniglet"/>
                  <a:cs typeface="Sniglet"/>
                  <a:sym typeface="Sniglet"/>
                </a:rPr>
                <a:t>27 RF, 16 RNF y 9 RD quedan trazados hasta al menos una evidencia primaria; ninguna afirmación se apoya solo en la deliberación interna del equipo.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1422263" y="873012"/>
              <a:ext cx="4198306" cy="1320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39"/>
                </a:lnSpc>
              </a:pPr>
              <a:r>
                <a:rPr lang="en-US" sz="3999" b="true">
                  <a:solidFill>
                    <a:srgbClr val="5D3700"/>
                  </a:solidFill>
                  <a:latin typeface="Balsamiq Sans Bold"/>
                  <a:ea typeface="Balsamiq Sans Bold"/>
                  <a:cs typeface="Balsamiq Sans Bold"/>
                  <a:sym typeface="Balsamiq Sans Bold"/>
                </a:rPr>
                <a:t>Completitud verificable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30522" y="526312"/>
            <a:ext cx="2770337" cy="378761"/>
            <a:chOff x="0" y="0"/>
            <a:chExt cx="3693782" cy="50501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58357" cy="505014"/>
            </a:xfrm>
            <a:custGeom>
              <a:avLst/>
              <a:gdLst/>
              <a:ahLst/>
              <a:cxnLst/>
              <a:rect r="r" b="b" t="t" l="l"/>
              <a:pathLst>
                <a:path h="505014" w="658357">
                  <a:moveTo>
                    <a:pt x="0" y="0"/>
                  </a:moveTo>
                  <a:lnTo>
                    <a:pt x="658357" y="0"/>
                  </a:lnTo>
                  <a:lnTo>
                    <a:pt x="658357" y="505014"/>
                  </a:lnTo>
                  <a:lnTo>
                    <a:pt x="0" y="5050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 rot="0">
              <a:off x="930695" y="-57441"/>
              <a:ext cx="2763087" cy="5602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20"/>
                </a:lnSpc>
                <a:spcBef>
                  <a:spcPct val="0"/>
                </a:spcBef>
              </a:pPr>
              <a:r>
                <a:rPr lang="en-US" sz="2300">
                  <a:solidFill>
                    <a:srgbClr val="FFFFFF"/>
                  </a:solidFill>
                  <a:latin typeface="Jua"/>
                  <a:ea typeface="Jua"/>
                  <a:cs typeface="Jua"/>
                  <a:sym typeface="Jua"/>
                </a:rPr>
                <a:t>MundiPets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419417" y="3661240"/>
            <a:ext cx="5449167" cy="5391863"/>
            <a:chOff x="0" y="0"/>
            <a:chExt cx="7265556" cy="7189150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7265556" cy="7189150"/>
              <a:chOff x="0" y="0"/>
              <a:chExt cx="1435172" cy="1420079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435172" cy="1420079"/>
              </a:xfrm>
              <a:custGeom>
                <a:avLst/>
                <a:gdLst/>
                <a:ahLst/>
                <a:cxnLst/>
                <a:rect r="r" b="b" t="t" l="l"/>
                <a:pathLst>
                  <a:path h="1420079" w="1435172">
                    <a:moveTo>
                      <a:pt x="49726" y="0"/>
                    </a:moveTo>
                    <a:lnTo>
                      <a:pt x="1385445" y="0"/>
                    </a:lnTo>
                    <a:cubicBezTo>
                      <a:pt x="1412908" y="0"/>
                      <a:pt x="1435172" y="22263"/>
                      <a:pt x="1435172" y="49726"/>
                    </a:cubicBezTo>
                    <a:lnTo>
                      <a:pt x="1435172" y="1370353"/>
                    </a:lnTo>
                    <a:cubicBezTo>
                      <a:pt x="1435172" y="1397816"/>
                      <a:pt x="1412908" y="1420079"/>
                      <a:pt x="1385445" y="1420079"/>
                    </a:cubicBezTo>
                    <a:lnTo>
                      <a:pt x="49726" y="1420079"/>
                    </a:lnTo>
                    <a:cubicBezTo>
                      <a:pt x="22263" y="1420079"/>
                      <a:pt x="0" y="1397816"/>
                      <a:pt x="0" y="1370353"/>
                    </a:cubicBezTo>
                    <a:lnTo>
                      <a:pt x="0" y="49726"/>
                    </a:lnTo>
                    <a:cubicBezTo>
                      <a:pt x="0" y="22263"/>
                      <a:pt x="22263" y="0"/>
                      <a:pt x="49726" y="0"/>
                    </a:cubicBezTo>
                    <a:close/>
                  </a:path>
                </a:pathLst>
              </a:custGeom>
              <a:solidFill>
                <a:srgbClr val="FEDB9E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104775"/>
                <a:ext cx="1435172" cy="152485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20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411481" y="2866473"/>
              <a:ext cx="6514731" cy="31467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08"/>
                </a:lnSpc>
              </a:pPr>
              <a:r>
                <a:rPr lang="en-US" sz="2800">
                  <a:solidFill>
                    <a:srgbClr val="5D3700"/>
                  </a:solidFill>
                  <a:latin typeface="Sniglet"/>
                  <a:ea typeface="Sniglet"/>
                  <a:cs typeface="Sniglet"/>
                  <a:sym typeface="Sniglet"/>
                </a:rPr>
                <a:t>El marco legal (LOPDP) no fue un anexo del diseño: el Art. 20 originó directamente los tres requisitos de explicabilidad del componente de IA.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750825" y="914201"/>
              <a:ext cx="6175387" cy="1320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39"/>
                </a:lnSpc>
              </a:pPr>
              <a:r>
                <a:rPr lang="en-US" sz="3999" b="true">
                  <a:solidFill>
                    <a:srgbClr val="5D3700"/>
                  </a:solidFill>
                  <a:latin typeface="Balsamiq Sans Bold"/>
                  <a:ea typeface="Balsamiq Sans Bold"/>
                  <a:cs typeface="Balsamiq Sans Bold"/>
                  <a:sym typeface="Balsamiq Sans Bold"/>
                </a:rPr>
                <a:t>La ley como fuente de requisitos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408311" y="3661240"/>
            <a:ext cx="5449167" cy="5373843"/>
            <a:chOff x="0" y="0"/>
            <a:chExt cx="7265556" cy="7165123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0"/>
              <a:ext cx="7265556" cy="7165123"/>
              <a:chOff x="0" y="0"/>
              <a:chExt cx="1435172" cy="1415333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1435172" cy="1415333"/>
              </a:xfrm>
              <a:custGeom>
                <a:avLst/>
                <a:gdLst/>
                <a:ahLst/>
                <a:cxnLst/>
                <a:rect r="r" b="b" t="t" l="l"/>
                <a:pathLst>
                  <a:path h="1415333" w="1435172">
                    <a:moveTo>
                      <a:pt x="49726" y="0"/>
                    </a:moveTo>
                    <a:lnTo>
                      <a:pt x="1385445" y="0"/>
                    </a:lnTo>
                    <a:cubicBezTo>
                      <a:pt x="1412908" y="0"/>
                      <a:pt x="1435172" y="22263"/>
                      <a:pt x="1435172" y="49726"/>
                    </a:cubicBezTo>
                    <a:lnTo>
                      <a:pt x="1435172" y="1365607"/>
                    </a:lnTo>
                    <a:cubicBezTo>
                      <a:pt x="1435172" y="1393070"/>
                      <a:pt x="1412908" y="1415333"/>
                      <a:pt x="1385445" y="1415333"/>
                    </a:cubicBezTo>
                    <a:lnTo>
                      <a:pt x="49726" y="1415333"/>
                    </a:lnTo>
                    <a:cubicBezTo>
                      <a:pt x="22263" y="1415333"/>
                      <a:pt x="0" y="1393070"/>
                      <a:pt x="0" y="1365607"/>
                    </a:cubicBezTo>
                    <a:lnTo>
                      <a:pt x="0" y="49726"/>
                    </a:lnTo>
                    <a:cubicBezTo>
                      <a:pt x="0" y="22263"/>
                      <a:pt x="22263" y="0"/>
                      <a:pt x="49726" y="0"/>
                    </a:cubicBezTo>
                    <a:close/>
                  </a:path>
                </a:pathLst>
              </a:custGeom>
              <a:solidFill>
                <a:srgbClr val="6391E8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104775"/>
                <a:ext cx="1435172" cy="152010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20"/>
                  </a:lnSpc>
                </a:pPr>
              </a:p>
            </p:txBody>
          </p:sp>
        </p:grpSp>
        <p:sp>
          <p:nvSpPr>
            <p:cNvPr name="TextBox 30" id="30"/>
            <p:cNvSpPr txBox="true"/>
            <p:nvPr/>
          </p:nvSpPr>
          <p:spPr>
            <a:xfrm rot="0">
              <a:off x="411481" y="2825284"/>
              <a:ext cx="6854075" cy="37817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08"/>
                </a:lnSpc>
              </a:pPr>
              <a:r>
                <a:rPr lang="en-US" sz="2800">
                  <a:solidFill>
                    <a:srgbClr val="5D3700"/>
                  </a:solidFill>
                  <a:latin typeface="Sniglet"/>
                  <a:ea typeface="Sniglet"/>
                  <a:cs typeface="Sniglet"/>
                  <a:sym typeface="Sniglet"/>
                </a:rPr>
                <a:t>La aproximación de Kano y los RF sin mockup propio (RF-18, RF-22, RF-23) se documentan como decisiones explícitas, lo que fortalece la validez del estudio.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411481" y="873012"/>
              <a:ext cx="6280007" cy="1320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39"/>
                </a:lnSpc>
              </a:pPr>
              <a:r>
                <a:rPr lang="en-US" sz="3999" b="true">
                  <a:solidFill>
                    <a:srgbClr val="5D3700"/>
                  </a:solidFill>
                  <a:latin typeface="Balsamiq Sans Bold"/>
                  <a:ea typeface="Balsamiq Sans Bold"/>
                  <a:cs typeface="Balsamiq Sans Bold"/>
                  <a:sym typeface="Balsamiq Sans Bold"/>
                </a:rPr>
                <a:t>Límites declarados, no ocultos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68694" y="8812330"/>
            <a:ext cx="19335746" cy="3841030"/>
          </a:xfrm>
          <a:custGeom>
            <a:avLst/>
            <a:gdLst/>
            <a:ahLst/>
            <a:cxnLst/>
            <a:rect r="r" b="b" t="t" l="l"/>
            <a:pathLst>
              <a:path h="3841030" w="19335746">
                <a:moveTo>
                  <a:pt x="0" y="0"/>
                </a:moveTo>
                <a:lnTo>
                  <a:pt x="19335746" y="0"/>
                </a:lnTo>
                <a:lnTo>
                  <a:pt x="19335746" y="3841030"/>
                </a:lnTo>
                <a:lnTo>
                  <a:pt x="0" y="38410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117627" y="7041094"/>
            <a:ext cx="3785992" cy="4114800"/>
          </a:xfrm>
          <a:custGeom>
            <a:avLst/>
            <a:gdLst/>
            <a:ahLst/>
            <a:cxnLst/>
            <a:rect r="r" b="b" t="t" l="l"/>
            <a:pathLst>
              <a:path h="4114800" w="3785992">
                <a:moveTo>
                  <a:pt x="0" y="0"/>
                </a:moveTo>
                <a:lnTo>
                  <a:pt x="3785992" y="0"/>
                </a:lnTo>
                <a:lnTo>
                  <a:pt x="378599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377670" y="7888017"/>
            <a:ext cx="1210477" cy="1210477"/>
          </a:xfrm>
          <a:custGeom>
            <a:avLst/>
            <a:gdLst/>
            <a:ahLst/>
            <a:cxnLst/>
            <a:rect r="r" b="b" t="t" l="l"/>
            <a:pathLst>
              <a:path h="1210477" w="1210477">
                <a:moveTo>
                  <a:pt x="0" y="0"/>
                </a:moveTo>
                <a:lnTo>
                  <a:pt x="1210478" y="0"/>
                </a:lnTo>
                <a:lnTo>
                  <a:pt x="1210478" y="1210477"/>
                </a:lnTo>
                <a:lnTo>
                  <a:pt x="0" y="121047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43000"/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684176" y="7041094"/>
            <a:ext cx="3785992" cy="4114800"/>
          </a:xfrm>
          <a:custGeom>
            <a:avLst/>
            <a:gdLst/>
            <a:ahLst/>
            <a:cxnLst/>
            <a:rect r="r" b="b" t="t" l="l"/>
            <a:pathLst>
              <a:path h="4114800" w="3785992">
                <a:moveTo>
                  <a:pt x="3785991" y="0"/>
                </a:moveTo>
                <a:lnTo>
                  <a:pt x="0" y="0"/>
                </a:lnTo>
                <a:lnTo>
                  <a:pt x="0" y="4114800"/>
                </a:lnTo>
                <a:lnTo>
                  <a:pt x="3785991" y="4114800"/>
                </a:lnTo>
                <a:lnTo>
                  <a:pt x="3785991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819082" y="8047823"/>
            <a:ext cx="1210477" cy="1210477"/>
          </a:xfrm>
          <a:custGeom>
            <a:avLst/>
            <a:gdLst/>
            <a:ahLst/>
            <a:cxnLst/>
            <a:rect r="r" b="b" t="t" l="l"/>
            <a:pathLst>
              <a:path h="1210477" w="1210477">
                <a:moveTo>
                  <a:pt x="1210477" y="0"/>
                </a:moveTo>
                <a:lnTo>
                  <a:pt x="0" y="0"/>
                </a:lnTo>
                <a:lnTo>
                  <a:pt x="0" y="1210477"/>
                </a:lnTo>
                <a:lnTo>
                  <a:pt x="1210477" y="1210477"/>
                </a:lnTo>
                <a:lnTo>
                  <a:pt x="1210477" y="0"/>
                </a:lnTo>
                <a:close/>
              </a:path>
            </a:pathLst>
          </a:custGeom>
          <a:blipFill>
            <a:blip r:embed="rId7">
              <a:alphaModFix amt="43000"/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1253856">
            <a:off x="5924717" y="-1083087"/>
            <a:ext cx="5760414" cy="2922101"/>
          </a:xfrm>
          <a:custGeom>
            <a:avLst/>
            <a:gdLst/>
            <a:ahLst/>
            <a:cxnLst/>
            <a:rect r="r" b="b" t="t" l="l"/>
            <a:pathLst>
              <a:path h="2922101" w="5760414">
                <a:moveTo>
                  <a:pt x="0" y="0"/>
                </a:moveTo>
                <a:lnTo>
                  <a:pt x="5760414" y="0"/>
                </a:lnTo>
                <a:lnTo>
                  <a:pt x="5760414" y="2922101"/>
                </a:lnTo>
                <a:lnTo>
                  <a:pt x="0" y="292210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553023" y="7614015"/>
            <a:ext cx="1031341" cy="867616"/>
          </a:xfrm>
          <a:custGeom>
            <a:avLst/>
            <a:gdLst/>
            <a:ahLst/>
            <a:cxnLst/>
            <a:rect r="r" b="b" t="t" l="l"/>
            <a:pathLst>
              <a:path h="867616" w="1031341">
                <a:moveTo>
                  <a:pt x="0" y="0"/>
                </a:moveTo>
                <a:lnTo>
                  <a:pt x="1031341" y="0"/>
                </a:lnTo>
                <a:lnTo>
                  <a:pt x="1031341" y="867615"/>
                </a:lnTo>
                <a:lnTo>
                  <a:pt x="0" y="86761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78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446998" y="1028700"/>
            <a:ext cx="2620054" cy="1214752"/>
          </a:xfrm>
          <a:custGeom>
            <a:avLst/>
            <a:gdLst/>
            <a:ahLst/>
            <a:cxnLst/>
            <a:rect r="r" b="b" t="t" l="l"/>
            <a:pathLst>
              <a:path h="1214752" w="2620054">
                <a:moveTo>
                  <a:pt x="0" y="0"/>
                </a:moveTo>
                <a:lnTo>
                  <a:pt x="2620054" y="0"/>
                </a:lnTo>
                <a:lnTo>
                  <a:pt x="2620054" y="1214752"/>
                </a:lnTo>
                <a:lnTo>
                  <a:pt x="0" y="121475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490945" y="3139148"/>
            <a:ext cx="2620054" cy="1214752"/>
          </a:xfrm>
          <a:custGeom>
            <a:avLst/>
            <a:gdLst/>
            <a:ahLst/>
            <a:cxnLst/>
            <a:rect r="r" b="b" t="t" l="l"/>
            <a:pathLst>
              <a:path h="1214752" w="2620054">
                <a:moveTo>
                  <a:pt x="0" y="0"/>
                </a:moveTo>
                <a:lnTo>
                  <a:pt x="2620054" y="0"/>
                </a:lnTo>
                <a:lnTo>
                  <a:pt x="2620054" y="1214752"/>
                </a:lnTo>
                <a:lnTo>
                  <a:pt x="0" y="121475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604246" y="813743"/>
            <a:ext cx="2770337" cy="378761"/>
            <a:chOff x="0" y="0"/>
            <a:chExt cx="3693782" cy="50501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58357" cy="505014"/>
            </a:xfrm>
            <a:custGeom>
              <a:avLst/>
              <a:gdLst/>
              <a:ahLst/>
              <a:cxnLst/>
              <a:rect r="r" b="b" t="t" l="l"/>
              <a:pathLst>
                <a:path h="505014" w="658357">
                  <a:moveTo>
                    <a:pt x="0" y="0"/>
                  </a:moveTo>
                  <a:lnTo>
                    <a:pt x="658357" y="0"/>
                  </a:lnTo>
                  <a:lnTo>
                    <a:pt x="658357" y="505014"/>
                  </a:lnTo>
                  <a:lnTo>
                    <a:pt x="0" y="5050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 rot="0">
              <a:off x="930695" y="-57441"/>
              <a:ext cx="2763087" cy="5602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20"/>
                </a:lnSpc>
                <a:spcBef>
                  <a:spcPct val="0"/>
                </a:spcBef>
              </a:pPr>
              <a:r>
                <a:rPr lang="en-US" sz="2300">
                  <a:solidFill>
                    <a:srgbClr val="FFFFFF"/>
                  </a:solidFill>
                  <a:latin typeface="Jua"/>
                  <a:ea typeface="Jua"/>
                  <a:cs typeface="Jua"/>
                  <a:sym typeface="Jua"/>
                </a:rPr>
                <a:t>MundiPets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3143063" y="4299258"/>
            <a:ext cx="12882603" cy="1555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75"/>
              </a:lnSpc>
            </a:pPr>
            <a:r>
              <a:rPr lang="en-US" sz="12500" b="true">
                <a:solidFill>
                  <a:srgbClr val="FFFFFF"/>
                </a:solidFill>
                <a:latin typeface="Balsamiq Sans Bold"/>
                <a:ea typeface="Balsamiq Sans Bold"/>
                <a:cs typeface="Balsamiq Sans Bold"/>
                <a:sym typeface="Balsamiq Sans Bold"/>
              </a:rPr>
              <a:t>Muchas Gracias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DAHT4kZ3B1s</dc:identifier>
  <dcterms:modified xsi:type="dcterms:W3CDTF">2011-08-01T06:04:30Z</dcterms:modified>
  <cp:revision>1</cp:revision>
  <dc:title>Presentación</dc:title>
</cp:coreProperties>
</file>