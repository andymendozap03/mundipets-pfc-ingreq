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Balsamiq Sans Bold" charset="1" panose="02000603000000000000"/>
      <p:regular r:id="rId24"/>
    </p:embeddedFont>
    <p:embeddedFont>
      <p:font typeface="Sniglet" charset="1" panose="04070505030100020000"/>
      <p:regular r:id="rId25"/>
    </p:embeddedFont>
    <p:embeddedFont>
      <p:font typeface="Jua" charset="1" panose="00000000000000000000"/>
      <p:regular r:id="rId26"/>
    </p:embeddedFont>
    <p:embeddedFont>
      <p:font typeface="Open Sans Italics" charset="1" panose="020B0606030504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2" Target="../media/image1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5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5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5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5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sv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2" Target="../media/image1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jnievess-lang/MVP_MundiPets.git" TargetMode="External" Type="http://schemas.openxmlformats.org/officeDocument/2006/relationships/hyperlink"/><Relationship Id="rId2" Target="../media/image16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63.pn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3613" y="7994139"/>
            <a:ext cx="19335746" cy="3841030"/>
          </a:xfrm>
          <a:custGeom>
            <a:avLst/>
            <a:gdLst/>
            <a:ahLst/>
            <a:cxnLst/>
            <a:rect r="r" b="b" t="t" l="l"/>
            <a:pathLst>
              <a:path h="3841030" w="19335746">
                <a:moveTo>
                  <a:pt x="0" y="0"/>
                </a:moveTo>
                <a:lnTo>
                  <a:pt x="19335747" y="0"/>
                </a:lnTo>
                <a:lnTo>
                  <a:pt x="19335747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99598" y="6308836"/>
            <a:ext cx="3240278" cy="3685021"/>
          </a:xfrm>
          <a:custGeom>
            <a:avLst/>
            <a:gdLst/>
            <a:ahLst/>
            <a:cxnLst/>
            <a:rect r="r" b="b" t="t" l="l"/>
            <a:pathLst>
              <a:path h="3685021" w="3240278">
                <a:moveTo>
                  <a:pt x="0" y="0"/>
                </a:moveTo>
                <a:lnTo>
                  <a:pt x="3240278" y="0"/>
                </a:lnTo>
                <a:lnTo>
                  <a:pt x="3240278" y="3685021"/>
                </a:lnTo>
                <a:lnTo>
                  <a:pt x="0" y="36850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13804" y="5710329"/>
            <a:ext cx="2738378" cy="4063753"/>
          </a:xfrm>
          <a:custGeom>
            <a:avLst/>
            <a:gdLst/>
            <a:ahLst/>
            <a:cxnLst/>
            <a:rect r="r" b="b" t="t" l="l"/>
            <a:pathLst>
              <a:path h="4063753" w="2738378">
                <a:moveTo>
                  <a:pt x="0" y="0"/>
                </a:moveTo>
                <a:lnTo>
                  <a:pt x="2738378" y="0"/>
                </a:lnTo>
                <a:lnTo>
                  <a:pt x="2738378" y="4063753"/>
                </a:lnTo>
                <a:lnTo>
                  <a:pt x="0" y="40637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92763" y="5574160"/>
            <a:ext cx="3066537" cy="4199922"/>
          </a:xfrm>
          <a:custGeom>
            <a:avLst/>
            <a:gdLst/>
            <a:ahLst/>
            <a:cxnLst/>
            <a:rect r="r" b="b" t="t" l="l"/>
            <a:pathLst>
              <a:path h="4199922" w="3066537">
                <a:moveTo>
                  <a:pt x="0" y="0"/>
                </a:moveTo>
                <a:lnTo>
                  <a:pt x="3066537" y="0"/>
                </a:lnTo>
                <a:lnTo>
                  <a:pt x="3066537" y="4199922"/>
                </a:lnTo>
                <a:lnTo>
                  <a:pt x="0" y="41999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700000">
            <a:off x="16802951" y="4948079"/>
            <a:ext cx="1323041" cy="1046205"/>
          </a:xfrm>
          <a:custGeom>
            <a:avLst/>
            <a:gdLst/>
            <a:ahLst/>
            <a:cxnLst/>
            <a:rect r="r" b="b" t="t" l="l"/>
            <a:pathLst>
              <a:path h="1046205" w="1323041">
                <a:moveTo>
                  <a:pt x="0" y="0"/>
                </a:moveTo>
                <a:lnTo>
                  <a:pt x="1323041" y="0"/>
                </a:lnTo>
                <a:lnTo>
                  <a:pt x="1323041" y="1046204"/>
                </a:lnTo>
                <a:lnTo>
                  <a:pt x="0" y="10462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894840">
            <a:off x="-274666" y="3490238"/>
            <a:ext cx="1323041" cy="1046205"/>
          </a:xfrm>
          <a:custGeom>
            <a:avLst/>
            <a:gdLst/>
            <a:ahLst/>
            <a:cxnLst/>
            <a:rect r="r" b="b" t="t" l="l"/>
            <a:pathLst>
              <a:path h="1046205" w="1323041">
                <a:moveTo>
                  <a:pt x="0" y="0"/>
                </a:moveTo>
                <a:lnTo>
                  <a:pt x="1323041" y="0"/>
                </a:lnTo>
                <a:lnTo>
                  <a:pt x="1323041" y="1046205"/>
                </a:lnTo>
                <a:lnTo>
                  <a:pt x="0" y="10462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700000">
            <a:off x="17574100" y="2527085"/>
            <a:ext cx="823482" cy="651174"/>
          </a:xfrm>
          <a:custGeom>
            <a:avLst/>
            <a:gdLst/>
            <a:ahLst/>
            <a:cxnLst/>
            <a:rect r="r" b="b" t="t" l="l"/>
            <a:pathLst>
              <a:path h="651174" w="823482">
                <a:moveTo>
                  <a:pt x="0" y="0"/>
                </a:moveTo>
                <a:lnTo>
                  <a:pt x="823482" y="0"/>
                </a:lnTo>
                <a:lnTo>
                  <a:pt x="823482" y="651174"/>
                </a:lnTo>
                <a:lnTo>
                  <a:pt x="0" y="6511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700000">
            <a:off x="1510728" y="875037"/>
            <a:ext cx="823482" cy="651174"/>
          </a:xfrm>
          <a:custGeom>
            <a:avLst/>
            <a:gdLst/>
            <a:ahLst/>
            <a:cxnLst/>
            <a:rect r="r" b="b" t="t" l="l"/>
            <a:pathLst>
              <a:path h="651174" w="823482">
                <a:moveTo>
                  <a:pt x="0" y="0"/>
                </a:moveTo>
                <a:lnTo>
                  <a:pt x="823482" y="0"/>
                </a:lnTo>
                <a:lnTo>
                  <a:pt x="823482" y="651174"/>
                </a:lnTo>
                <a:lnTo>
                  <a:pt x="0" y="6511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79933" y="839320"/>
            <a:ext cx="493767" cy="378761"/>
          </a:xfrm>
          <a:custGeom>
            <a:avLst/>
            <a:gdLst/>
            <a:ahLst/>
            <a:cxnLst/>
            <a:rect r="r" b="b" t="t" l="l"/>
            <a:pathLst>
              <a:path h="378761" w="493767">
                <a:moveTo>
                  <a:pt x="0" y="0"/>
                </a:moveTo>
                <a:lnTo>
                  <a:pt x="493767" y="0"/>
                </a:lnTo>
                <a:lnTo>
                  <a:pt x="493767" y="378760"/>
                </a:lnTo>
                <a:lnTo>
                  <a:pt x="0" y="3787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00683" y="5968019"/>
            <a:ext cx="1800833" cy="1018289"/>
          </a:xfrm>
          <a:custGeom>
            <a:avLst/>
            <a:gdLst/>
            <a:ahLst/>
            <a:cxnLst/>
            <a:rect r="r" b="b" t="t" l="l"/>
            <a:pathLst>
              <a:path h="1018289" w="1800833">
                <a:moveTo>
                  <a:pt x="0" y="0"/>
                </a:moveTo>
                <a:lnTo>
                  <a:pt x="1800833" y="0"/>
                </a:lnTo>
                <a:lnTo>
                  <a:pt x="1800833" y="1018289"/>
                </a:lnTo>
                <a:lnTo>
                  <a:pt x="0" y="101828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637617" y="4013341"/>
            <a:ext cx="1800833" cy="1018289"/>
          </a:xfrm>
          <a:custGeom>
            <a:avLst/>
            <a:gdLst/>
            <a:ahLst/>
            <a:cxnLst/>
            <a:rect r="r" b="b" t="t" l="l"/>
            <a:pathLst>
              <a:path h="1018289" w="1800833">
                <a:moveTo>
                  <a:pt x="0" y="0"/>
                </a:moveTo>
                <a:lnTo>
                  <a:pt x="1800833" y="0"/>
                </a:lnTo>
                <a:lnTo>
                  <a:pt x="1800833" y="1018289"/>
                </a:lnTo>
                <a:lnTo>
                  <a:pt x="0" y="101828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560916" y="1371600"/>
            <a:ext cx="8076701" cy="1568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6"/>
              </a:lnSpc>
            </a:pPr>
            <a:r>
              <a:rPr lang="en-US" sz="12600" b="true">
                <a:solidFill>
                  <a:srgbClr val="2856AD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MundiPets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52182" y="2962290"/>
            <a:ext cx="8334049" cy="307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3E75DF"/>
                </a:solidFill>
                <a:latin typeface="Sniglet"/>
                <a:ea typeface="Sniglet"/>
                <a:cs typeface="Sniglet"/>
                <a:sym typeface="Sniglet"/>
              </a:rPr>
              <a:t>Integrantes:</a:t>
            </a:r>
          </a:p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Fuertes Arraes Edson Daniel</a:t>
            </a:r>
          </a:p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 Gutierrez Ortega Genesis Adriana</a:t>
            </a:r>
          </a:p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 Mendoza Parraga Andy Johel</a:t>
            </a:r>
          </a:p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 Morales Sanchez Gary Alejandro</a:t>
            </a:r>
          </a:p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5D3700"/>
                </a:solidFill>
                <a:latin typeface="Sniglet"/>
                <a:ea typeface="Sniglet"/>
                <a:cs typeface="Sniglet"/>
                <a:sym typeface="Sniglet"/>
              </a:rPr>
              <a:t> Nieves Sanchez Jimmy Samuel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3352" y="7501186"/>
            <a:ext cx="19335746" cy="3841030"/>
          </a:xfrm>
          <a:custGeom>
            <a:avLst/>
            <a:gdLst/>
            <a:ahLst/>
            <a:cxnLst/>
            <a:rect r="r" b="b" t="t" l="l"/>
            <a:pathLst>
              <a:path h="3841030" w="19335746">
                <a:moveTo>
                  <a:pt x="0" y="0"/>
                </a:moveTo>
                <a:lnTo>
                  <a:pt x="19335746" y="0"/>
                </a:lnTo>
                <a:lnTo>
                  <a:pt x="19335746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14772" y="2189706"/>
            <a:ext cx="7015481" cy="7492261"/>
          </a:xfrm>
          <a:custGeom>
            <a:avLst/>
            <a:gdLst/>
            <a:ahLst/>
            <a:cxnLst/>
            <a:rect r="r" b="b" t="t" l="l"/>
            <a:pathLst>
              <a:path h="7492261" w="7015481">
                <a:moveTo>
                  <a:pt x="0" y="0"/>
                </a:moveTo>
                <a:lnTo>
                  <a:pt x="7015481" y="0"/>
                </a:lnTo>
                <a:lnTo>
                  <a:pt x="7015481" y="7492261"/>
                </a:lnTo>
                <a:lnTo>
                  <a:pt x="0" y="7492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253856">
            <a:off x="12195893" y="-806242"/>
            <a:ext cx="5760414" cy="2922101"/>
          </a:xfrm>
          <a:custGeom>
            <a:avLst/>
            <a:gdLst/>
            <a:ahLst/>
            <a:cxnLst/>
            <a:rect r="r" b="b" t="t" l="l"/>
            <a:pathLst>
              <a:path h="2922101" w="5760414">
                <a:moveTo>
                  <a:pt x="0" y="0"/>
                </a:moveTo>
                <a:lnTo>
                  <a:pt x="5760414" y="0"/>
                </a:lnTo>
                <a:lnTo>
                  <a:pt x="5760414" y="2922101"/>
                </a:lnTo>
                <a:lnTo>
                  <a:pt x="0" y="29221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97633" y="3646901"/>
            <a:ext cx="8334049" cy="3587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0"/>
              </a:lnSpc>
            </a:pPr>
            <a:r>
              <a:rPr lang="en-US" sz="30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Actualmente, la información de las mascotas general y médica está dispersa en distintos medios sin un mecanismo centralizado y confiable. Esto genera registros incompletos o sin respaldo, lo que lleva a que los procesos de adopción y cruza se realicen con información insuficiente para tomar decisiones responsables.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894840">
            <a:off x="-207492" y="2329570"/>
            <a:ext cx="1323041" cy="1046205"/>
          </a:xfrm>
          <a:custGeom>
            <a:avLst/>
            <a:gdLst/>
            <a:ahLst/>
            <a:cxnLst/>
            <a:rect r="r" b="b" t="t" l="l"/>
            <a:pathLst>
              <a:path h="1046205" w="1323041">
                <a:moveTo>
                  <a:pt x="0" y="0"/>
                </a:moveTo>
                <a:lnTo>
                  <a:pt x="1323041" y="0"/>
                </a:lnTo>
                <a:lnTo>
                  <a:pt x="1323041" y="1046204"/>
                </a:lnTo>
                <a:lnTo>
                  <a:pt x="0" y="10462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399999">
            <a:off x="17174924" y="5895033"/>
            <a:ext cx="1323041" cy="1046205"/>
          </a:xfrm>
          <a:custGeom>
            <a:avLst/>
            <a:gdLst/>
            <a:ahLst/>
            <a:cxnLst/>
            <a:rect r="r" b="b" t="t" l="l"/>
            <a:pathLst>
              <a:path h="1046205" w="1323041">
                <a:moveTo>
                  <a:pt x="0" y="0"/>
                </a:moveTo>
                <a:lnTo>
                  <a:pt x="1323042" y="0"/>
                </a:lnTo>
                <a:lnTo>
                  <a:pt x="1323042" y="1046204"/>
                </a:lnTo>
                <a:lnTo>
                  <a:pt x="0" y="10462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51846" y="1028700"/>
            <a:ext cx="2770337" cy="378761"/>
            <a:chOff x="0" y="0"/>
            <a:chExt cx="3693782" cy="5050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90937" y="2132529"/>
            <a:ext cx="6747442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4"/>
              </a:lnSpc>
            </a:pPr>
            <a:r>
              <a:rPr lang="en-US" sz="8499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Problemática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9449640" y="1302780"/>
            <a:ext cx="19335746" cy="3841030"/>
          </a:xfrm>
          <a:custGeom>
            <a:avLst/>
            <a:gdLst/>
            <a:ahLst/>
            <a:cxnLst/>
            <a:rect r="r" b="b" t="t" l="l"/>
            <a:pathLst>
              <a:path h="3841030" w="19335746">
                <a:moveTo>
                  <a:pt x="0" y="0"/>
                </a:moveTo>
                <a:lnTo>
                  <a:pt x="19335746" y="0"/>
                </a:lnTo>
                <a:lnTo>
                  <a:pt x="19335746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62311" y="1161225"/>
            <a:ext cx="5724642" cy="4815855"/>
          </a:xfrm>
          <a:custGeom>
            <a:avLst/>
            <a:gdLst/>
            <a:ahLst/>
            <a:cxnLst/>
            <a:rect r="r" b="b" t="t" l="l"/>
            <a:pathLst>
              <a:path h="4815855" w="5724642">
                <a:moveTo>
                  <a:pt x="0" y="0"/>
                </a:moveTo>
                <a:lnTo>
                  <a:pt x="5724642" y="0"/>
                </a:lnTo>
                <a:lnTo>
                  <a:pt x="5724642" y="4815854"/>
                </a:lnTo>
                <a:lnTo>
                  <a:pt x="0" y="48158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9148" y="1754903"/>
            <a:ext cx="6480349" cy="10171978"/>
          </a:xfrm>
          <a:custGeom>
            <a:avLst/>
            <a:gdLst/>
            <a:ahLst/>
            <a:cxnLst/>
            <a:rect r="r" b="b" t="t" l="l"/>
            <a:pathLst>
              <a:path h="10171978" w="6480349">
                <a:moveTo>
                  <a:pt x="0" y="0"/>
                </a:moveTo>
                <a:lnTo>
                  <a:pt x="6480349" y="0"/>
                </a:lnTo>
                <a:lnTo>
                  <a:pt x="6480349" y="10171978"/>
                </a:lnTo>
                <a:lnTo>
                  <a:pt x="0" y="101719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079210">
            <a:off x="-10427043" y="1439670"/>
            <a:ext cx="19335746" cy="3841030"/>
          </a:xfrm>
          <a:custGeom>
            <a:avLst/>
            <a:gdLst/>
            <a:ahLst/>
            <a:cxnLst/>
            <a:rect r="r" b="b" t="t" l="l"/>
            <a:pathLst>
              <a:path h="3841030" w="19335746">
                <a:moveTo>
                  <a:pt x="0" y="0"/>
                </a:moveTo>
                <a:lnTo>
                  <a:pt x="19335746" y="0"/>
                </a:lnTo>
                <a:lnTo>
                  <a:pt x="19335746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9343" y="6434645"/>
            <a:ext cx="705936" cy="593869"/>
          </a:xfrm>
          <a:custGeom>
            <a:avLst/>
            <a:gdLst/>
            <a:ahLst/>
            <a:cxnLst/>
            <a:rect r="r" b="b" t="t" l="l"/>
            <a:pathLst>
              <a:path h="593869" w="705936">
                <a:moveTo>
                  <a:pt x="0" y="0"/>
                </a:moveTo>
                <a:lnTo>
                  <a:pt x="705936" y="0"/>
                </a:lnTo>
                <a:lnTo>
                  <a:pt x="705936" y="593869"/>
                </a:lnTo>
                <a:lnTo>
                  <a:pt x="0" y="5938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303561" y="6348996"/>
            <a:ext cx="705936" cy="593869"/>
          </a:xfrm>
          <a:custGeom>
            <a:avLst/>
            <a:gdLst/>
            <a:ahLst/>
            <a:cxnLst/>
            <a:rect r="r" b="b" t="t" l="l"/>
            <a:pathLst>
              <a:path h="593869" w="705936">
                <a:moveTo>
                  <a:pt x="0" y="0"/>
                </a:moveTo>
                <a:lnTo>
                  <a:pt x="705936" y="0"/>
                </a:lnTo>
                <a:lnTo>
                  <a:pt x="705936" y="593869"/>
                </a:lnTo>
                <a:lnTo>
                  <a:pt x="0" y="5938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60440" y="8271163"/>
            <a:ext cx="705936" cy="593869"/>
          </a:xfrm>
          <a:custGeom>
            <a:avLst/>
            <a:gdLst/>
            <a:ahLst/>
            <a:cxnLst/>
            <a:rect r="r" b="b" t="t" l="l"/>
            <a:pathLst>
              <a:path h="593869" w="705936">
                <a:moveTo>
                  <a:pt x="0" y="0"/>
                </a:moveTo>
                <a:lnTo>
                  <a:pt x="705936" y="0"/>
                </a:lnTo>
                <a:lnTo>
                  <a:pt x="705936" y="593869"/>
                </a:lnTo>
                <a:lnTo>
                  <a:pt x="0" y="5938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064937" y="1983503"/>
            <a:ext cx="3076621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4"/>
              </a:lnSpc>
            </a:pPr>
            <a:r>
              <a:rPr lang="en-US" sz="8499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Visión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673539" y="3223295"/>
            <a:ext cx="7322860" cy="5898115"/>
            <a:chOff x="0" y="0"/>
            <a:chExt cx="9763813" cy="786415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763813" cy="7864153"/>
              <a:chOff x="0" y="0"/>
              <a:chExt cx="3432183" cy="276441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432184" cy="2764413"/>
              </a:xfrm>
              <a:custGeom>
                <a:avLst/>
                <a:gdLst/>
                <a:ahLst/>
                <a:cxnLst/>
                <a:rect r="r" b="b" t="t" l="l"/>
                <a:pathLst>
                  <a:path h="2764413" w="3432184">
                    <a:moveTo>
                      <a:pt x="3105132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1393681"/>
                    </a:cubicBezTo>
                    <a:cubicBezTo>
                      <a:pt x="0" y="2439382"/>
                      <a:pt x="66279" y="2534523"/>
                      <a:pt x="162037" y="2578665"/>
                    </a:cubicBezTo>
                    <a:lnTo>
                      <a:pt x="162037" y="2764413"/>
                    </a:lnTo>
                    <a:lnTo>
                      <a:pt x="353844" y="2604946"/>
                    </a:lnTo>
                    <a:lnTo>
                      <a:pt x="3105132" y="2604946"/>
                    </a:lnTo>
                    <a:cubicBezTo>
                      <a:pt x="3305746" y="2604946"/>
                      <a:pt x="3432184" y="2481433"/>
                      <a:pt x="3432184" y="1393343"/>
                    </a:cubicBezTo>
                    <a:cubicBezTo>
                      <a:pt x="3432195" y="123512"/>
                      <a:pt x="3305746" y="0"/>
                      <a:pt x="3105132" y="0"/>
                    </a:cubicBezTo>
                    <a:close/>
                  </a:path>
                </a:pathLst>
              </a:custGeom>
              <a:solidFill>
                <a:srgbClr val="FDFAE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3432183" cy="263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707382" y="805339"/>
              <a:ext cx="8349049" cy="6138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2856AD"/>
                  </a:solidFill>
                  <a:latin typeface="Sniglet"/>
                  <a:ea typeface="Sniglet"/>
                  <a:cs typeface="Sniglet"/>
                  <a:sym typeface="Sniglet"/>
                </a:rPr>
                <a:t>Convertir a MundiPets en una plataforma digital confiable que facilite la adopción y la cruza responsable de mascotas, centralizando información relevante y conectando de manera segura a propietarios, adoptantes, refugios, interesados en cruza y profesionales veterinarios.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0003" y="649939"/>
            <a:ext cx="2770337" cy="378761"/>
            <a:chOff x="0" y="0"/>
            <a:chExt cx="3693782" cy="50501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491061" y="3569152"/>
            <a:ext cx="705936" cy="593869"/>
          </a:xfrm>
          <a:custGeom>
            <a:avLst/>
            <a:gdLst/>
            <a:ahLst/>
            <a:cxnLst/>
            <a:rect r="r" b="b" t="t" l="l"/>
            <a:pathLst>
              <a:path h="593869" w="705936">
                <a:moveTo>
                  <a:pt x="0" y="0"/>
                </a:moveTo>
                <a:lnTo>
                  <a:pt x="705937" y="0"/>
                </a:lnTo>
                <a:lnTo>
                  <a:pt x="705937" y="593869"/>
                </a:lnTo>
                <a:lnTo>
                  <a:pt x="0" y="5938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47360" y="2267884"/>
            <a:ext cx="10313056" cy="2118864"/>
          </a:xfrm>
          <a:custGeom>
            <a:avLst/>
            <a:gdLst/>
            <a:ahLst/>
            <a:cxnLst/>
            <a:rect r="r" b="b" t="t" l="l"/>
            <a:pathLst>
              <a:path h="2118864" w="10313056">
                <a:moveTo>
                  <a:pt x="0" y="0"/>
                </a:moveTo>
                <a:lnTo>
                  <a:pt x="10313055" y="0"/>
                </a:lnTo>
                <a:lnTo>
                  <a:pt x="10313055" y="2118864"/>
                </a:lnTo>
                <a:lnTo>
                  <a:pt x="0" y="21188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53856">
            <a:off x="13579498" y="-1461050"/>
            <a:ext cx="5760414" cy="2922101"/>
          </a:xfrm>
          <a:custGeom>
            <a:avLst/>
            <a:gdLst/>
            <a:ahLst/>
            <a:cxnLst/>
            <a:rect r="r" b="b" t="t" l="l"/>
            <a:pathLst>
              <a:path h="2922101" w="5760414">
                <a:moveTo>
                  <a:pt x="0" y="0"/>
                </a:moveTo>
                <a:lnTo>
                  <a:pt x="5760414" y="0"/>
                </a:lnTo>
                <a:lnTo>
                  <a:pt x="5760414" y="2922100"/>
                </a:lnTo>
                <a:lnTo>
                  <a:pt x="0" y="2922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20216" y="5649644"/>
            <a:ext cx="5322544" cy="3009656"/>
          </a:xfrm>
          <a:custGeom>
            <a:avLst/>
            <a:gdLst/>
            <a:ahLst/>
            <a:cxnLst/>
            <a:rect r="r" b="b" t="t" l="l"/>
            <a:pathLst>
              <a:path h="3009656" w="5322544">
                <a:moveTo>
                  <a:pt x="0" y="0"/>
                </a:moveTo>
                <a:lnTo>
                  <a:pt x="5322543" y="0"/>
                </a:lnTo>
                <a:lnTo>
                  <a:pt x="5322543" y="3009657"/>
                </a:lnTo>
                <a:lnTo>
                  <a:pt x="0" y="30096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003270" y="1874976"/>
            <a:ext cx="5348277" cy="7100032"/>
          </a:xfrm>
          <a:custGeom>
            <a:avLst/>
            <a:gdLst/>
            <a:ahLst/>
            <a:cxnLst/>
            <a:rect r="r" b="b" t="t" l="l"/>
            <a:pathLst>
              <a:path h="7100032" w="5348277">
                <a:moveTo>
                  <a:pt x="0" y="0"/>
                </a:moveTo>
                <a:lnTo>
                  <a:pt x="5348277" y="0"/>
                </a:lnTo>
                <a:lnTo>
                  <a:pt x="5348277" y="7100032"/>
                </a:lnTo>
                <a:lnTo>
                  <a:pt x="0" y="71000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854326"/>
            <a:ext cx="7013225" cy="307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80"/>
              </a:lnSpc>
            </a:pPr>
            <a:r>
              <a:rPr lang="en-US" sz="3000">
                <a:solidFill>
                  <a:srgbClr val="2856AD"/>
                </a:solidFill>
                <a:latin typeface="Sniglet"/>
                <a:ea typeface="Sniglet"/>
                <a:cs typeface="Sniglet"/>
                <a:sym typeface="Sniglet"/>
              </a:rPr>
              <a:t>MundiPets comprende el desarrollo de una plataforma digital orientada a facilitar procesos de adopción y cruza responsable de mascotas, centralizando su información y conectando a los diferentes actores involucrados.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174097" y="7277344"/>
            <a:ext cx="5322544" cy="3009656"/>
          </a:xfrm>
          <a:custGeom>
            <a:avLst/>
            <a:gdLst/>
            <a:ahLst/>
            <a:cxnLst/>
            <a:rect r="r" b="b" t="t" l="l"/>
            <a:pathLst>
              <a:path h="3009656" w="5322544">
                <a:moveTo>
                  <a:pt x="0" y="0"/>
                </a:moveTo>
                <a:lnTo>
                  <a:pt x="5322543" y="0"/>
                </a:lnTo>
                <a:lnTo>
                  <a:pt x="5322543" y="3009656"/>
                </a:lnTo>
                <a:lnTo>
                  <a:pt x="0" y="30096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44469" y="6163327"/>
            <a:ext cx="529336" cy="502388"/>
          </a:xfrm>
          <a:custGeom>
            <a:avLst/>
            <a:gdLst/>
            <a:ahLst/>
            <a:cxnLst/>
            <a:rect r="r" b="b" t="t" l="l"/>
            <a:pathLst>
              <a:path h="502388" w="529336">
                <a:moveTo>
                  <a:pt x="0" y="0"/>
                </a:moveTo>
                <a:lnTo>
                  <a:pt x="529335" y="0"/>
                </a:lnTo>
                <a:lnTo>
                  <a:pt x="529335" y="502388"/>
                </a:lnTo>
                <a:lnTo>
                  <a:pt x="0" y="50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29964" y="4135554"/>
            <a:ext cx="529336" cy="502388"/>
          </a:xfrm>
          <a:custGeom>
            <a:avLst/>
            <a:gdLst/>
            <a:ahLst/>
            <a:cxnLst/>
            <a:rect r="r" b="b" t="t" l="l"/>
            <a:pathLst>
              <a:path h="502388" w="529336">
                <a:moveTo>
                  <a:pt x="0" y="0"/>
                </a:moveTo>
                <a:lnTo>
                  <a:pt x="529336" y="0"/>
                </a:lnTo>
                <a:lnTo>
                  <a:pt x="529336" y="502388"/>
                </a:lnTo>
                <a:lnTo>
                  <a:pt x="0" y="50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877934" y="1028700"/>
            <a:ext cx="529336" cy="502388"/>
          </a:xfrm>
          <a:custGeom>
            <a:avLst/>
            <a:gdLst/>
            <a:ahLst/>
            <a:cxnLst/>
            <a:rect r="r" b="b" t="t" l="l"/>
            <a:pathLst>
              <a:path h="502388" w="529336">
                <a:moveTo>
                  <a:pt x="0" y="0"/>
                </a:moveTo>
                <a:lnTo>
                  <a:pt x="529336" y="0"/>
                </a:lnTo>
                <a:lnTo>
                  <a:pt x="529336" y="502388"/>
                </a:lnTo>
                <a:lnTo>
                  <a:pt x="0" y="5023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97818" y="2996667"/>
            <a:ext cx="4559432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4"/>
              </a:lnSpc>
            </a:pPr>
            <a:r>
              <a:rPr lang="en-US" sz="8499" b="true">
                <a:solidFill>
                  <a:srgbClr val="FFAE34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Alcance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60872" y="901133"/>
            <a:ext cx="2770337" cy="378761"/>
            <a:chOff x="0" y="0"/>
            <a:chExt cx="3693782" cy="5050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7135" y="8755912"/>
            <a:ext cx="529336" cy="502388"/>
          </a:xfrm>
          <a:custGeom>
            <a:avLst/>
            <a:gdLst/>
            <a:ahLst/>
            <a:cxnLst/>
            <a:rect r="r" b="b" t="t" l="l"/>
            <a:pathLst>
              <a:path h="502388" w="529336">
                <a:moveTo>
                  <a:pt x="0" y="0"/>
                </a:moveTo>
                <a:lnTo>
                  <a:pt x="529336" y="0"/>
                </a:lnTo>
                <a:lnTo>
                  <a:pt x="529336" y="502388"/>
                </a:lnTo>
                <a:lnTo>
                  <a:pt x="0" y="502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76471" y="9509386"/>
            <a:ext cx="529336" cy="502388"/>
          </a:xfrm>
          <a:custGeom>
            <a:avLst/>
            <a:gdLst/>
            <a:ahLst/>
            <a:cxnLst/>
            <a:rect r="r" b="b" t="t" l="l"/>
            <a:pathLst>
              <a:path h="502388" w="529336">
                <a:moveTo>
                  <a:pt x="0" y="0"/>
                </a:moveTo>
                <a:lnTo>
                  <a:pt x="529336" y="0"/>
                </a:lnTo>
                <a:lnTo>
                  <a:pt x="529336" y="502388"/>
                </a:lnTo>
                <a:lnTo>
                  <a:pt x="0" y="502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13868" y="1917347"/>
            <a:ext cx="12882603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Contribuciones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649939"/>
            <a:ext cx="2770337" cy="378761"/>
            <a:chOff x="0" y="0"/>
            <a:chExt cx="3693782" cy="5050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413868" y="3642923"/>
            <a:ext cx="13603920" cy="4726384"/>
            <a:chOff x="0" y="0"/>
            <a:chExt cx="18138560" cy="630184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8138560" cy="6301845"/>
              <a:chOff x="0" y="0"/>
              <a:chExt cx="3582925" cy="124480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582925" cy="1244809"/>
              </a:xfrm>
              <a:custGeom>
                <a:avLst/>
                <a:gdLst/>
                <a:ahLst/>
                <a:cxnLst/>
                <a:rect r="r" b="b" t="t" l="l"/>
                <a:pathLst>
                  <a:path h="1244809" w="3582925">
                    <a:moveTo>
                      <a:pt x="19918" y="0"/>
                    </a:moveTo>
                    <a:lnTo>
                      <a:pt x="3563007" y="0"/>
                    </a:lnTo>
                    <a:cubicBezTo>
                      <a:pt x="3568290" y="0"/>
                      <a:pt x="3573356" y="2099"/>
                      <a:pt x="3577092" y="5834"/>
                    </a:cubicBezTo>
                    <a:cubicBezTo>
                      <a:pt x="3580827" y="9569"/>
                      <a:pt x="3582925" y="14636"/>
                      <a:pt x="3582925" y="19918"/>
                    </a:cubicBezTo>
                    <a:lnTo>
                      <a:pt x="3582925" y="1224891"/>
                    </a:lnTo>
                    <a:cubicBezTo>
                      <a:pt x="3582925" y="1235891"/>
                      <a:pt x="3574008" y="1244809"/>
                      <a:pt x="3563007" y="1244809"/>
                    </a:cubicBezTo>
                    <a:lnTo>
                      <a:pt x="19918" y="1244809"/>
                    </a:lnTo>
                    <a:cubicBezTo>
                      <a:pt x="8918" y="1244809"/>
                      <a:pt x="0" y="1235891"/>
                      <a:pt x="0" y="1224891"/>
                    </a:cubicBezTo>
                    <a:lnTo>
                      <a:pt x="0" y="19918"/>
                    </a:lnTo>
                    <a:cubicBezTo>
                      <a:pt x="0" y="8918"/>
                      <a:pt x="8918" y="0"/>
                      <a:pt x="19918" y="0"/>
                    </a:cubicBezTo>
                    <a:close/>
                  </a:path>
                </a:pathLst>
              </a:custGeom>
              <a:solidFill>
                <a:srgbClr val="FDFAE7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04775"/>
                <a:ext cx="3582925" cy="13495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733393" y="740105"/>
              <a:ext cx="16586887" cy="4766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080"/>
                </a:lnSpc>
                <a:buFont typeface="Arial"/>
                <a:buChar char="•"/>
              </a:pPr>
              <a:r>
                <a:rPr lang="en-US" sz="3000">
                  <a:solidFill>
                    <a:srgbClr val="2856AD"/>
                  </a:solidFill>
                  <a:latin typeface="Sniglet"/>
                  <a:ea typeface="Sniglet"/>
                  <a:cs typeface="Sniglet"/>
                  <a:sym typeface="Sniglet"/>
                </a:rPr>
                <a:t>Comparación cuantificada entre un detector de ambigüedad basado en reglas y el consenso ciego de tres expertos, sobre un corpus completo de requisitos en español.</a:t>
              </a:r>
            </a:p>
            <a:p>
              <a:pPr algn="l" marL="647700" indent="-323850" lvl="1">
                <a:lnSpc>
                  <a:spcPts val="4080"/>
                </a:lnSpc>
                <a:buFont typeface="Arial"/>
                <a:buChar char="•"/>
              </a:pPr>
              <a:r>
                <a:rPr lang="en-US" sz="3000">
                  <a:solidFill>
                    <a:srgbClr val="2856AD"/>
                  </a:solidFill>
                  <a:latin typeface="Sniglet"/>
                  <a:ea typeface="Sniglet"/>
                  <a:cs typeface="Sniglet"/>
                  <a:sym typeface="Sniglet"/>
                </a:rPr>
                <a:t>Caracterización de los patrones de desacuerdo entre la clasificación automática y la humana.</a:t>
              </a:r>
            </a:p>
            <a:p>
              <a:pPr algn="l" marL="647700" indent="-323850" lvl="1">
                <a:lnSpc>
                  <a:spcPts val="4080"/>
                </a:lnSpc>
                <a:buFont typeface="Arial"/>
                <a:buChar char="•"/>
              </a:pPr>
              <a:r>
                <a:rPr lang="en-US" sz="3000">
                  <a:solidFill>
                    <a:srgbClr val="2856AD"/>
                  </a:solidFill>
                  <a:latin typeface="Sniglet"/>
                  <a:ea typeface="Sniglet"/>
                  <a:cs typeface="Sniglet"/>
                  <a:sym typeface="Sniglet"/>
                </a:rPr>
                <a:t>Paquete de réplica abierto (corpus, salidas, protocolo preregistrado) bajo licencia CC BY 4.0.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574917" y="181399"/>
            <a:ext cx="2713083" cy="2154413"/>
            <a:chOff x="0" y="0"/>
            <a:chExt cx="3617444" cy="2872550"/>
          </a:xfrm>
        </p:grpSpPr>
        <p:sp>
          <p:nvSpPr>
            <p:cNvPr name="Freeform 15" id="15"/>
            <p:cNvSpPr/>
            <p:nvPr/>
          </p:nvSpPr>
          <p:spPr>
            <a:xfrm flipH="false" flipV="false" rot="1964618">
              <a:off x="1816371" y="1287451"/>
              <a:ext cx="1587685" cy="1255473"/>
            </a:xfrm>
            <a:custGeom>
              <a:avLst/>
              <a:gdLst/>
              <a:ahLst/>
              <a:cxnLst/>
              <a:rect r="r" b="b" t="t" l="l"/>
              <a:pathLst>
                <a:path h="1255473" w="1587685">
                  <a:moveTo>
                    <a:pt x="0" y="0"/>
                  </a:moveTo>
                  <a:lnTo>
                    <a:pt x="1587685" y="0"/>
                  </a:lnTo>
                  <a:lnTo>
                    <a:pt x="1587685" y="1255473"/>
                  </a:lnTo>
                  <a:lnTo>
                    <a:pt x="0" y="1255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1084807">
              <a:off x="148339" y="205297"/>
              <a:ext cx="1513418" cy="1196747"/>
            </a:xfrm>
            <a:custGeom>
              <a:avLst/>
              <a:gdLst/>
              <a:ahLst/>
              <a:cxnLst/>
              <a:rect r="r" b="b" t="t" l="l"/>
              <a:pathLst>
                <a:path h="1196747" w="1513418">
                  <a:moveTo>
                    <a:pt x="0" y="0"/>
                  </a:moveTo>
                  <a:lnTo>
                    <a:pt x="1513419" y="0"/>
                  </a:lnTo>
                  <a:lnTo>
                    <a:pt x="1513419" y="1196746"/>
                  </a:lnTo>
                  <a:lnTo>
                    <a:pt x="0" y="1196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83872">
            <a:off x="-1516825" y="7997991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3" y="0"/>
                </a:lnTo>
                <a:lnTo>
                  <a:pt x="3951963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0963" y="3983663"/>
            <a:ext cx="5197575" cy="1067865"/>
            <a:chOff x="0" y="0"/>
            <a:chExt cx="6930100" cy="14238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30100" cy="1423821"/>
            </a:xfrm>
            <a:custGeom>
              <a:avLst/>
              <a:gdLst/>
              <a:ahLst/>
              <a:cxnLst/>
              <a:rect r="r" b="b" t="t" l="l"/>
              <a:pathLst>
                <a:path h="1423821" w="6930100">
                  <a:moveTo>
                    <a:pt x="0" y="0"/>
                  </a:moveTo>
                  <a:lnTo>
                    <a:pt x="6930100" y="0"/>
                  </a:lnTo>
                  <a:lnTo>
                    <a:pt x="6930100" y="1423821"/>
                  </a:lnTo>
                  <a:lnTo>
                    <a:pt x="0" y="142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500236" y="363646"/>
              <a:ext cx="5929629" cy="652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080"/>
                </a:lnSpc>
              </a:pPr>
              <a:r>
                <a:rPr lang="en-US" sz="3000">
                  <a:solidFill>
                    <a:srgbClr val="FFAE34"/>
                  </a:solidFill>
                  <a:latin typeface="Sniglet"/>
                  <a:ea typeface="Sniglet"/>
                  <a:cs typeface="Sniglet"/>
                  <a:sym typeface="Sniglet"/>
                </a:rPr>
                <a:t>Propietarios de mascota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30536" y="3903465"/>
            <a:ext cx="5197575" cy="1067865"/>
            <a:chOff x="0" y="0"/>
            <a:chExt cx="6930100" cy="14238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30100" cy="1423821"/>
            </a:xfrm>
            <a:custGeom>
              <a:avLst/>
              <a:gdLst/>
              <a:ahLst/>
              <a:cxnLst/>
              <a:rect r="r" b="b" t="t" l="l"/>
              <a:pathLst>
                <a:path h="1423821" w="6930100">
                  <a:moveTo>
                    <a:pt x="0" y="0"/>
                  </a:moveTo>
                  <a:lnTo>
                    <a:pt x="6930100" y="0"/>
                  </a:lnTo>
                  <a:lnTo>
                    <a:pt x="6930100" y="1423821"/>
                  </a:lnTo>
                  <a:lnTo>
                    <a:pt x="0" y="142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500236" y="363646"/>
              <a:ext cx="5929629" cy="652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AE34"/>
                  </a:solidFill>
                  <a:latin typeface="Sniglet"/>
                  <a:ea typeface="Sniglet"/>
                  <a:cs typeface="Sniglet"/>
                  <a:sym typeface="Sniglet"/>
                </a:rPr>
                <a:t>Adoptantes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495547" y="4075635"/>
            <a:ext cx="5100573" cy="1067865"/>
            <a:chOff x="0" y="0"/>
            <a:chExt cx="6800763" cy="14238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00763" cy="1423821"/>
            </a:xfrm>
            <a:custGeom>
              <a:avLst/>
              <a:gdLst/>
              <a:ahLst/>
              <a:cxnLst/>
              <a:rect r="r" b="b" t="t" l="l"/>
              <a:pathLst>
                <a:path h="1423821" w="6800763">
                  <a:moveTo>
                    <a:pt x="0" y="0"/>
                  </a:moveTo>
                  <a:lnTo>
                    <a:pt x="6800763" y="0"/>
                  </a:lnTo>
                  <a:lnTo>
                    <a:pt x="6800763" y="1423821"/>
                  </a:lnTo>
                  <a:lnTo>
                    <a:pt x="0" y="142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950" t="0" r="-95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490900" y="363646"/>
              <a:ext cx="5818964" cy="652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AE34"/>
                  </a:solidFill>
                  <a:latin typeface="Sniglet"/>
                  <a:ea typeface="Sniglet"/>
                  <a:cs typeface="Sniglet"/>
                  <a:sym typeface="Sniglet"/>
                </a:rPr>
                <a:t>Interesados en cruza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6673" y="7060417"/>
            <a:ext cx="5012224" cy="1067865"/>
            <a:chOff x="0" y="0"/>
            <a:chExt cx="6682965" cy="14238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82965" cy="1423821"/>
            </a:xfrm>
            <a:custGeom>
              <a:avLst/>
              <a:gdLst/>
              <a:ahLst/>
              <a:cxnLst/>
              <a:rect r="r" b="b" t="t" l="l"/>
              <a:pathLst>
                <a:path h="1423821" w="6682965">
                  <a:moveTo>
                    <a:pt x="0" y="0"/>
                  </a:moveTo>
                  <a:lnTo>
                    <a:pt x="6682965" y="0"/>
                  </a:lnTo>
                  <a:lnTo>
                    <a:pt x="6682965" y="1423821"/>
                  </a:lnTo>
                  <a:lnTo>
                    <a:pt x="0" y="142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848" t="0" r="-1848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482397" y="363646"/>
              <a:ext cx="5718172" cy="652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AE34"/>
                  </a:solidFill>
                  <a:latin typeface="Sniglet"/>
                  <a:ea typeface="Sniglet"/>
                  <a:cs typeface="Sniglet"/>
                  <a:sym typeface="Sniglet"/>
                </a:rPr>
                <a:t>Clinicas Veterinarias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494602" y="7060417"/>
            <a:ext cx="5197575" cy="1067865"/>
            <a:chOff x="0" y="0"/>
            <a:chExt cx="6930100" cy="14238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30100" cy="1423821"/>
            </a:xfrm>
            <a:custGeom>
              <a:avLst/>
              <a:gdLst/>
              <a:ahLst/>
              <a:cxnLst/>
              <a:rect r="r" b="b" t="t" l="l"/>
              <a:pathLst>
                <a:path h="1423821" w="6930100">
                  <a:moveTo>
                    <a:pt x="0" y="0"/>
                  </a:moveTo>
                  <a:lnTo>
                    <a:pt x="6930100" y="0"/>
                  </a:lnTo>
                  <a:lnTo>
                    <a:pt x="6930100" y="1423821"/>
                  </a:lnTo>
                  <a:lnTo>
                    <a:pt x="0" y="1423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500236" y="363646"/>
              <a:ext cx="5929629" cy="652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AE34"/>
                  </a:solidFill>
                  <a:latin typeface="Sniglet"/>
                  <a:ea typeface="Sniglet"/>
                  <a:cs typeface="Sniglet"/>
                  <a:sym typeface="Sniglet"/>
                </a:rPr>
                <a:t>Refugios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8405" y="433696"/>
            <a:ext cx="2770337" cy="378761"/>
            <a:chOff x="0" y="0"/>
            <a:chExt cx="3693782" cy="5050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494602" y="1873172"/>
            <a:ext cx="11804295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4"/>
              </a:lnSpc>
            </a:pPr>
            <a:r>
              <a:rPr lang="en-US" sz="8499" b="true">
                <a:solidFill>
                  <a:srgbClr val="2856AD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Sistema y stakeholders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8405" y="5246405"/>
            <a:ext cx="4150428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Publ</a:t>
            </a: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ican y gestionan el perfil de su mascota.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47630" y="5246405"/>
            <a:ext cx="4763387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Bus</a:t>
            </a: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can y solicitan procesos de adopción.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06855" y="5246405"/>
            <a:ext cx="4763387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Co</a:t>
            </a: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ordinan encuentros supervisados.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646147" y="8302643"/>
            <a:ext cx="4763387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Publ</a:t>
            </a: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ican animales bajo su cuidado.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2447" y="8404508"/>
            <a:ext cx="4763387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Val</a:t>
            </a:r>
            <a:r>
              <a:rPr lang="en-US" sz="3000">
                <a:solidFill>
                  <a:srgbClr val="FFFCE8"/>
                </a:solidFill>
                <a:latin typeface="Sniglet"/>
                <a:ea typeface="Sniglet"/>
                <a:cs typeface="Sniglet"/>
                <a:sym typeface="Sniglet"/>
              </a:rPr>
              <a:t>idan el estado sanitario.</a:t>
            </a:r>
          </a:p>
          <a:p>
            <a:pPr algn="ctr">
              <a:lnSpc>
                <a:spcPts val="4080"/>
              </a:lnSpc>
            </a:pPr>
          </a:p>
        </p:txBody>
      </p:sp>
      <p:sp>
        <p:nvSpPr>
          <p:cNvPr name="Freeform 28" id="28"/>
          <p:cNvSpPr/>
          <p:nvPr/>
        </p:nvSpPr>
        <p:spPr>
          <a:xfrm flipH="false" flipV="false" rot="-420970">
            <a:off x="15791034" y="98733"/>
            <a:ext cx="3158416" cy="2657017"/>
          </a:xfrm>
          <a:custGeom>
            <a:avLst/>
            <a:gdLst/>
            <a:ahLst/>
            <a:cxnLst/>
            <a:rect r="r" b="b" t="t" l="l"/>
            <a:pathLst>
              <a:path h="2657017" w="3158416">
                <a:moveTo>
                  <a:pt x="0" y="0"/>
                </a:moveTo>
                <a:lnTo>
                  <a:pt x="3158416" y="0"/>
                </a:lnTo>
                <a:lnTo>
                  <a:pt x="3158416" y="2657017"/>
                </a:lnTo>
                <a:lnTo>
                  <a:pt x="0" y="2657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2740" y="1238929"/>
            <a:ext cx="2629958" cy="2128868"/>
            <a:chOff x="0" y="0"/>
            <a:chExt cx="3506610" cy="2838491"/>
          </a:xfrm>
        </p:grpSpPr>
        <p:sp>
          <p:nvSpPr>
            <p:cNvPr name="Freeform 4" id="4"/>
            <p:cNvSpPr/>
            <p:nvPr/>
          </p:nvSpPr>
          <p:spPr>
            <a:xfrm flipH="false" flipV="false" rot="1490239">
              <a:off x="163379" y="1150111"/>
              <a:ext cx="2253202" cy="1274083"/>
            </a:xfrm>
            <a:custGeom>
              <a:avLst/>
              <a:gdLst/>
              <a:ahLst/>
              <a:cxnLst/>
              <a:rect r="r" b="b" t="t" l="l"/>
              <a:pathLst>
                <a:path h="1274083" w="2253202">
                  <a:moveTo>
                    <a:pt x="0" y="0"/>
                  </a:moveTo>
                  <a:lnTo>
                    <a:pt x="2253202" y="0"/>
                  </a:lnTo>
                  <a:lnTo>
                    <a:pt x="2253202" y="1274083"/>
                  </a:lnTo>
                  <a:lnTo>
                    <a:pt x="0" y="1274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1388864">
              <a:off x="550046" y="493858"/>
              <a:ext cx="2796589" cy="1386642"/>
            </a:xfrm>
            <a:custGeom>
              <a:avLst/>
              <a:gdLst/>
              <a:ahLst/>
              <a:cxnLst/>
              <a:rect r="r" b="b" t="t" l="l"/>
              <a:pathLst>
                <a:path h="1386642" w="2796589">
                  <a:moveTo>
                    <a:pt x="0" y="0"/>
                  </a:moveTo>
                  <a:lnTo>
                    <a:pt x="2796588" y="0"/>
                  </a:lnTo>
                  <a:lnTo>
                    <a:pt x="2796588" y="1386642"/>
                  </a:lnTo>
                  <a:lnTo>
                    <a:pt x="0" y="1386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843991" y="958694"/>
            <a:ext cx="2538109" cy="2409104"/>
            <a:chOff x="0" y="0"/>
            <a:chExt cx="3384145" cy="3212138"/>
          </a:xfrm>
        </p:grpSpPr>
        <p:sp>
          <p:nvSpPr>
            <p:cNvPr name="Freeform 7" id="7"/>
            <p:cNvSpPr/>
            <p:nvPr/>
          </p:nvSpPr>
          <p:spPr>
            <a:xfrm flipH="false" flipV="false" rot="-1033563">
              <a:off x="365329" y="1485512"/>
              <a:ext cx="2463640" cy="1393076"/>
            </a:xfrm>
            <a:custGeom>
              <a:avLst/>
              <a:gdLst/>
              <a:ahLst/>
              <a:cxnLst/>
              <a:rect r="r" b="b" t="t" l="l"/>
              <a:pathLst>
                <a:path h="1393076" w="2463640">
                  <a:moveTo>
                    <a:pt x="0" y="0"/>
                  </a:moveTo>
                  <a:lnTo>
                    <a:pt x="2463639" y="0"/>
                  </a:lnTo>
                  <a:lnTo>
                    <a:pt x="2463639" y="1393076"/>
                  </a:lnTo>
                  <a:lnTo>
                    <a:pt x="0" y="1393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1134938">
              <a:off x="163184" y="454690"/>
              <a:ext cx="3057776" cy="1516147"/>
            </a:xfrm>
            <a:custGeom>
              <a:avLst/>
              <a:gdLst/>
              <a:ahLst/>
              <a:cxnLst/>
              <a:rect r="r" b="b" t="t" l="l"/>
              <a:pathLst>
                <a:path h="1516147" w="3057776">
                  <a:moveTo>
                    <a:pt x="0" y="0"/>
                  </a:moveTo>
                  <a:lnTo>
                    <a:pt x="3057776" y="0"/>
                  </a:lnTo>
                  <a:lnTo>
                    <a:pt x="3057776" y="1516147"/>
                  </a:lnTo>
                  <a:lnTo>
                    <a:pt x="0" y="1516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1983271">
            <a:off x="-1701816" y="6609991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3" y="0"/>
                </a:lnTo>
                <a:lnTo>
                  <a:pt x="3951963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083474">
            <a:off x="17097563" y="2030629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3" y="0"/>
                </a:lnTo>
                <a:lnTo>
                  <a:pt x="3951963" y="3324588"/>
                </a:lnTo>
                <a:lnTo>
                  <a:pt x="0" y="3324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51846" y="661343"/>
            <a:ext cx="2770337" cy="378761"/>
            <a:chOff x="0" y="0"/>
            <a:chExt cx="3693782" cy="5050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702698" y="1079323"/>
            <a:ext cx="12882603" cy="204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Metodología del componente empírico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36503" y="3367798"/>
            <a:ext cx="9465585" cy="6503932"/>
            <a:chOff x="0" y="0"/>
            <a:chExt cx="12620780" cy="867191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2620780" cy="8671910"/>
              <a:chOff x="0" y="0"/>
              <a:chExt cx="2492994" cy="171297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492994" cy="1712970"/>
              </a:xfrm>
              <a:custGeom>
                <a:avLst/>
                <a:gdLst/>
                <a:ahLst/>
                <a:cxnLst/>
                <a:rect r="r" b="b" t="t" l="l"/>
                <a:pathLst>
                  <a:path h="1712970" w="2492994">
                    <a:moveTo>
                      <a:pt x="28627" y="0"/>
                    </a:moveTo>
                    <a:lnTo>
                      <a:pt x="2464367" y="0"/>
                    </a:lnTo>
                    <a:cubicBezTo>
                      <a:pt x="2480177" y="0"/>
                      <a:pt x="2492994" y="12817"/>
                      <a:pt x="2492994" y="28627"/>
                    </a:cubicBezTo>
                    <a:lnTo>
                      <a:pt x="2492994" y="1684343"/>
                    </a:lnTo>
                    <a:cubicBezTo>
                      <a:pt x="2492994" y="1691935"/>
                      <a:pt x="2489978" y="1699217"/>
                      <a:pt x="2484609" y="1704585"/>
                    </a:cubicBezTo>
                    <a:cubicBezTo>
                      <a:pt x="2479241" y="1709954"/>
                      <a:pt x="2471959" y="1712970"/>
                      <a:pt x="2464367" y="1712970"/>
                    </a:cubicBezTo>
                    <a:lnTo>
                      <a:pt x="28627" y="1712970"/>
                    </a:lnTo>
                    <a:cubicBezTo>
                      <a:pt x="21034" y="1712970"/>
                      <a:pt x="13753" y="1709954"/>
                      <a:pt x="8385" y="1704585"/>
                    </a:cubicBezTo>
                    <a:cubicBezTo>
                      <a:pt x="3016" y="1699217"/>
                      <a:pt x="0" y="1691935"/>
                      <a:pt x="0" y="1684343"/>
                    </a:cubicBezTo>
                    <a:lnTo>
                      <a:pt x="0" y="28627"/>
                    </a:lnTo>
                    <a:cubicBezTo>
                      <a:pt x="0" y="21034"/>
                      <a:pt x="3016" y="13753"/>
                      <a:pt x="8385" y="8385"/>
                    </a:cubicBezTo>
                    <a:cubicBezTo>
                      <a:pt x="13753" y="3016"/>
                      <a:pt x="21034" y="0"/>
                      <a:pt x="2862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04775"/>
                <a:ext cx="2492994" cy="18177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71472" y="611402"/>
              <a:ext cx="11849155" cy="759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21" indent="-302261" lvl="1">
                <a:lnSpc>
                  <a:spcPts val="3808"/>
                </a:lnSpc>
                <a:buFont typeface="Arial"/>
                <a:buChar char="•"/>
              </a:pPr>
              <a:r>
                <a:rPr lang="en-US" sz="2800">
                  <a:solidFill>
                    <a:srgbClr val="0D3889"/>
                  </a:solidFill>
                  <a:latin typeface="Sniglet"/>
                  <a:ea typeface="Sniglet"/>
                  <a:cs typeface="Sniglet"/>
                  <a:sym typeface="Sniglet"/>
                </a:rPr>
                <a:t>Diseño: cuasi-experimento pareado, preregistrado en OSF (osf.io/khyf2) el 27 de julio de 2026, antes de ejecutar el detector.</a:t>
              </a:r>
            </a:p>
            <a:p>
              <a:pPr algn="l" marL="604521" indent="-302261" lvl="1">
                <a:lnSpc>
                  <a:spcPts val="3808"/>
                </a:lnSpc>
                <a:buFont typeface="Arial"/>
                <a:buChar char="•"/>
              </a:pPr>
              <a:r>
                <a:rPr lang="en-US" sz="2800">
                  <a:solidFill>
                    <a:srgbClr val="0D3889"/>
                  </a:solidFill>
                  <a:latin typeface="Sniglet"/>
                  <a:ea typeface="Sniglet"/>
                  <a:cs typeface="Sniglet"/>
                  <a:sym typeface="Sniglet"/>
                </a:rPr>
                <a:t>Comparación: detector automático basado en reglas vs. consenso ciego de 3 expertos en Ingeniería de Requisitos.</a:t>
              </a:r>
            </a:p>
            <a:p>
              <a:pPr algn="l" marL="604521" indent="-302261" lvl="1">
                <a:lnSpc>
                  <a:spcPts val="3808"/>
                </a:lnSpc>
                <a:buFont typeface="Arial"/>
                <a:buChar char="•"/>
              </a:pPr>
              <a:r>
                <a:rPr lang="en-US" sz="2800">
                  <a:solidFill>
                    <a:srgbClr val="0D3889"/>
                  </a:solidFill>
                  <a:latin typeface="Sniglet"/>
                  <a:ea typeface="Sniglet"/>
                  <a:cs typeface="Sniglet"/>
                  <a:sym typeface="Sniglet"/>
                </a:rPr>
                <a:t>Población evaluada: 27 RF + 16 RNF + 9 RD + 9 requisitos legales (RL) del sistema MundiPets — 61 requisitos en total.</a:t>
              </a:r>
            </a:p>
            <a:p>
              <a:pPr algn="l" marL="604521" indent="-302261" lvl="1">
                <a:lnSpc>
                  <a:spcPts val="3808"/>
                </a:lnSpc>
                <a:buFont typeface="Arial"/>
                <a:buChar char="•"/>
              </a:pPr>
              <a:r>
                <a:rPr lang="en-US" sz="2800">
                  <a:solidFill>
                    <a:srgbClr val="0D3889"/>
                  </a:solidFill>
                  <a:latin typeface="Sniglet"/>
                  <a:ea typeface="Sniglet"/>
                  <a:cs typeface="Sniglet"/>
                  <a:sym typeface="Sniglet"/>
                </a:rPr>
                <a:t>H0: el acuerdo detector–expertos no supera el azar (κ = 0). H1: el acuerdo es significativamente mayor al azar (κ &gt; 0).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666661" y="3367798"/>
            <a:ext cx="6592639" cy="6503932"/>
            <a:chOff x="0" y="0"/>
            <a:chExt cx="8790185" cy="867191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8790185" cy="8671910"/>
              <a:chOff x="0" y="0"/>
              <a:chExt cx="1736333" cy="17129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736333" cy="1712970"/>
              </a:xfrm>
              <a:custGeom>
                <a:avLst/>
                <a:gdLst/>
                <a:ahLst/>
                <a:cxnLst/>
                <a:rect r="r" b="b" t="t" l="l"/>
                <a:pathLst>
                  <a:path h="1712970" w="1736333">
                    <a:moveTo>
                      <a:pt x="41101" y="0"/>
                    </a:moveTo>
                    <a:lnTo>
                      <a:pt x="1695231" y="0"/>
                    </a:lnTo>
                    <a:cubicBezTo>
                      <a:pt x="1717931" y="0"/>
                      <a:pt x="1736333" y="18402"/>
                      <a:pt x="1736333" y="41101"/>
                    </a:cubicBezTo>
                    <a:lnTo>
                      <a:pt x="1736333" y="1671868"/>
                    </a:lnTo>
                    <a:cubicBezTo>
                      <a:pt x="1736333" y="1682769"/>
                      <a:pt x="1732002" y="1693224"/>
                      <a:pt x="1724294" y="1700931"/>
                    </a:cubicBezTo>
                    <a:cubicBezTo>
                      <a:pt x="1716587" y="1708640"/>
                      <a:pt x="1706132" y="1712970"/>
                      <a:pt x="1695231" y="1712970"/>
                    </a:cubicBezTo>
                    <a:lnTo>
                      <a:pt x="41101" y="1712970"/>
                    </a:lnTo>
                    <a:cubicBezTo>
                      <a:pt x="30201" y="1712970"/>
                      <a:pt x="19746" y="1708640"/>
                      <a:pt x="12038" y="1700931"/>
                    </a:cubicBezTo>
                    <a:cubicBezTo>
                      <a:pt x="4330" y="1693224"/>
                      <a:pt x="0" y="1682769"/>
                      <a:pt x="0" y="1671868"/>
                    </a:cubicBezTo>
                    <a:lnTo>
                      <a:pt x="0" y="41101"/>
                    </a:lnTo>
                    <a:cubicBezTo>
                      <a:pt x="0" y="30201"/>
                      <a:pt x="4330" y="19746"/>
                      <a:pt x="12038" y="12038"/>
                    </a:cubicBezTo>
                    <a:cubicBezTo>
                      <a:pt x="19746" y="4330"/>
                      <a:pt x="30201" y="0"/>
                      <a:pt x="41101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04775"/>
                <a:ext cx="1736333" cy="18177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817811" y="1168504"/>
              <a:ext cx="3125817" cy="610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85"/>
                </a:lnSpc>
              </a:pPr>
              <a:r>
                <a:rPr lang="en-US" sz="3500" b="true">
                  <a:solidFill>
                    <a:srgbClr val="7D4506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RQ1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405919" y="2035703"/>
              <a:ext cx="7895968" cy="187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21" indent="-302261" lvl="1">
                <a:lnSpc>
                  <a:spcPts val="3808"/>
                </a:lnSpc>
                <a:buFont typeface="Arial"/>
                <a:buChar char="•"/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¿Con qué precisión, sensibilidad y F1 replica el detector el juicio consensuado de los expertos?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817811" y="5028513"/>
              <a:ext cx="3125817" cy="610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85"/>
                </a:lnSpc>
              </a:pPr>
              <a:r>
                <a:rPr lang="en-US" sz="3500" b="true">
                  <a:solidFill>
                    <a:srgbClr val="7D4506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RQ2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56281" y="5894623"/>
              <a:ext cx="8433904" cy="187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21" indent="-302261" lvl="1">
                <a:lnSpc>
                  <a:spcPts val="3808"/>
                </a:lnSpc>
                <a:buFont typeface="Arial"/>
                <a:buChar char="•"/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¿Qué patrones de desacuerdo predominan entre el detector y el juicio experto?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53856">
            <a:off x="13731485" y="-1082290"/>
            <a:ext cx="5760414" cy="2922101"/>
          </a:xfrm>
          <a:custGeom>
            <a:avLst/>
            <a:gdLst/>
            <a:ahLst/>
            <a:cxnLst/>
            <a:rect r="r" b="b" t="t" l="l"/>
            <a:pathLst>
              <a:path h="2922101" w="5760414">
                <a:moveTo>
                  <a:pt x="0" y="0"/>
                </a:moveTo>
                <a:lnTo>
                  <a:pt x="5760413" y="0"/>
                </a:lnTo>
                <a:lnTo>
                  <a:pt x="5760413" y="2922101"/>
                </a:lnTo>
                <a:lnTo>
                  <a:pt x="0" y="29221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23088">
            <a:off x="-1444355" y="-1082290"/>
            <a:ext cx="5760414" cy="2922101"/>
          </a:xfrm>
          <a:custGeom>
            <a:avLst/>
            <a:gdLst/>
            <a:ahLst/>
            <a:cxnLst/>
            <a:rect r="r" b="b" t="t" l="l"/>
            <a:pathLst>
              <a:path h="2922101" w="5760414">
                <a:moveTo>
                  <a:pt x="0" y="0"/>
                </a:moveTo>
                <a:lnTo>
                  <a:pt x="5760413" y="0"/>
                </a:lnTo>
                <a:lnTo>
                  <a:pt x="5760413" y="2922101"/>
                </a:lnTo>
                <a:lnTo>
                  <a:pt x="0" y="29221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09629" y="9440043"/>
            <a:ext cx="823482" cy="651174"/>
          </a:xfrm>
          <a:custGeom>
            <a:avLst/>
            <a:gdLst/>
            <a:ahLst/>
            <a:cxnLst/>
            <a:rect r="r" b="b" t="t" l="l"/>
            <a:pathLst>
              <a:path h="651174" w="823482">
                <a:moveTo>
                  <a:pt x="0" y="0"/>
                </a:moveTo>
                <a:lnTo>
                  <a:pt x="823482" y="0"/>
                </a:lnTo>
                <a:lnTo>
                  <a:pt x="823482" y="651174"/>
                </a:lnTo>
                <a:lnTo>
                  <a:pt x="0" y="6511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129142">
            <a:off x="17166600" y="2824325"/>
            <a:ext cx="823482" cy="651174"/>
          </a:xfrm>
          <a:custGeom>
            <a:avLst/>
            <a:gdLst/>
            <a:ahLst/>
            <a:cxnLst/>
            <a:rect r="r" b="b" t="t" l="l"/>
            <a:pathLst>
              <a:path h="651174" w="823482">
                <a:moveTo>
                  <a:pt x="0" y="0"/>
                </a:moveTo>
                <a:lnTo>
                  <a:pt x="823482" y="0"/>
                </a:lnTo>
                <a:lnTo>
                  <a:pt x="823482" y="651175"/>
                </a:lnTo>
                <a:lnTo>
                  <a:pt x="0" y="6511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57729" y="1628206"/>
            <a:ext cx="12916403" cy="204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2856AD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Resul</a:t>
            </a:r>
            <a:r>
              <a:rPr lang="en-US" b="true" sz="8499">
                <a:solidFill>
                  <a:srgbClr val="2856AD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tados — métricas clave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59586" y="4195240"/>
            <a:ext cx="3708088" cy="5111527"/>
            <a:chOff x="0" y="0"/>
            <a:chExt cx="4944117" cy="681536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944117" cy="6815369"/>
              <a:chOff x="0" y="0"/>
              <a:chExt cx="976616" cy="134624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76616" cy="1346246"/>
              </a:xfrm>
              <a:custGeom>
                <a:avLst/>
                <a:gdLst/>
                <a:ahLst/>
                <a:cxnLst/>
                <a:rect r="r" b="b" t="t" l="l"/>
                <a:pathLst>
                  <a:path h="1346246" w="976616">
                    <a:moveTo>
                      <a:pt x="106480" y="0"/>
                    </a:moveTo>
                    <a:lnTo>
                      <a:pt x="870135" y="0"/>
                    </a:lnTo>
                    <a:cubicBezTo>
                      <a:pt x="898376" y="0"/>
                      <a:pt x="925459" y="11218"/>
                      <a:pt x="945428" y="31187"/>
                    </a:cubicBezTo>
                    <a:cubicBezTo>
                      <a:pt x="965397" y="51156"/>
                      <a:pt x="976616" y="78240"/>
                      <a:pt x="976616" y="106480"/>
                    </a:cubicBezTo>
                    <a:lnTo>
                      <a:pt x="976616" y="1239766"/>
                    </a:lnTo>
                    <a:cubicBezTo>
                      <a:pt x="976616" y="1268006"/>
                      <a:pt x="965397" y="1295090"/>
                      <a:pt x="945428" y="1315058"/>
                    </a:cubicBezTo>
                    <a:cubicBezTo>
                      <a:pt x="925459" y="1335027"/>
                      <a:pt x="898376" y="1346246"/>
                      <a:pt x="870135" y="1346246"/>
                    </a:cubicBezTo>
                    <a:lnTo>
                      <a:pt x="106480" y="1346246"/>
                    </a:lnTo>
                    <a:cubicBezTo>
                      <a:pt x="78240" y="1346246"/>
                      <a:pt x="51156" y="1335027"/>
                      <a:pt x="31187" y="1315058"/>
                    </a:cubicBezTo>
                    <a:cubicBezTo>
                      <a:pt x="11218" y="1295090"/>
                      <a:pt x="0" y="1268006"/>
                      <a:pt x="0" y="1239766"/>
                    </a:cubicBezTo>
                    <a:lnTo>
                      <a:pt x="0" y="106480"/>
                    </a:lnTo>
                    <a:cubicBezTo>
                      <a:pt x="0" y="78240"/>
                      <a:pt x="11218" y="51156"/>
                      <a:pt x="31187" y="31187"/>
                    </a:cubicBezTo>
                    <a:cubicBezTo>
                      <a:pt x="51156" y="11218"/>
                      <a:pt x="78240" y="0"/>
                      <a:pt x="106480" y="0"/>
                    </a:cubicBezTo>
                    <a:close/>
                  </a:path>
                </a:pathLst>
              </a:custGeom>
              <a:solidFill>
                <a:srgbClr val="6391E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04775"/>
                <a:ext cx="976616" cy="14510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458985" y="1227517"/>
              <a:ext cx="2026147" cy="2180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599"/>
                </a:lnSpc>
              </a:pPr>
              <a:r>
                <a:rPr lang="en-US" sz="9999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61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24677" y="3664231"/>
              <a:ext cx="4294764" cy="202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Requisitos evaluados por el panel y el detector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802829" y="4195240"/>
            <a:ext cx="3831655" cy="5180873"/>
            <a:chOff x="0" y="0"/>
            <a:chExt cx="5108874" cy="690783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108874" cy="6907831"/>
              <a:chOff x="0" y="0"/>
              <a:chExt cx="1009160" cy="136451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09160" cy="1364510"/>
              </a:xfrm>
              <a:custGeom>
                <a:avLst/>
                <a:gdLst/>
                <a:ahLst/>
                <a:cxnLst/>
                <a:rect r="r" b="b" t="t" l="l"/>
                <a:pathLst>
                  <a:path h="1364510" w="1009160">
                    <a:moveTo>
                      <a:pt x="103046" y="0"/>
                    </a:moveTo>
                    <a:lnTo>
                      <a:pt x="906114" y="0"/>
                    </a:lnTo>
                    <a:cubicBezTo>
                      <a:pt x="963025" y="0"/>
                      <a:pt x="1009160" y="46135"/>
                      <a:pt x="1009160" y="103046"/>
                    </a:cubicBezTo>
                    <a:lnTo>
                      <a:pt x="1009160" y="1261464"/>
                    </a:lnTo>
                    <a:cubicBezTo>
                      <a:pt x="1009160" y="1288793"/>
                      <a:pt x="998304" y="1315003"/>
                      <a:pt x="978979" y="1334328"/>
                    </a:cubicBezTo>
                    <a:cubicBezTo>
                      <a:pt x="959654" y="1353653"/>
                      <a:pt x="933444" y="1364510"/>
                      <a:pt x="906114" y="1364510"/>
                    </a:cubicBezTo>
                    <a:lnTo>
                      <a:pt x="103046" y="1364510"/>
                    </a:lnTo>
                    <a:cubicBezTo>
                      <a:pt x="46135" y="1364510"/>
                      <a:pt x="0" y="1318374"/>
                      <a:pt x="0" y="1261464"/>
                    </a:cubicBezTo>
                    <a:lnTo>
                      <a:pt x="0" y="103046"/>
                    </a:lnTo>
                    <a:cubicBezTo>
                      <a:pt x="0" y="46135"/>
                      <a:pt x="46135" y="0"/>
                      <a:pt x="103046" y="0"/>
                    </a:cubicBezTo>
                    <a:close/>
                  </a:path>
                </a:pathLst>
              </a:custGeom>
              <a:solidFill>
                <a:srgbClr val="6391E8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04775"/>
                <a:ext cx="1009160" cy="14692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32486" y="1264241"/>
              <a:ext cx="4676387" cy="21896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00"/>
                </a:lnSpc>
              </a:pPr>
              <a:r>
                <a:rPr lang="en-US" sz="10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80.3%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32486" y="3655348"/>
              <a:ext cx="4243901" cy="202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Exactitud del detector frente al consenso experto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25160" y="4267836"/>
            <a:ext cx="3831655" cy="5172944"/>
            <a:chOff x="0" y="0"/>
            <a:chExt cx="5108874" cy="6897259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5108874" cy="6897259"/>
              <a:chOff x="0" y="0"/>
              <a:chExt cx="1009160" cy="136242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09160" cy="1362421"/>
              </a:xfrm>
              <a:custGeom>
                <a:avLst/>
                <a:gdLst/>
                <a:ahLst/>
                <a:cxnLst/>
                <a:rect r="r" b="b" t="t" l="l"/>
                <a:pathLst>
                  <a:path h="1362421" w="1009160">
                    <a:moveTo>
                      <a:pt x="103046" y="0"/>
                    </a:moveTo>
                    <a:lnTo>
                      <a:pt x="906114" y="0"/>
                    </a:lnTo>
                    <a:cubicBezTo>
                      <a:pt x="963025" y="0"/>
                      <a:pt x="1009160" y="46135"/>
                      <a:pt x="1009160" y="103046"/>
                    </a:cubicBezTo>
                    <a:lnTo>
                      <a:pt x="1009160" y="1259375"/>
                    </a:lnTo>
                    <a:cubicBezTo>
                      <a:pt x="1009160" y="1316286"/>
                      <a:pt x="963025" y="1362421"/>
                      <a:pt x="906114" y="1362421"/>
                    </a:cubicBezTo>
                    <a:lnTo>
                      <a:pt x="103046" y="1362421"/>
                    </a:lnTo>
                    <a:cubicBezTo>
                      <a:pt x="46135" y="1362421"/>
                      <a:pt x="0" y="1316286"/>
                      <a:pt x="0" y="1259375"/>
                    </a:cubicBezTo>
                    <a:lnTo>
                      <a:pt x="0" y="103046"/>
                    </a:lnTo>
                    <a:cubicBezTo>
                      <a:pt x="0" y="46135"/>
                      <a:pt x="46135" y="0"/>
                      <a:pt x="103046" y="0"/>
                    </a:cubicBezTo>
                    <a:close/>
                  </a:path>
                </a:pathLst>
              </a:custGeom>
              <a:solidFill>
                <a:srgbClr val="6391E8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04775"/>
                <a:ext cx="1009160" cy="146719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68955" y="840326"/>
              <a:ext cx="4770964" cy="21896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600"/>
                </a:lnSpc>
              </a:pPr>
              <a:r>
                <a:rPr lang="en-US" sz="10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0.530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68955" y="3401004"/>
              <a:ext cx="4507432" cy="202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Kappa detector vs. consenso — acuerdo moderado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047491" y="4195240"/>
            <a:ext cx="3831655" cy="5245540"/>
            <a:chOff x="0" y="0"/>
            <a:chExt cx="5108874" cy="6994054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5108874" cy="6994054"/>
              <a:chOff x="0" y="0"/>
              <a:chExt cx="1009160" cy="138154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09160" cy="1381541"/>
              </a:xfrm>
              <a:custGeom>
                <a:avLst/>
                <a:gdLst/>
                <a:ahLst/>
                <a:cxnLst/>
                <a:rect r="r" b="b" t="t" l="l"/>
                <a:pathLst>
                  <a:path h="1381541" w="1009160">
                    <a:moveTo>
                      <a:pt x="103046" y="0"/>
                    </a:moveTo>
                    <a:lnTo>
                      <a:pt x="906114" y="0"/>
                    </a:lnTo>
                    <a:cubicBezTo>
                      <a:pt x="963025" y="0"/>
                      <a:pt x="1009160" y="46135"/>
                      <a:pt x="1009160" y="103046"/>
                    </a:cubicBezTo>
                    <a:lnTo>
                      <a:pt x="1009160" y="1278495"/>
                    </a:lnTo>
                    <a:cubicBezTo>
                      <a:pt x="1009160" y="1305825"/>
                      <a:pt x="998304" y="1332035"/>
                      <a:pt x="978979" y="1351360"/>
                    </a:cubicBezTo>
                    <a:cubicBezTo>
                      <a:pt x="959654" y="1370685"/>
                      <a:pt x="933444" y="1381541"/>
                      <a:pt x="906114" y="1381541"/>
                    </a:cubicBezTo>
                    <a:lnTo>
                      <a:pt x="103046" y="1381541"/>
                    </a:lnTo>
                    <a:cubicBezTo>
                      <a:pt x="46135" y="1381541"/>
                      <a:pt x="0" y="1335406"/>
                      <a:pt x="0" y="1278495"/>
                    </a:cubicBezTo>
                    <a:lnTo>
                      <a:pt x="0" y="103046"/>
                    </a:lnTo>
                    <a:cubicBezTo>
                      <a:pt x="0" y="46135"/>
                      <a:pt x="46135" y="0"/>
                      <a:pt x="103046" y="0"/>
                    </a:cubicBezTo>
                    <a:close/>
                  </a:path>
                </a:pathLst>
              </a:custGeom>
              <a:solidFill>
                <a:srgbClr val="6391E8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104775"/>
                <a:ext cx="1009160" cy="148631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432486" y="1111947"/>
              <a:ext cx="4146408" cy="2180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599"/>
                </a:lnSpc>
              </a:pPr>
              <a:r>
                <a:rPr lang="en-US" sz="9999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0.857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29514" y="3497799"/>
              <a:ext cx="4449847" cy="2709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80"/>
                </a:lnSpc>
              </a:pPr>
              <a:r>
                <a:rPr lang="en-US" sz="3000">
                  <a:solidFill>
                    <a:srgbClr val="FFFFFF"/>
                  </a:solidFill>
                  <a:latin typeface="Sniglet"/>
                  <a:ea typeface="Sniglet"/>
                  <a:cs typeface="Sniglet"/>
                  <a:sym typeface="Sniglet"/>
                </a:rPr>
                <a:t>Kappa de Fleiss del panel de expertos — acuerdo casi perfecto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8461" y="189380"/>
            <a:ext cx="2770337" cy="378761"/>
            <a:chOff x="0" y="0"/>
            <a:chExt cx="3693782" cy="50501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1100" y="802339"/>
            <a:ext cx="2770337" cy="378761"/>
            <a:chOff x="0" y="0"/>
            <a:chExt cx="3693782" cy="5050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1F2937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964618">
            <a:off x="16668329" y="1354555"/>
            <a:ext cx="1190764" cy="941605"/>
          </a:xfrm>
          <a:custGeom>
            <a:avLst/>
            <a:gdLst/>
            <a:ahLst/>
            <a:cxnLst/>
            <a:rect r="r" b="b" t="t" l="l"/>
            <a:pathLst>
              <a:path h="941605" w="1190764">
                <a:moveTo>
                  <a:pt x="0" y="0"/>
                </a:moveTo>
                <a:lnTo>
                  <a:pt x="1190763" y="0"/>
                </a:lnTo>
                <a:lnTo>
                  <a:pt x="1190763" y="941605"/>
                </a:lnTo>
                <a:lnTo>
                  <a:pt x="0" y="9416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4807">
            <a:off x="15417305" y="542940"/>
            <a:ext cx="1135064" cy="897560"/>
          </a:xfrm>
          <a:custGeom>
            <a:avLst/>
            <a:gdLst/>
            <a:ahLst/>
            <a:cxnLst/>
            <a:rect r="r" b="b" t="t" l="l"/>
            <a:pathLst>
              <a:path h="897560" w="1135064">
                <a:moveTo>
                  <a:pt x="0" y="0"/>
                </a:moveTo>
                <a:lnTo>
                  <a:pt x="1135064" y="0"/>
                </a:lnTo>
                <a:lnTo>
                  <a:pt x="1135064" y="897560"/>
                </a:lnTo>
                <a:lnTo>
                  <a:pt x="0" y="8975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42610" y="2869977"/>
            <a:ext cx="11885598" cy="7066978"/>
          </a:xfrm>
          <a:custGeom>
            <a:avLst/>
            <a:gdLst/>
            <a:ahLst/>
            <a:cxnLst/>
            <a:rect r="r" b="b" t="t" l="l"/>
            <a:pathLst>
              <a:path h="7066978" w="11885598">
                <a:moveTo>
                  <a:pt x="0" y="0"/>
                </a:moveTo>
                <a:lnTo>
                  <a:pt x="11885598" y="0"/>
                </a:lnTo>
                <a:lnTo>
                  <a:pt x="11885598" y="7066978"/>
                </a:lnTo>
                <a:lnTo>
                  <a:pt x="0" y="70669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27860" y="666420"/>
            <a:ext cx="11832279" cy="193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8000" b="true">
                <a:solidFill>
                  <a:srgbClr val="1F2937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Clasificaciones por fuente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1100" y="802339"/>
            <a:ext cx="2770337" cy="378761"/>
            <a:chOff x="0" y="0"/>
            <a:chExt cx="3693782" cy="5050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1F2937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964618">
            <a:off x="16668329" y="1354555"/>
            <a:ext cx="1190764" cy="941605"/>
          </a:xfrm>
          <a:custGeom>
            <a:avLst/>
            <a:gdLst/>
            <a:ahLst/>
            <a:cxnLst/>
            <a:rect r="r" b="b" t="t" l="l"/>
            <a:pathLst>
              <a:path h="941605" w="1190764">
                <a:moveTo>
                  <a:pt x="0" y="0"/>
                </a:moveTo>
                <a:lnTo>
                  <a:pt x="1190763" y="0"/>
                </a:lnTo>
                <a:lnTo>
                  <a:pt x="1190763" y="941605"/>
                </a:lnTo>
                <a:lnTo>
                  <a:pt x="0" y="9416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4807">
            <a:off x="15417305" y="542940"/>
            <a:ext cx="1135064" cy="897560"/>
          </a:xfrm>
          <a:custGeom>
            <a:avLst/>
            <a:gdLst/>
            <a:ahLst/>
            <a:cxnLst/>
            <a:rect r="r" b="b" t="t" l="l"/>
            <a:pathLst>
              <a:path h="897560" w="1135064">
                <a:moveTo>
                  <a:pt x="0" y="0"/>
                </a:moveTo>
                <a:lnTo>
                  <a:pt x="1135064" y="0"/>
                </a:lnTo>
                <a:lnTo>
                  <a:pt x="1135064" y="897560"/>
                </a:lnTo>
                <a:lnTo>
                  <a:pt x="0" y="8975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620780" y="2430602"/>
            <a:ext cx="8861088" cy="7402877"/>
          </a:xfrm>
          <a:custGeom>
            <a:avLst/>
            <a:gdLst/>
            <a:ahLst/>
            <a:cxnLst/>
            <a:rect r="r" b="b" t="t" l="l"/>
            <a:pathLst>
              <a:path h="7402877" w="8861088">
                <a:moveTo>
                  <a:pt x="0" y="0"/>
                </a:moveTo>
                <a:lnTo>
                  <a:pt x="8861088" y="0"/>
                </a:lnTo>
                <a:lnTo>
                  <a:pt x="8861088" y="7402877"/>
                </a:lnTo>
                <a:lnTo>
                  <a:pt x="0" y="74028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27860" y="1156957"/>
            <a:ext cx="11832279" cy="1009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8000" b="true">
                <a:solidFill>
                  <a:srgbClr val="1F2937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Matriz de confusión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3435" y="649939"/>
            <a:ext cx="2770337" cy="378761"/>
            <a:chOff x="0" y="0"/>
            <a:chExt cx="3693782" cy="5050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1F2937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964618">
            <a:off x="16668329" y="1354555"/>
            <a:ext cx="1190764" cy="941605"/>
          </a:xfrm>
          <a:custGeom>
            <a:avLst/>
            <a:gdLst/>
            <a:ahLst/>
            <a:cxnLst/>
            <a:rect r="r" b="b" t="t" l="l"/>
            <a:pathLst>
              <a:path h="941605" w="1190764">
                <a:moveTo>
                  <a:pt x="0" y="0"/>
                </a:moveTo>
                <a:lnTo>
                  <a:pt x="1190763" y="0"/>
                </a:lnTo>
                <a:lnTo>
                  <a:pt x="1190763" y="941605"/>
                </a:lnTo>
                <a:lnTo>
                  <a:pt x="0" y="9416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4807">
            <a:off x="15417305" y="542940"/>
            <a:ext cx="1135064" cy="897560"/>
          </a:xfrm>
          <a:custGeom>
            <a:avLst/>
            <a:gdLst/>
            <a:ahLst/>
            <a:cxnLst/>
            <a:rect r="r" b="b" t="t" l="l"/>
            <a:pathLst>
              <a:path h="897560" w="1135064">
                <a:moveTo>
                  <a:pt x="0" y="0"/>
                </a:moveTo>
                <a:lnTo>
                  <a:pt x="1135064" y="0"/>
                </a:lnTo>
                <a:lnTo>
                  <a:pt x="1135064" y="897560"/>
                </a:lnTo>
                <a:lnTo>
                  <a:pt x="0" y="8975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37973" y="2868427"/>
            <a:ext cx="12103875" cy="7206849"/>
          </a:xfrm>
          <a:custGeom>
            <a:avLst/>
            <a:gdLst/>
            <a:ahLst/>
            <a:cxnLst/>
            <a:rect r="r" b="b" t="t" l="l"/>
            <a:pathLst>
              <a:path h="7206849" w="12103875">
                <a:moveTo>
                  <a:pt x="0" y="0"/>
                </a:moveTo>
                <a:lnTo>
                  <a:pt x="12103875" y="0"/>
                </a:lnTo>
                <a:lnTo>
                  <a:pt x="12103875" y="7206849"/>
                </a:lnTo>
                <a:lnTo>
                  <a:pt x="0" y="72068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73771" y="732775"/>
            <a:ext cx="11832279" cy="193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8000" b="true">
                <a:solidFill>
                  <a:srgbClr val="1F2937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Coeficientes de acuerdo (Kappa)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3435" y="649939"/>
            <a:ext cx="2770337" cy="378761"/>
            <a:chOff x="0" y="0"/>
            <a:chExt cx="3693782" cy="5050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1F2937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964618">
            <a:off x="16668329" y="1354555"/>
            <a:ext cx="1190764" cy="941605"/>
          </a:xfrm>
          <a:custGeom>
            <a:avLst/>
            <a:gdLst/>
            <a:ahLst/>
            <a:cxnLst/>
            <a:rect r="r" b="b" t="t" l="l"/>
            <a:pathLst>
              <a:path h="941605" w="1190764">
                <a:moveTo>
                  <a:pt x="0" y="0"/>
                </a:moveTo>
                <a:lnTo>
                  <a:pt x="1190763" y="0"/>
                </a:lnTo>
                <a:lnTo>
                  <a:pt x="1190763" y="941605"/>
                </a:lnTo>
                <a:lnTo>
                  <a:pt x="0" y="9416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4807">
            <a:off x="15417305" y="542940"/>
            <a:ext cx="1135064" cy="897560"/>
          </a:xfrm>
          <a:custGeom>
            <a:avLst/>
            <a:gdLst/>
            <a:ahLst/>
            <a:cxnLst/>
            <a:rect r="r" b="b" t="t" l="l"/>
            <a:pathLst>
              <a:path h="897560" w="1135064">
                <a:moveTo>
                  <a:pt x="0" y="0"/>
                </a:moveTo>
                <a:lnTo>
                  <a:pt x="1135064" y="0"/>
                </a:lnTo>
                <a:lnTo>
                  <a:pt x="1135064" y="897560"/>
                </a:lnTo>
                <a:lnTo>
                  <a:pt x="0" y="8975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54974" y="2665719"/>
            <a:ext cx="12069875" cy="7211750"/>
          </a:xfrm>
          <a:custGeom>
            <a:avLst/>
            <a:gdLst/>
            <a:ahLst/>
            <a:cxnLst/>
            <a:rect r="r" b="b" t="t" l="l"/>
            <a:pathLst>
              <a:path h="7211750" w="12069875">
                <a:moveTo>
                  <a:pt x="0" y="0"/>
                </a:moveTo>
                <a:lnTo>
                  <a:pt x="12069874" y="0"/>
                </a:lnTo>
                <a:lnTo>
                  <a:pt x="12069874" y="7211750"/>
                </a:lnTo>
                <a:lnTo>
                  <a:pt x="0" y="7211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54974" y="610436"/>
            <a:ext cx="11832279" cy="193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8000" b="true">
                <a:solidFill>
                  <a:srgbClr val="1F2937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Tipos de ambigüedad identificados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48614" y="771447"/>
            <a:ext cx="2770337" cy="378761"/>
            <a:chOff x="0" y="0"/>
            <a:chExt cx="3693782" cy="5050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036428" y="980997"/>
            <a:ext cx="13654355" cy="193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8000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Resultados — significancia estadística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066164" y="0"/>
            <a:ext cx="2386273" cy="2058720"/>
            <a:chOff x="0" y="0"/>
            <a:chExt cx="3181697" cy="2744959"/>
          </a:xfrm>
        </p:grpSpPr>
        <p:sp>
          <p:nvSpPr>
            <p:cNvPr name="Freeform 8" id="8"/>
            <p:cNvSpPr/>
            <p:nvPr/>
          </p:nvSpPr>
          <p:spPr>
            <a:xfrm flipH="false" flipV="false" rot="1964618">
              <a:off x="1380624" y="1159860"/>
              <a:ext cx="1587685" cy="1255473"/>
            </a:xfrm>
            <a:custGeom>
              <a:avLst/>
              <a:gdLst/>
              <a:ahLst/>
              <a:cxnLst/>
              <a:rect r="r" b="b" t="t" l="l"/>
              <a:pathLst>
                <a:path h="1255473" w="1587685">
                  <a:moveTo>
                    <a:pt x="0" y="0"/>
                  </a:moveTo>
                  <a:lnTo>
                    <a:pt x="1587684" y="0"/>
                  </a:lnTo>
                  <a:lnTo>
                    <a:pt x="1587684" y="1255473"/>
                  </a:lnTo>
                  <a:lnTo>
                    <a:pt x="0" y="1255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1084807">
              <a:off x="148339" y="205297"/>
              <a:ext cx="1513418" cy="1196747"/>
            </a:xfrm>
            <a:custGeom>
              <a:avLst/>
              <a:gdLst/>
              <a:ahLst/>
              <a:cxnLst/>
              <a:rect r="r" b="b" t="t" l="l"/>
              <a:pathLst>
                <a:path h="1196747" w="1513418">
                  <a:moveTo>
                    <a:pt x="0" y="0"/>
                  </a:moveTo>
                  <a:lnTo>
                    <a:pt x="1513419" y="0"/>
                  </a:lnTo>
                  <a:lnTo>
                    <a:pt x="1513419" y="1196746"/>
                  </a:lnTo>
                  <a:lnTo>
                    <a:pt x="0" y="1196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53237" y="3103321"/>
            <a:ext cx="15197144" cy="2873882"/>
            <a:chOff x="0" y="0"/>
            <a:chExt cx="20262859" cy="3831843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0262859" cy="3831843"/>
              <a:chOff x="0" y="0"/>
              <a:chExt cx="4002540" cy="75690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002540" cy="756907"/>
              </a:xfrm>
              <a:custGeom>
                <a:avLst/>
                <a:gdLst/>
                <a:ahLst/>
                <a:cxnLst/>
                <a:rect r="r" b="b" t="t" l="l"/>
                <a:pathLst>
                  <a:path h="756907" w="4002540">
                    <a:moveTo>
                      <a:pt x="17830" y="0"/>
                    </a:moveTo>
                    <a:lnTo>
                      <a:pt x="3984710" y="0"/>
                    </a:lnTo>
                    <a:cubicBezTo>
                      <a:pt x="3994557" y="0"/>
                      <a:pt x="4002540" y="7983"/>
                      <a:pt x="4002540" y="17830"/>
                    </a:cubicBezTo>
                    <a:lnTo>
                      <a:pt x="4002540" y="739077"/>
                    </a:lnTo>
                    <a:cubicBezTo>
                      <a:pt x="4002540" y="748924"/>
                      <a:pt x="3994557" y="756907"/>
                      <a:pt x="3984710" y="756907"/>
                    </a:cubicBezTo>
                    <a:lnTo>
                      <a:pt x="17830" y="756907"/>
                    </a:lnTo>
                    <a:cubicBezTo>
                      <a:pt x="13101" y="756907"/>
                      <a:pt x="8566" y="755029"/>
                      <a:pt x="5222" y="751685"/>
                    </a:cubicBezTo>
                    <a:cubicBezTo>
                      <a:pt x="1879" y="748341"/>
                      <a:pt x="0" y="743806"/>
                      <a:pt x="0" y="739077"/>
                    </a:cubicBezTo>
                    <a:lnTo>
                      <a:pt x="0" y="17830"/>
                    </a:lnTo>
                    <a:cubicBezTo>
                      <a:pt x="0" y="13101"/>
                      <a:pt x="1879" y="8566"/>
                      <a:pt x="5222" y="5222"/>
                    </a:cubicBezTo>
                    <a:cubicBezTo>
                      <a:pt x="8566" y="1879"/>
                      <a:pt x="13101" y="0"/>
                      <a:pt x="17830" y="0"/>
                    </a:cubicBezTo>
                    <a:close/>
                  </a:path>
                </a:pathLst>
              </a:custGeom>
              <a:solidFill>
                <a:srgbClr val="FEFEFE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04775"/>
                <a:ext cx="4002540" cy="8616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718286" y="1814350"/>
              <a:ext cx="19544573" cy="187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0D3889"/>
                  </a:solidFill>
                  <a:latin typeface="Sniglet"/>
                  <a:ea typeface="Sniglet"/>
                  <a:cs typeface="Sniglet"/>
                  <a:sym typeface="Sniglet"/>
                </a:rPr>
                <a:t>Con los 61 requisitos reales, el estudio SÍ alcanza significancia estadística: existe una asociación significativa entre la clasificación del detector y el consenso experto (     &lt; 0.001).</a:t>
              </a:r>
            </a:p>
            <a:p>
              <a:pPr algn="l">
                <a:lnSpc>
                  <a:spcPts val="3808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718286" y="811516"/>
              <a:ext cx="11762885" cy="610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84"/>
                </a:lnSpc>
              </a:pPr>
              <a:r>
                <a:rPr lang="en-US" sz="3499" b="true">
                  <a:solidFill>
                    <a:srgbClr val="0D3889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Chi-cuadrado = 15.037 · p = 0.0001· N = 61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7610761" y="2322093"/>
              <a:ext cx="322527" cy="729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3300" i="true">
                  <a:solidFill>
                    <a:srgbClr val="0D3889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53237" y="6647242"/>
            <a:ext cx="15197144" cy="3182801"/>
            <a:chOff x="0" y="0"/>
            <a:chExt cx="20262859" cy="424373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0262859" cy="4243735"/>
              <a:chOff x="0" y="0"/>
              <a:chExt cx="4002540" cy="83826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02540" cy="838269"/>
              </a:xfrm>
              <a:custGeom>
                <a:avLst/>
                <a:gdLst/>
                <a:ahLst/>
                <a:cxnLst/>
                <a:rect r="r" b="b" t="t" l="l"/>
                <a:pathLst>
                  <a:path h="838269" w="4002540">
                    <a:moveTo>
                      <a:pt x="17830" y="0"/>
                    </a:moveTo>
                    <a:lnTo>
                      <a:pt x="3984710" y="0"/>
                    </a:lnTo>
                    <a:cubicBezTo>
                      <a:pt x="3994557" y="0"/>
                      <a:pt x="4002540" y="7983"/>
                      <a:pt x="4002540" y="17830"/>
                    </a:cubicBezTo>
                    <a:lnTo>
                      <a:pt x="4002540" y="820438"/>
                    </a:lnTo>
                    <a:cubicBezTo>
                      <a:pt x="4002540" y="825167"/>
                      <a:pt x="4000662" y="829702"/>
                      <a:pt x="3997318" y="833046"/>
                    </a:cubicBezTo>
                    <a:cubicBezTo>
                      <a:pt x="3993974" y="836390"/>
                      <a:pt x="3989439" y="838269"/>
                      <a:pt x="3984710" y="838269"/>
                    </a:cubicBezTo>
                    <a:lnTo>
                      <a:pt x="17830" y="838269"/>
                    </a:lnTo>
                    <a:cubicBezTo>
                      <a:pt x="13101" y="838269"/>
                      <a:pt x="8566" y="836390"/>
                      <a:pt x="5222" y="833046"/>
                    </a:cubicBezTo>
                    <a:cubicBezTo>
                      <a:pt x="1879" y="829702"/>
                      <a:pt x="0" y="825167"/>
                      <a:pt x="0" y="820438"/>
                    </a:cubicBezTo>
                    <a:lnTo>
                      <a:pt x="0" y="17830"/>
                    </a:lnTo>
                    <a:cubicBezTo>
                      <a:pt x="0" y="13101"/>
                      <a:pt x="1879" y="8566"/>
                      <a:pt x="5222" y="5222"/>
                    </a:cubicBezTo>
                    <a:cubicBezTo>
                      <a:pt x="8566" y="1879"/>
                      <a:pt x="13101" y="0"/>
                      <a:pt x="17830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04775"/>
                <a:ext cx="4002540" cy="9430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718286" y="1731972"/>
              <a:ext cx="19544573" cy="187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Terminología imprecisa (18) y cuantificador vago (15) concentran la mayoría de las marcaciones; requisito no verificable/incompleto (9) y conjunción múltiple (5) completan el panorama.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718286" y="729138"/>
              <a:ext cx="11762885" cy="610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84"/>
                </a:lnSpc>
              </a:pPr>
              <a:r>
                <a:rPr lang="en-US" sz="3499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Tipos de ambigüedad predominantes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44676">
            <a:off x="13539938" y="-820384"/>
            <a:ext cx="5760414" cy="2922101"/>
          </a:xfrm>
          <a:custGeom>
            <a:avLst/>
            <a:gdLst/>
            <a:ahLst/>
            <a:cxnLst/>
            <a:rect r="r" b="b" t="t" l="l"/>
            <a:pathLst>
              <a:path h="2922101" w="5760414">
                <a:moveTo>
                  <a:pt x="0" y="0"/>
                </a:moveTo>
                <a:lnTo>
                  <a:pt x="5760414" y="0"/>
                </a:lnTo>
                <a:lnTo>
                  <a:pt x="5760414" y="2922101"/>
                </a:lnTo>
                <a:lnTo>
                  <a:pt x="0" y="29221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60771">
            <a:off x="-1330137" y="-820384"/>
            <a:ext cx="5760414" cy="2922101"/>
          </a:xfrm>
          <a:custGeom>
            <a:avLst/>
            <a:gdLst/>
            <a:ahLst/>
            <a:cxnLst/>
            <a:rect r="r" b="b" t="t" l="l"/>
            <a:pathLst>
              <a:path h="2922101" w="5760414">
                <a:moveTo>
                  <a:pt x="0" y="0"/>
                </a:moveTo>
                <a:lnTo>
                  <a:pt x="5760414" y="0"/>
                </a:lnTo>
                <a:lnTo>
                  <a:pt x="5760414" y="2922101"/>
                </a:lnTo>
                <a:lnTo>
                  <a:pt x="0" y="29221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391727" y="9199890"/>
            <a:ext cx="823482" cy="651174"/>
          </a:xfrm>
          <a:custGeom>
            <a:avLst/>
            <a:gdLst/>
            <a:ahLst/>
            <a:cxnLst/>
            <a:rect r="r" b="b" t="t" l="l"/>
            <a:pathLst>
              <a:path h="651174" w="823482">
                <a:moveTo>
                  <a:pt x="0" y="0"/>
                </a:moveTo>
                <a:lnTo>
                  <a:pt x="823482" y="0"/>
                </a:lnTo>
                <a:lnTo>
                  <a:pt x="823482" y="651174"/>
                </a:lnTo>
                <a:lnTo>
                  <a:pt x="0" y="6511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129142">
            <a:off x="17357287" y="2392103"/>
            <a:ext cx="823482" cy="651174"/>
          </a:xfrm>
          <a:custGeom>
            <a:avLst/>
            <a:gdLst/>
            <a:ahLst/>
            <a:cxnLst/>
            <a:rect r="r" b="b" t="t" l="l"/>
            <a:pathLst>
              <a:path h="651174" w="823482">
                <a:moveTo>
                  <a:pt x="0" y="0"/>
                </a:moveTo>
                <a:lnTo>
                  <a:pt x="823482" y="0"/>
                </a:lnTo>
                <a:lnTo>
                  <a:pt x="823482" y="651174"/>
                </a:lnTo>
                <a:lnTo>
                  <a:pt x="0" y="6511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00481" y="1628206"/>
            <a:ext cx="12916403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2856AD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Discusión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07330" y="261905"/>
            <a:ext cx="2770337" cy="378761"/>
            <a:chOff x="0" y="0"/>
            <a:chExt cx="3693782" cy="5050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50070" y="3112323"/>
            <a:ext cx="15720402" cy="5891784"/>
            <a:chOff x="0" y="0"/>
            <a:chExt cx="20960535" cy="785571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0960535" cy="7855712"/>
              <a:chOff x="0" y="0"/>
              <a:chExt cx="4140353" cy="155174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140353" cy="1551745"/>
              </a:xfrm>
              <a:custGeom>
                <a:avLst/>
                <a:gdLst/>
                <a:ahLst/>
                <a:cxnLst/>
                <a:rect r="r" b="b" t="t" l="l"/>
                <a:pathLst>
                  <a:path h="1551745" w="4140353">
                    <a:moveTo>
                      <a:pt x="17237" y="0"/>
                    </a:moveTo>
                    <a:lnTo>
                      <a:pt x="4123116" y="0"/>
                    </a:lnTo>
                    <a:cubicBezTo>
                      <a:pt x="4132636" y="0"/>
                      <a:pt x="4140353" y="7717"/>
                      <a:pt x="4140353" y="17237"/>
                    </a:cubicBezTo>
                    <a:lnTo>
                      <a:pt x="4140353" y="1534509"/>
                    </a:lnTo>
                    <a:cubicBezTo>
                      <a:pt x="4140353" y="1544028"/>
                      <a:pt x="4132636" y="1551745"/>
                      <a:pt x="4123116" y="1551745"/>
                    </a:cubicBezTo>
                    <a:lnTo>
                      <a:pt x="17237" y="1551745"/>
                    </a:lnTo>
                    <a:cubicBezTo>
                      <a:pt x="7717" y="1551745"/>
                      <a:pt x="0" y="1544028"/>
                      <a:pt x="0" y="1534509"/>
                    </a:cubicBezTo>
                    <a:lnTo>
                      <a:pt x="0" y="17237"/>
                    </a:lnTo>
                    <a:cubicBezTo>
                      <a:pt x="0" y="7717"/>
                      <a:pt x="7717" y="0"/>
                      <a:pt x="17237" y="0"/>
                    </a:cubicBezTo>
                    <a:close/>
                  </a:path>
                </a:pathLst>
              </a:custGeom>
              <a:solidFill>
                <a:srgbClr val="C9EDF7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04775"/>
                <a:ext cx="4140353" cy="16565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0" y="731266"/>
              <a:ext cx="20508670" cy="71244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21" indent="-302261" lvl="1">
                <a:lnSpc>
                  <a:spcPts val="4340"/>
                </a:lnSpc>
                <a:buFont typeface="Arial"/>
                <a:buChar char="•"/>
              </a:pPr>
              <a:r>
                <a:rPr lang="en-US" sz="2800">
                  <a:solidFill>
                    <a:srgbClr val="1F2937"/>
                  </a:solidFill>
                  <a:latin typeface="Sniglet"/>
                  <a:ea typeface="Sniglet"/>
                  <a:cs typeface="Sniglet"/>
                  <a:sym typeface="Sniglet"/>
                </a:rPr>
                <a:t>El detector sobre-detecta ambigüedad respecto al consenso experto (más falsos positivos que falsos negativos): tiende a marcar como ambiguos requisitos que los expertos consideran claros.</a:t>
              </a:r>
            </a:p>
            <a:p>
              <a:pPr algn="l" marL="604521" indent="-302261" lvl="1">
                <a:lnSpc>
                  <a:spcPts val="4340"/>
                </a:lnSpc>
                <a:buFont typeface="Arial"/>
                <a:buChar char="•"/>
              </a:pPr>
              <a:r>
                <a:rPr lang="en-US" sz="2800">
                  <a:solidFill>
                    <a:srgbClr val="1F2937"/>
                  </a:solidFill>
                  <a:latin typeface="Sniglet"/>
                  <a:ea typeface="Sniglet"/>
                  <a:cs typeface="Sniglet"/>
                  <a:sym typeface="Sniglet"/>
                </a:rPr>
                <a:t>El acuerdo detector–consenso (κ=0.530, moderado) es notablemente más bajo que el acuerdo entre los propios expertos humanos (κ=0.857, casi perfecto) — la ambigüedad sigue siendo, sobre todo, un juicio experto que una regla léxica no replica del todo.</a:t>
              </a:r>
            </a:p>
            <a:p>
              <a:pPr algn="l" marL="604521" indent="-302261" lvl="1">
                <a:lnSpc>
                  <a:spcPts val="4340"/>
                </a:lnSpc>
                <a:buFont typeface="Arial"/>
                <a:buChar char="•"/>
              </a:pPr>
              <a:r>
                <a:rPr lang="en-US" sz="2800">
                  <a:solidFill>
                    <a:srgbClr val="1F2937"/>
                  </a:solidFill>
                  <a:latin typeface="Sniglet"/>
                  <a:ea typeface="Sniglet"/>
                  <a:cs typeface="Sniglet"/>
                  <a:sym typeface="Sniglet"/>
                </a:rPr>
                <a:t>La terminología imprecisa como tipo de ambigüedad dominante sugiere que el vocabulario específico del dominio (mascotas, salud animal) es más difícil de capturar con reglas fijas que los cuantificadores vagos.</a:t>
              </a:r>
            </a:p>
            <a:p>
              <a:pPr algn="l">
                <a:lnSpc>
                  <a:spcPts val="3808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1100" y="802339"/>
            <a:ext cx="2770337" cy="378761"/>
            <a:chOff x="0" y="0"/>
            <a:chExt cx="3693782" cy="5050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288420" y="1696162"/>
            <a:ext cx="11832279" cy="106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Amenazas a la validez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1964618">
            <a:off x="16668329" y="1354555"/>
            <a:ext cx="1190764" cy="941605"/>
          </a:xfrm>
          <a:custGeom>
            <a:avLst/>
            <a:gdLst/>
            <a:ahLst/>
            <a:cxnLst/>
            <a:rect r="r" b="b" t="t" l="l"/>
            <a:pathLst>
              <a:path h="941605" w="1190764">
                <a:moveTo>
                  <a:pt x="0" y="0"/>
                </a:moveTo>
                <a:lnTo>
                  <a:pt x="1190763" y="0"/>
                </a:lnTo>
                <a:lnTo>
                  <a:pt x="1190763" y="941605"/>
                </a:lnTo>
                <a:lnTo>
                  <a:pt x="0" y="9416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4807">
            <a:off x="15417305" y="542940"/>
            <a:ext cx="1135064" cy="897560"/>
          </a:xfrm>
          <a:custGeom>
            <a:avLst/>
            <a:gdLst/>
            <a:ahLst/>
            <a:cxnLst/>
            <a:rect r="r" b="b" t="t" l="l"/>
            <a:pathLst>
              <a:path h="897560" w="1135064">
                <a:moveTo>
                  <a:pt x="0" y="0"/>
                </a:moveTo>
                <a:lnTo>
                  <a:pt x="1135064" y="0"/>
                </a:lnTo>
                <a:lnTo>
                  <a:pt x="1135064" y="897560"/>
                </a:lnTo>
                <a:lnTo>
                  <a:pt x="0" y="8975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44865" y="3967072"/>
            <a:ext cx="5279262" cy="4935178"/>
            <a:chOff x="0" y="0"/>
            <a:chExt cx="7039015" cy="658023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7039015" cy="6580237"/>
              <a:chOff x="0" y="0"/>
              <a:chExt cx="1390423" cy="1299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90423" cy="1299800"/>
              </a:xfrm>
              <a:custGeom>
                <a:avLst/>
                <a:gdLst/>
                <a:ahLst/>
                <a:cxnLst/>
                <a:rect r="r" b="b" t="t" l="l"/>
                <a:pathLst>
                  <a:path h="1299800" w="1390423">
                    <a:moveTo>
                      <a:pt x="51327" y="0"/>
                    </a:moveTo>
                    <a:lnTo>
                      <a:pt x="1339096" y="0"/>
                    </a:lnTo>
                    <a:cubicBezTo>
                      <a:pt x="1367443" y="0"/>
                      <a:pt x="1390423" y="22980"/>
                      <a:pt x="1390423" y="51327"/>
                    </a:cubicBezTo>
                    <a:lnTo>
                      <a:pt x="1390423" y="1248473"/>
                    </a:lnTo>
                    <a:cubicBezTo>
                      <a:pt x="1390423" y="1262086"/>
                      <a:pt x="1385015" y="1275141"/>
                      <a:pt x="1375389" y="1284767"/>
                    </a:cubicBezTo>
                    <a:cubicBezTo>
                      <a:pt x="1365764" y="1294392"/>
                      <a:pt x="1352709" y="1299800"/>
                      <a:pt x="1339096" y="1299800"/>
                    </a:cubicBezTo>
                    <a:lnTo>
                      <a:pt x="51327" y="1299800"/>
                    </a:lnTo>
                    <a:cubicBezTo>
                      <a:pt x="22980" y="1299800"/>
                      <a:pt x="0" y="1276820"/>
                      <a:pt x="0" y="1248473"/>
                    </a:cubicBezTo>
                    <a:lnTo>
                      <a:pt x="0" y="51327"/>
                    </a:lnTo>
                    <a:cubicBezTo>
                      <a:pt x="0" y="22980"/>
                      <a:pt x="22980" y="0"/>
                      <a:pt x="51327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04775"/>
                <a:ext cx="1390423" cy="14045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19011" y="2034451"/>
              <a:ext cx="6400993" cy="378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Aunque el resultado es significativo (p=0.0001), el tamaño de muestra (N=61) sigue siendo modesto para generalizar la magnitud exacta del acuerdo (κ=0.530).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399888" y="914201"/>
              <a:ext cx="2671315" cy="710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3999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Interna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386167" y="3930516"/>
            <a:ext cx="5109048" cy="4971733"/>
            <a:chOff x="0" y="0"/>
            <a:chExt cx="6812064" cy="662897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812064" cy="6628977"/>
              <a:chOff x="0" y="0"/>
              <a:chExt cx="1345593" cy="130942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45593" cy="1309428"/>
              </a:xfrm>
              <a:custGeom>
                <a:avLst/>
                <a:gdLst/>
                <a:ahLst/>
                <a:cxnLst/>
                <a:rect r="r" b="b" t="t" l="l"/>
                <a:pathLst>
                  <a:path h="1309428" w="1345593">
                    <a:moveTo>
                      <a:pt x="53037" y="0"/>
                    </a:moveTo>
                    <a:lnTo>
                      <a:pt x="1292556" y="0"/>
                    </a:lnTo>
                    <a:cubicBezTo>
                      <a:pt x="1306622" y="0"/>
                      <a:pt x="1320113" y="5588"/>
                      <a:pt x="1330059" y="15534"/>
                    </a:cubicBezTo>
                    <a:cubicBezTo>
                      <a:pt x="1340005" y="25480"/>
                      <a:pt x="1345593" y="38971"/>
                      <a:pt x="1345593" y="53037"/>
                    </a:cubicBezTo>
                    <a:lnTo>
                      <a:pt x="1345593" y="1256391"/>
                    </a:lnTo>
                    <a:cubicBezTo>
                      <a:pt x="1345593" y="1270457"/>
                      <a:pt x="1340005" y="1283947"/>
                      <a:pt x="1330059" y="1293894"/>
                    </a:cubicBezTo>
                    <a:cubicBezTo>
                      <a:pt x="1320113" y="1303840"/>
                      <a:pt x="1306622" y="1309428"/>
                      <a:pt x="1292556" y="1309428"/>
                    </a:cubicBezTo>
                    <a:lnTo>
                      <a:pt x="53037" y="1309428"/>
                    </a:lnTo>
                    <a:cubicBezTo>
                      <a:pt x="38971" y="1309428"/>
                      <a:pt x="25480" y="1303840"/>
                      <a:pt x="15534" y="1293894"/>
                    </a:cubicBezTo>
                    <a:cubicBezTo>
                      <a:pt x="5588" y="1283947"/>
                      <a:pt x="0" y="1270457"/>
                      <a:pt x="0" y="1256391"/>
                    </a:cubicBezTo>
                    <a:lnTo>
                      <a:pt x="0" y="53037"/>
                    </a:lnTo>
                    <a:cubicBezTo>
                      <a:pt x="0" y="38971"/>
                      <a:pt x="5588" y="25480"/>
                      <a:pt x="15534" y="15534"/>
                    </a:cubicBezTo>
                    <a:cubicBezTo>
                      <a:pt x="25480" y="5588"/>
                      <a:pt x="38971" y="0"/>
                      <a:pt x="53037" y="0"/>
                    </a:cubicBezTo>
                    <a:close/>
                  </a:path>
                </a:pathLst>
              </a:custGeom>
              <a:solidFill>
                <a:srgbClr val="A2D6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04775"/>
                <a:ext cx="1345593" cy="14142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48044" y="2273349"/>
              <a:ext cx="5715977" cy="314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08"/>
                </a:lnSpc>
              </a:pPr>
              <a:r>
                <a:rPr lang="en-US" sz="2800">
                  <a:solidFill>
                    <a:srgbClr val="1F2937"/>
                  </a:solidFill>
                  <a:latin typeface="Sniglet"/>
                  <a:ea typeface="Sniglet"/>
                  <a:cs typeface="Sniglet"/>
                  <a:sym typeface="Sniglet"/>
                </a:rPr>
                <a:t>La definición operacional de "ambigüedad" del detector (reglas fijas) puede no capturar matices que sí ven los expertos.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402439" y="1161336"/>
              <a:ext cx="4007187" cy="710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3999" b="true">
                  <a:solidFill>
                    <a:srgbClr val="0D3889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Constructo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57215" y="3997964"/>
            <a:ext cx="5232657" cy="4842530"/>
            <a:chOff x="0" y="0"/>
            <a:chExt cx="6976875" cy="6456707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976875" cy="6456707"/>
              <a:chOff x="0" y="0"/>
              <a:chExt cx="1378148" cy="127539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78148" cy="1275399"/>
              </a:xfrm>
              <a:custGeom>
                <a:avLst/>
                <a:gdLst/>
                <a:ahLst/>
                <a:cxnLst/>
                <a:rect r="r" b="b" t="t" l="l"/>
                <a:pathLst>
                  <a:path h="1275399" w="1378148">
                    <a:moveTo>
                      <a:pt x="51784" y="0"/>
                    </a:moveTo>
                    <a:lnTo>
                      <a:pt x="1326364" y="0"/>
                    </a:lnTo>
                    <a:cubicBezTo>
                      <a:pt x="1340098" y="0"/>
                      <a:pt x="1353270" y="5456"/>
                      <a:pt x="1362981" y="15167"/>
                    </a:cubicBezTo>
                    <a:cubicBezTo>
                      <a:pt x="1372692" y="24879"/>
                      <a:pt x="1378148" y="38050"/>
                      <a:pt x="1378148" y="51784"/>
                    </a:cubicBezTo>
                    <a:lnTo>
                      <a:pt x="1378148" y="1223615"/>
                    </a:lnTo>
                    <a:cubicBezTo>
                      <a:pt x="1378148" y="1237349"/>
                      <a:pt x="1372692" y="1250520"/>
                      <a:pt x="1362981" y="1260232"/>
                    </a:cubicBezTo>
                    <a:cubicBezTo>
                      <a:pt x="1353270" y="1269943"/>
                      <a:pt x="1340098" y="1275399"/>
                      <a:pt x="1326364" y="1275399"/>
                    </a:cubicBezTo>
                    <a:lnTo>
                      <a:pt x="51784" y="1275399"/>
                    </a:lnTo>
                    <a:cubicBezTo>
                      <a:pt x="38050" y="1275399"/>
                      <a:pt x="24879" y="1269943"/>
                      <a:pt x="15167" y="1260232"/>
                    </a:cubicBezTo>
                    <a:cubicBezTo>
                      <a:pt x="5456" y="1250520"/>
                      <a:pt x="0" y="1237349"/>
                      <a:pt x="0" y="1223615"/>
                    </a:cubicBezTo>
                    <a:lnTo>
                      <a:pt x="0" y="51784"/>
                    </a:lnTo>
                    <a:cubicBezTo>
                      <a:pt x="0" y="38050"/>
                      <a:pt x="5456" y="24879"/>
                      <a:pt x="15167" y="15167"/>
                    </a:cubicBezTo>
                    <a:cubicBezTo>
                      <a:pt x="24879" y="5456"/>
                      <a:pt x="38050" y="0"/>
                      <a:pt x="51784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04775"/>
                <a:ext cx="1378148" cy="13801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73683" y="2624162"/>
              <a:ext cx="5905942" cy="3146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08"/>
                </a:lnSpc>
              </a:pPr>
              <a:r>
                <a:rPr lang="en-US" sz="2800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Corpus de un solo proyecto (MundiPets) — no generaliza aún a otros dominios sin replicación.</a:t>
              </a:r>
            </a:p>
            <a:p>
              <a:pPr algn="ctr">
                <a:lnSpc>
                  <a:spcPts val="3808"/>
                </a:lnSpc>
              </a:pP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127554" y="1367282"/>
              <a:ext cx="2721768" cy="710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3999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Externa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83271">
            <a:off x="-1846935" y="8019139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3" y="0"/>
                </a:lnTo>
                <a:lnTo>
                  <a:pt x="3951963" y="3324588"/>
                </a:lnTo>
                <a:lnTo>
                  <a:pt x="0" y="3324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083474">
            <a:off x="16312019" y="311616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2" y="0"/>
                </a:lnTo>
                <a:lnTo>
                  <a:pt x="3951962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57997" y="468617"/>
            <a:ext cx="2770337" cy="378761"/>
            <a:chOff x="0" y="0"/>
            <a:chExt cx="3693782" cy="5050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7997" y="3046178"/>
            <a:ext cx="8733138" cy="6603124"/>
            <a:chOff x="0" y="0"/>
            <a:chExt cx="11644184" cy="880416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1644184" cy="8804165"/>
              <a:chOff x="0" y="0"/>
              <a:chExt cx="2088279" cy="157894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088279" cy="1578947"/>
              </a:xfrm>
              <a:custGeom>
                <a:avLst/>
                <a:gdLst/>
                <a:ahLst/>
                <a:cxnLst/>
                <a:rect r="r" b="b" t="t" l="l"/>
                <a:pathLst>
                  <a:path h="1578947" w="2088279">
                    <a:moveTo>
                      <a:pt x="31027" y="0"/>
                    </a:moveTo>
                    <a:lnTo>
                      <a:pt x="2057251" y="0"/>
                    </a:lnTo>
                    <a:cubicBezTo>
                      <a:pt x="2074387" y="0"/>
                      <a:pt x="2088279" y="13891"/>
                      <a:pt x="2088279" y="31027"/>
                    </a:cubicBezTo>
                    <a:lnTo>
                      <a:pt x="2088279" y="1547920"/>
                    </a:lnTo>
                    <a:cubicBezTo>
                      <a:pt x="2088279" y="1556149"/>
                      <a:pt x="2085010" y="1564041"/>
                      <a:pt x="2079191" y="1569860"/>
                    </a:cubicBezTo>
                    <a:cubicBezTo>
                      <a:pt x="2073372" y="1575678"/>
                      <a:pt x="2065480" y="1578947"/>
                      <a:pt x="2057251" y="1578947"/>
                    </a:cubicBezTo>
                    <a:lnTo>
                      <a:pt x="31027" y="1578947"/>
                    </a:lnTo>
                    <a:cubicBezTo>
                      <a:pt x="22798" y="1578947"/>
                      <a:pt x="14907" y="1575678"/>
                      <a:pt x="9088" y="1569860"/>
                    </a:cubicBezTo>
                    <a:cubicBezTo>
                      <a:pt x="3269" y="1564041"/>
                      <a:pt x="0" y="1556149"/>
                      <a:pt x="0" y="1547920"/>
                    </a:cubicBezTo>
                    <a:lnTo>
                      <a:pt x="0" y="31027"/>
                    </a:lnTo>
                    <a:cubicBezTo>
                      <a:pt x="0" y="22798"/>
                      <a:pt x="3269" y="14907"/>
                      <a:pt x="9088" y="9088"/>
                    </a:cubicBezTo>
                    <a:cubicBezTo>
                      <a:pt x="14907" y="3269"/>
                      <a:pt x="22798" y="0"/>
                      <a:pt x="31027" y="0"/>
                    </a:cubicBezTo>
                    <a:close/>
                  </a:path>
                </a:pathLst>
              </a:custGeom>
              <a:solidFill>
                <a:srgbClr val="FEDB9E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04775"/>
                <a:ext cx="2088279" cy="1683722"/>
              </a:xfrm>
              <a:prstGeom prst="rect">
                <a:avLst/>
              </a:prstGeom>
            </p:spPr>
            <p:txBody>
              <a:bodyPr anchor="ctr" rtlCol="false" tIns="55952" lIns="55952" bIns="55952" rIns="55952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2588483"/>
              <a:ext cx="11104715" cy="5452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8625" indent="-324312" lvl="1">
                <a:lnSpc>
                  <a:spcPts val="4085"/>
                </a:lnSpc>
                <a:buFont typeface="Arial"/>
                <a:buChar char="•"/>
              </a:pPr>
              <a:r>
                <a:rPr lang="en-US" sz="3004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RQ1 — El detector alcanza 80.3% de exactitud y acuerdo moderado con los expertos (κ=0.530); con N=61 la asociación es estadísticamente significativa (χ²=15.037, p=0.0001).</a:t>
              </a:r>
            </a:p>
            <a:p>
              <a:pPr algn="l" marL="648625" indent="-324312" lvl="1">
                <a:lnSpc>
                  <a:spcPts val="4085"/>
                </a:lnSpc>
                <a:buFont typeface="Arial"/>
                <a:buChar char="•"/>
              </a:pPr>
              <a:r>
                <a:rPr lang="en-US" sz="3004">
                  <a:solidFill>
                    <a:srgbClr val="5D3700"/>
                  </a:solidFill>
                  <a:latin typeface="Sniglet"/>
                  <a:ea typeface="Sniglet"/>
                  <a:cs typeface="Sniglet"/>
                  <a:sym typeface="Sniglet"/>
                </a:rPr>
                <a:t>RQ2 — El detector sobre-marca ambigüedad; el desacuerdo se concentra en terminología imprecisa y cuantificadores vagos.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539803" y="1162058"/>
              <a:ext cx="8114036" cy="11434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5"/>
                </a:lnSpc>
              </a:pPr>
              <a:r>
                <a:rPr lang="en-US" sz="3500" b="true">
                  <a:solidFill>
                    <a:srgbClr val="5D3700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Respuestas a las preguntas de investigación</a:t>
              </a:r>
            </a:p>
          </p:txBody>
        </p:sp>
        <p:sp>
          <p:nvSpPr>
            <p:cNvPr name="Freeform 14" id="14"/>
            <p:cNvSpPr/>
            <p:nvPr/>
          </p:nvSpPr>
          <p:spPr>
            <a:xfrm flipH="false" flipV="false" rot="0">
              <a:off x="494270" y="620858"/>
              <a:ext cx="1684623" cy="1684623"/>
            </a:xfrm>
            <a:custGeom>
              <a:avLst/>
              <a:gdLst/>
              <a:ahLst/>
              <a:cxnLst/>
              <a:rect r="r" b="b" t="t" l="l"/>
              <a:pathLst>
                <a:path h="1684623" w="1684623">
                  <a:moveTo>
                    <a:pt x="0" y="0"/>
                  </a:moveTo>
                  <a:lnTo>
                    <a:pt x="1684623" y="0"/>
                  </a:lnTo>
                  <a:lnTo>
                    <a:pt x="1684623" y="1684623"/>
                  </a:lnTo>
                  <a:lnTo>
                    <a:pt x="0" y="1684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795571" y="3046178"/>
            <a:ext cx="7828644" cy="6603124"/>
            <a:chOff x="0" y="0"/>
            <a:chExt cx="10438192" cy="880416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438192" cy="8804165"/>
              <a:chOff x="0" y="0"/>
              <a:chExt cx="2061865" cy="173909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061865" cy="1739094"/>
              </a:xfrm>
              <a:custGeom>
                <a:avLst/>
                <a:gdLst/>
                <a:ahLst/>
                <a:cxnLst/>
                <a:rect r="r" b="b" t="t" l="l"/>
                <a:pathLst>
                  <a:path h="1739094" w="2061865">
                    <a:moveTo>
                      <a:pt x="34612" y="0"/>
                    </a:moveTo>
                    <a:lnTo>
                      <a:pt x="2027253" y="0"/>
                    </a:lnTo>
                    <a:cubicBezTo>
                      <a:pt x="2046369" y="0"/>
                      <a:pt x="2061865" y="15496"/>
                      <a:pt x="2061865" y="34612"/>
                    </a:cubicBezTo>
                    <a:lnTo>
                      <a:pt x="2061865" y="1704482"/>
                    </a:lnTo>
                    <a:cubicBezTo>
                      <a:pt x="2061865" y="1723598"/>
                      <a:pt x="2046369" y="1739094"/>
                      <a:pt x="2027253" y="1739094"/>
                    </a:cubicBezTo>
                    <a:lnTo>
                      <a:pt x="34612" y="1739094"/>
                    </a:lnTo>
                    <a:cubicBezTo>
                      <a:pt x="15496" y="1739094"/>
                      <a:pt x="0" y="1723598"/>
                      <a:pt x="0" y="1704482"/>
                    </a:cubicBezTo>
                    <a:lnTo>
                      <a:pt x="0" y="34612"/>
                    </a:lnTo>
                    <a:cubicBezTo>
                      <a:pt x="0" y="15496"/>
                      <a:pt x="15496" y="0"/>
                      <a:pt x="34612" y="0"/>
                    </a:cubicBezTo>
                    <a:close/>
                  </a:path>
                </a:pathLst>
              </a:custGeom>
              <a:solidFill>
                <a:srgbClr val="A2D6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04775"/>
                <a:ext cx="2061865" cy="18438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78354" y="2228054"/>
              <a:ext cx="9681485" cy="6138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080"/>
                </a:lnSpc>
                <a:buFont typeface="Arial"/>
                <a:buChar char="•"/>
              </a:pPr>
              <a:r>
                <a:rPr lang="en-US" sz="3000">
                  <a:solidFill>
                    <a:srgbClr val="0D3889"/>
                  </a:solidFill>
                  <a:latin typeface="Sniglet"/>
                  <a:ea typeface="Sniglet"/>
                  <a:cs typeface="Sniglet"/>
                  <a:sym typeface="Sniglet"/>
                </a:rPr>
                <a:t>Ampliar la muestra más allá de N=61 para ganar potencia estadística.</a:t>
              </a:r>
            </a:p>
            <a:p>
              <a:pPr algn="l" marL="647700" indent="-323850" lvl="1">
                <a:lnSpc>
                  <a:spcPts val="4080"/>
                </a:lnSpc>
                <a:buFont typeface="Arial"/>
                <a:buChar char="•"/>
              </a:pPr>
              <a:r>
                <a:rPr lang="en-US" sz="3000">
                  <a:solidFill>
                    <a:srgbClr val="0D3889"/>
                  </a:solidFill>
                  <a:latin typeface="Sniglet"/>
                  <a:ea typeface="Sniglet"/>
                  <a:cs typeface="Sniglet"/>
                  <a:sym typeface="Sniglet"/>
                </a:rPr>
                <a:t>Calibrar o ponderar las reglas del detector, en especial las asociadas a terminología imprecisa.</a:t>
              </a:r>
            </a:p>
            <a:p>
              <a:pPr algn="l" marL="647700" indent="-323850" lvl="1">
                <a:lnSpc>
                  <a:spcPts val="4080"/>
                </a:lnSpc>
                <a:buFont typeface="Arial"/>
                <a:buChar char="•"/>
              </a:pPr>
              <a:r>
                <a:rPr lang="en-US" sz="3000">
                  <a:solidFill>
                    <a:srgbClr val="0D3889"/>
                  </a:solidFill>
                  <a:latin typeface="Sniglet"/>
                  <a:ea typeface="Sniglet"/>
                  <a:cs typeface="Sniglet"/>
                  <a:sym typeface="Sniglet"/>
                </a:rPr>
                <a:t>Replicar el protocolo preregistrado sobre corpus de otros proyectos e idiomas, usando el paquete de réplica publicado.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768678" y="839988"/>
              <a:ext cx="4003504" cy="610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5"/>
                </a:lnSpc>
              </a:pPr>
              <a:r>
                <a:rPr lang="en-US" sz="3500" b="true">
                  <a:solidFill>
                    <a:srgbClr val="0D3889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Trabajo futuro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868761" y="327087"/>
              <a:ext cx="1540575" cy="1540575"/>
            </a:xfrm>
            <a:custGeom>
              <a:avLst/>
              <a:gdLst/>
              <a:ahLst/>
              <a:cxnLst/>
              <a:rect r="r" b="b" t="t" l="l"/>
              <a:pathLst>
                <a:path h="1540575" w="1540575">
                  <a:moveTo>
                    <a:pt x="0" y="0"/>
                  </a:moveTo>
                  <a:lnTo>
                    <a:pt x="1540575" y="0"/>
                  </a:lnTo>
                  <a:lnTo>
                    <a:pt x="1540575" y="1540575"/>
                  </a:lnTo>
                  <a:lnTo>
                    <a:pt x="0" y="1540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705539" y="1602431"/>
            <a:ext cx="14180063" cy="942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5"/>
              </a:lnSpc>
            </a:pPr>
            <a:r>
              <a:rPr lang="en-US" sz="7500" b="true">
                <a:solidFill>
                  <a:srgbClr val="0D3889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Conclusiones y trabajo futuro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692466" y="0"/>
            <a:ext cx="2386273" cy="2058720"/>
            <a:chOff x="0" y="0"/>
            <a:chExt cx="3181697" cy="2744959"/>
          </a:xfrm>
        </p:grpSpPr>
        <p:sp>
          <p:nvSpPr>
            <p:cNvPr name="Freeform 24" id="24"/>
            <p:cNvSpPr/>
            <p:nvPr/>
          </p:nvSpPr>
          <p:spPr>
            <a:xfrm flipH="false" flipV="false" rot="1964618">
              <a:off x="1380624" y="1159860"/>
              <a:ext cx="1587685" cy="1255473"/>
            </a:xfrm>
            <a:custGeom>
              <a:avLst/>
              <a:gdLst/>
              <a:ahLst/>
              <a:cxnLst/>
              <a:rect r="r" b="b" t="t" l="l"/>
              <a:pathLst>
                <a:path h="1255473" w="1587685">
                  <a:moveTo>
                    <a:pt x="0" y="0"/>
                  </a:moveTo>
                  <a:lnTo>
                    <a:pt x="1587684" y="0"/>
                  </a:lnTo>
                  <a:lnTo>
                    <a:pt x="1587684" y="1255473"/>
                  </a:lnTo>
                  <a:lnTo>
                    <a:pt x="0" y="12554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-1084807">
              <a:off x="148339" y="205297"/>
              <a:ext cx="1513418" cy="1196747"/>
            </a:xfrm>
            <a:custGeom>
              <a:avLst/>
              <a:gdLst/>
              <a:ahLst/>
              <a:cxnLst/>
              <a:rect r="r" b="b" t="t" l="l"/>
              <a:pathLst>
                <a:path h="1196747" w="1513418">
                  <a:moveTo>
                    <a:pt x="0" y="0"/>
                  </a:moveTo>
                  <a:lnTo>
                    <a:pt x="1513419" y="0"/>
                  </a:lnTo>
                  <a:lnTo>
                    <a:pt x="1513419" y="1196746"/>
                  </a:lnTo>
                  <a:lnTo>
                    <a:pt x="0" y="1196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983271">
            <a:off x="-1975981" y="7812249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2" y="0"/>
                </a:lnTo>
                <a:lnTo>
                  <a:pt x="3951962" y="3324589"/>
                </a:lnTo>
                <a:lnTo>
                  <a:pt x="0" y="3324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083474">
            <a:off x="16590046" y="7547915"/>
            <a:ext cx="3951963" cy="3324589"/>
          </a:xfrm>
          <a:custGeom>
            <a:avLst/>
            <a:gdLst/>
            <a:ahLst/>
            <a:cxnLst/>
            <a:rect r="r" b="b" t="t" l="l"/>
            <a:pathLst>
              <a:path h="3324589" w="3951963">
                <a:moveTo>
                  <a:pt x="0" y="0"/>
                </a:moveTo>
                <a:lnTo>
                  <a:pt x="3951962" y="0"/>
                </a:lnTo>
                <a:lnTo>
                  <a:pt x="3951962" y="3324588"/>
                </a:lnTo>
                <a:lnTo>
                  <a:pt x="0" y="3324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56044" y="934009"/>
            <a:ext cx="12882603" cy="204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4"/>
              </a:lnSpc>
            </a:pPr>
            <a:r>
              <a:rPr lang="en-US" sz="8499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Demostración corta del prototipo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7997" y="468617"/>
            <a:ext cx="2770337" cy="378761"/>
            <a:chOff x="0" y="0"/>
            <a:chExt cx="3693782" cy="5050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7997" y="5143500"/>
            <a:ext cx="7287492" cy="3815861"/>
            <a:chOff x="0" y="0"/>
            <a:chExt cx="9716656" cy="508781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716656" cy="5087815"/>
              <a:chOff x="0" y="0"/>
              <a:chExt cx="1919339" cy="100500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19339" cy="1005001"/>
              </a:xfrm>
              <a:custGeom>
                <a:avLst/>
                <a:gdLst/>
                <a:ahLst/>
                <a:cxnLst/>
                <a:rect r="r" b="b" t="t" l="l"/>
                <a:pathLst>
                  <a:path h="1005001" w="1919339">
                    <a:moveTo>
                      <a:pt x="37183" y="0"/>
                    </a:moveTo>
                    <a:lnTo>
                      <a:pt x="1882157" y="0"/>
                    </a:lnTo>
                    <a:cubicBezTo>
                      <a:pt x="1892018" y="0"/>
                      <a:pt x="1901476" y="3917"/>
                      <a:pt x="1908449" y="10891"/>
                    </a:cubicBezTo>
                    <a:cubicBezTo>
                      <a:pt x="1915422" y="17864"/>
                      <a:pt x="1919339" y="27321"/>
                      <a:pt x="1919339" y="37183"/>
                    </a:cubicBezTo>
                    <a:lnTo>
                      <a:pt x="1919339" y="967818"/>
                    </a:lnTo>
                    <a:cubicBezTo>
                      <a:pt x="1919339" y="988353"/>
                      <a:pt x="1902692" y="1005001"/>
                      <a:pt x="1882157" y="1005001"/>
                    </a:cubicBezTo>
                    <a:lnTo>
                      <a:pt x="37183" y="1005001"/>
                    </a:lnTo>
                    <a:cubicBezTo>
                      <a:pt x="27321" y="1005001"/>
                      <a:pt x="17864" y="1001083"/>
                      <a:pt x="10891" y="994110"/>
                    </a:cubicBezTo>
                    <a:cubicBezTo>
                      <a:pt x="3917" y="987137"/>
                      <a:pt x="0" y="977679"/>
                      <a:pt x="0" y="967818"/>
                    </a:cubicBezTo>
                    <a:lnTo>
                      <a:pt x="0" y="37183"/>
                    </a:lnTo>
                    <a:cubicBezTo>
                      <a:pt x="0" y="27321"/>
                      <a:pt x="3917" y="17864"/>
                      <a:pt x="10891" y="10891"/>
                    </a:cubicBezTo>
                    <a:cubicBezTo>
                      <a:pt x="17864" y="3917"/>
                      <a:pt x="27321" y="0"/>
                      <a:pt x="37183" y="0"/>
                    </a:cubicBezTo>
                    <a:close/>
                  </a:path>
                </a:pathLst>
              </a:custGeom>
              <a:solidFill>
                <a:srgbClr val="EFE3D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04775"/>
                <a:ext cx="1919339" cy="11097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372133" y="1816661"/>
              <a:ext cx="8629592" cy="251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08"/>
                </a:lnSpc>
              </a:pPr>
              <a:r>
                <a:rPr lang="en-US" sz="2800">
                  <a:solidFill>
                    <a:srgbClr val="0D3889"/>
                  </a:solidFill>
                  <a:latin typeface="Sniglet"/>
                  <a:ea typeface="Sniglet"/>
                  <a:cs typeface="Sniglet"/>
                  <a:sym typeface="Sniglet"/>
                </a:rPr>
                <a:t>Un propietario registra una mascota con su información básica. Es el caso base del que dependen los demás procesos (mayor puntaje WSJF).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360377" y="807409"/>
              <a:ext cx="6653104" cy="710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3999" b="true">
                  <a:solidFill>
                    <a:srgbClr val="0D3889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Escenario 1 — TR-01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66674" y="5050824"/>
            <a:ext cx="7287492" cy="3908537"/>
            <a:chOff x="0" y="0"/>
            <a:chExt cx="9716656" cy="521138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9716656" cy="5211383"/>
              <a:chOff x="0" y="0"/>
              <a:chExt cx="1919339" cy="102940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19339" cy="1029409"/>
              </a:xfrm>
              <a:custGeom>
                <a:avLst/>
                <a:gdLst/>
                <a:ahLst/>
                <a:cxnLst/>
                <a:rect r="r" b="b" t="t" l="l"/>
                <a:pathLst>
                  <a:path h="1029409" w="1919339">
                    <a:moveTo>
                      <a:pt x="37183" y="0"/>
                    </a:moveTo>
                    <a:lnTo>
                      <a:pt x="1882157" y="0"/>
                    </a:lnTo>
                    <a:cubicBezTo>
                      <a:pt x="1892018" y="0"/>
                      <a:pt x="1901476" y="3917"/>
                      <a:pt x="1908449" y="10891"/>
                    </a:cubicBezTo>
                    <a:cubicBezTo>
                      <a:pt x="1915422" y="17864"/>
                      <a:pt x="1919339" y="27321"/>
                      <a:pt x="1919339" y="37183"/>
                    </a:cubicBezTo>
                    <a:lnTo>
                      <a:pt x="1919339" y="992226"/>
                    </a:lnTo>
                    <a:cubicBezTo>
                      <a:pt x="1919339" y="1012762"/>
                      <a:pt x="1902692" y="1029409"/>
                      <a:pt x="1882157" y="1029409"/>
                    </a:cubicBezTo>
                    <a:lnTo>
                      <a:pt x="37183" y="1029409"/>
                    </a:lnTo>
                    <a:cubicBezTo>
                      <a:pt x="27321" y="1029409"/>
                      <a:pt x="17864" y="1025492"/>
                      <a:pt x="10891" y="1018518"/>
                    </a:cubicBezTo>
                    <a:cubicBezTo>
                      <a:pt x="3917" y="1011545"/>
                      <a:pt x="0" y="1002088"/>
                      <a:pt x="0" y="992226"/>
                    </a:cubicBezTo>
                    <a:lnTo>
                      <a:pt x="0" y="37183"/>
                    </a:lnTo>
                    <a:cubicBezTo>
                      <a:pt x="0" y="27321"/>
                      <a:pt x="3917" y="17864"/>
                      <a:pt x="10891" y="10891"/>
                    </a:cubicBezTo>
                    <a:cubicBezTo>
                      <a:pt x="17864" y="3917"/>
                      <a:pt x="27321" y="0"/>
                      <a:pt x="37183" y="0"/>
                    </a:cubicBezTo>
                    <a:close/>
                  </a:path>
                </a:pathLst>
              </a:custGeom>
              <a:solidFill>
                <a:srgbClr val="EFE3D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04775"/>
                <a:ext cx="1919339" cy="11341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72133" y="1651904"/>
              <a:ext cx="8629592" cy="2511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08"/>
                </a:lnSpc>
              </a:pPr>
              <a:r>
                <a:rPr lang="en-US" sz="2800">
                  <a:solidFill>
                    <a:srgbClr val="0D3889"/>
                  </a:solidFill>
                  <a:latin typeface="Sniglet"/>
                  <a:ea typeface="Sniglet"/>
                  <a:cs typeface="Sniglet"/>
                  <a:sym typeface="Sniglet"/>
                </a:rPr>
                <a:t>Evaluación de compatibilidad para cruza, implementada como heurística de reglas explicables (no ML entrenado) — limitación documentada honestamente.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360377" y="642653"/>
              <a:ext cx="6653104" cy="710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39"/>
                </a:lnSpc>
              </a:pPr>
              <a:r>
                <a:rPr lang="en-US" sz="3999" b="true">
                  <a:solidFill>
                    <a:srgbClr val="0D3889"/>
                  </a:solidFill>
                  <a:latin typeface="Balsamiq Sans Bold"/>
                  <a:ea typeface="Balsamiq Sans Bold"/>
                  <a:cs typeface="Balsamiq Sans Bold"/>
                  <a:sym typeface="Balsamiq Sans Bold"/>
                </a:rPr>
                <a:t>Escenario 2 — TR-06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428334" y="3404476"/>
            <a:ext cx="11476680" cy="46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280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MVP: 100% de cobertura de RF (27/27), incluidos los 15 requisitos Must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038647" y="965414"/>
            <a:ext cx="1849182" cy="1755194"/>
            <a:chOff x="0" y="0"/>
            <a:chExt cx="2465577" cy="2340258"/>
          </a:xfrm>
        </p:grpSpPr>
        <p:sp>
          <p:nvSpPr>
            <p:cNvPr name="Freeform 23" id="23"/>
            <p:cNvSpPr/>
            <p:nvPr/>
          </p:nvSpPr>
          <p:spPr>
            <a:xfrm flipH="false" flipV="false" rot="-1033563">
              <a:off x="266167" y="1082295"/>
              <a:ext cx="1794927" cy="1014950"/>
            </a:xfrm>
            <a:custGeom>
              <a:avLst/>
              <a:gdLst/>
              <a:ahLst/>
              <a:cxnLst/>
              <a:rect r="r" b="b" t="t" l="l"/>
              <a:pathLst>
                <a:path h="1014950" w="1794927">
                  <a:moveTo>
                    <a:pt x="0" y="0"/>
                  </a:moveTo>
                  <a:lnTo>
                    <a:pt x="1794926" y="0"/>
                  </a:lnTo>
                  <a:lnTo>
                    <a:pt x="1794926" y="1014950"/>
                  </a:lnTo>
                  <a:lnTo>
                    <a:pt x="0" y="101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-1134938">
              <a:off x="118891" y="331272"/>
              <a:ext cx="2227795" cy="1104615"/>
            </a:xfrm>
            <a:custGeom>
              <a:avLst/>
              <a:gdLst/>
              <a:ahLst/>
              <a:cxnLst/>
              <a:rect r="r" b="b" t="t" l="l"/>
              <a:pathLst>
                <a:path h="1104615" w="2227795">
                  <a:moveTo>
                    <a:pt x="0" y="0"/>
                  </a:moveTo>
                  <a:lnTo>
                    <a:pt x="2227795" y="0"/>
                  </a:lnTo>
                  <a:lnTo>
                    <a:pt x="2227795" y="1104615"/>
                  </a:lnTo>
                  <a:lnTo>
                    <a:pt x="0" y="1104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72953" y="1138601"/>
            <a:ext cx="1740426" cy="1408820"/>
            <a:chOff x="0" y="0"/>
            <a:chExt cx="2320567" cy="1878427"/>
          </a:xfrm>
        </p:grpSpPr>
        <p:sp>
          <p:nvSpPr>
            <p:cNvPr name="Freeform 26" id="26"/>
            <p:cNvSpPr/>
            <p:nvPr/>
          </p:nvSpPr>
          <p:spPr>
            <a:xfrm flipH="false" flipV="false" rot="1490239">
              <a:off x="108119" y="761108"/>
              <a:ext cx="1491100" cy="843149"/>
            </a:xfrm>
            <a:custGeom>
              <a:avLst/>
              <a:gdLst/>
              <a:ahLst/>
              <a:cxnLst/>
              <a:rect r="r" b="b" t="t" l="l"/>
              <a:pathLst>
                <a:path h="843149" w="1491100">
                  <a:moveTo>
                    <a:pt x="0" y="0"/>
                  </a:moveTo>
                  <a:lnTo>
                    <a:pt x="1491100" y="0"/>
                  </a:lnTo>
                  <a:lnTo>
                    <a:pt x="1491100" y="843149"/>
                  </a:lnTo>
                  <a:lnTo>
                    <a:pt x="0" y="843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1388864">
              <a:off x="364003" y="326820"/>
              <a:ext cx="1850697" cy="917637"/>
            </a:xfrm>
            <a:custGeom>
              <a:avLst/>
              <a:gdLst/>
              <a:ahLst/>
              <a:cxnLst/>
              <a:rect r="r" b="b" t="t" l="l"/>
              <a:pathLst>
                <a:path h="917637" w="1850697">
                  <a:moveTo>
                    <a:pt x="0" y="0"/>
                  </a:moveTo>
                  <a:lnTo>
                    <a:pt x="1850697" y="0"/>
                  </a:lnTo>
                  <a:lnTo>
                    <a:pt x="1850697" y="917637"/>
                  </a:lnTo>
                  <a:lnTo>
                    <a:pt x="0" y="917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4107956" y="4203838"/>
            <a:ext cx="10117437" cy="46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2800">
                <a:solidFill>
                  <a:srgbClr val="1F2937"/>
                </a:solidFill>
                <a:latin typeface="Sniglet"/>
                <a:ea typeface="Sniglet"/>
                <a:cs typeface="Sniglet"/>
                <a:sym typeface="Sniglet"/>
              </a:rPr>
              <a:t>Repositorio: </a:t>
            </a:r>
            <a:r>
              <a:rPr lang="en-US" sz="2800" u="sng">
                <a:solidFill>
                  <a:srgbClr val="1F2937"/>
                </a:solidFill>
                <a:latin typeface="Sniglet"/>
                <a:ea typeface="Sniglet"/>
                <a:cs typeface="Sniglet"/>
                <a:sym typeface="Sniglet"/>
                <a:hlinkClick r:id="rId10" tooltip="https://github.com/jnievess-lang/MVP_MundiPets.git"/>
              </a:rPr>
              <a:t>github.com/jnievess-lang/MVP_MundiPets.git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8694" y="8812330"/>
            <a:ext cx="19335746" cy="3841030"/>
          </a:xfrm>
          <a:custGeom>
            <a:avLst/>
            <a:gdLst/>
            <a:ahLst/>
            <a:cxnLst/>
            <a:rect r="r" b="b" t="t" l="l"/>
            <a:pathLst>
              <a:path h="3841030" w="19335746">
                <a:moveTo>
                  <a:pt x="0" y="0"/>
                </a:moveTo>
                <a:lnTo>
                  <a:pt x="19335746" y="0"/>
                </a:lnTo>
                <a:lnTo>
                  <a:pt x="19335746" y="3841030"/>
                </a:lnTo>
                <a:lnTo>
                  <a:pt x="0" y="38410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17627" y="7041094"/>
            <a:ext cx="3785992" cy="4114800"/>
          </a:xfrm>
          <a:custGeom>
            <a:avLst/>
            <a:gdLst/>
            <a:ahLst/>
            <a:cxnLst/>
            <a:rect r="r" b="b" t="t" l="l"/>
            <a:pathLst>
              <a:path h="4114800" w="3785992">
                <a:moveTo>
                  <a:pt x="0" y="0"/>
                </a:moveTo>
                <a:lnTo>
                  <a:pt x="3785992" y="0"/>
                </a:lnTo>
                <a:lnTo>
                  <a:pt x="37859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77670" y="7888017"/>
            <a:ext cx="1210477" cy="1210477"/>
          </a:xfrm>
          <a:custGeom>
            <a:avLst/>
            <a:gdLst/>
            <a:ahLst/>
            <a:cxnLst/>
            <a:rect r="r" b="b" t="t" l="l"/>
            <a:pathLst>
              <a:path h="1210477" w="1210477">
                <a:moveTo>
                  <a:pt x="0" y="0"/>
                </a:moveTo>
                <a:lnTo>
                  <a:pt x="1210478" y="0"/>
                </a:lnTo>
                <a:lnTo>
                  <a:pt x="1210478" y="1210477"/>
                </a:lnTo>
                <a:lnTo>
                  <a:pt x="0" y="12104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684176" y="7041094"/>
            <a:ext cx="3785992" cy="4114800"/>
          </a:xfrm>
          <a:custGeom>
            <a:avLst/>
            <a:gdLst/>
            <a:ahLst/>
            <a:cxnLst/>
            <a:rect r="r" b="b" t="t" l="l"/>
            <a:pathLst>
              <a:path h="4114800" w="3785992">
                <a:moveTo>
                  <a:pt x="3785991" y="0"/>
                </a:moveTo>
                <a:lnTo>
                  <a:pt x="0" y="0"/>
                </a:lnTo>
                <a:lnTo>
                  <a:pt x="0" y="4114800"/>
                </a:lnTo>
                <a:lnTo>
                  <a:pt x="3785991" y="4114800"/>
                </a:lnTo>
                <a:lnTo>
                  <a:pt x="378599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819082" y="8047823"/>
            <a:ext cx="1210477" cy="1210477"/>
          </a:xfrm>
          <a:custGeom>
            <a:avLst/>
            <a:gdLst/>
            <a:ahLst/>
            <a:cxnLst/>
            <a:rect r="r" b="b" t="t" l="l"/>
            <a:pathLst>
              <a:path h="1210477" w="1210477">
                <a:moveTo>
                  <a:pt x="1210477" y="0"/>
                </a:moveTo>
                <a:lnTo>
                  <a:pt x="0" y="0"/>
                </a:lnTo>
                <a:lnTo>
                  <a:pt x="0" y="1210477"/>
                </a:lnTo>
                <a:lnTo>
                  <a:pt x="1210477" y="1210477"/>
                </a:lnTo>
                <a:lnTo>
                  <a:pt x="1210477" y="0"/>
                </a:lnTo>
                <a:close/>
              </a:path>
            </a:pathLst>
          </a:custGeom>
          <a:blipFill>
            <a:blip r:embed="rId7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253856">
            <a:off x="5924717" y="-1083087"/>
            <a:ext cx="5760414" cy="2922101"/>
          </a:xfrm>
          <a:custGeom>
            <a:avLst/>
            <a:gdLst/>
            <a:ahLst/>
            <a:cxnLst/>
            <a:rect r="r" b="b" t="t" l="l"/>
            <a:pathLst>
              <a:path h="2922101" w="5760414">
                <a:moveTo>
                  <a:pt x="0" y="0"/>
                </a:moveTo>
                <a:lnTo>
                  <a:pt x="5760414" y="0"/>
                </a:lnTo>
                <a:lnTo>
                  <a:pt x="5760414" y="2922101"/>
                </a:lnTo>
                <a:lnTo>
                  <a:pt x="0" y="29221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553023" y="7614015"/>
            <a:ext cx="1031341" cy="867616"/>
          </a:xfrm>
          <a:custGeom>
            <a:avLst/>
            <a:gdLst/>
            <a:ahLst/>
            <a:cxnLst/>
            <a:rect r="r" b="b" t="t" l="l"/>
            <a:pathLst>
              <a:path h="867616" w="1031341">
                <a:moveTo>
                  <a:pt x="0" y="0"/>
                </a:moveTo>
                <a:lnTo>
                  <a:pt x="1031341" y="0"/>
                </a:lnTo>
                <a:lnTo>
                  <a:pt x="1031341" y="867615"/>
                </a:lnTo>
                <a:lnTo>
                  <a:pt x="0" y="8676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78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46998" y="1028700"/>
            <a:ext cx="2620054" cy="1214752"/>
          </a:xfrm>
          <a:custGeom>
            <a:avLst/>
            <a:gdLst/>
            <a:ahLst/>
            <a:cxnLst/>
            <a:rect r="r" b="b" t="t" l="l"/>
            <a:pathLst>
              <a:path h="1214752" w="2620054">
                <a:moveTo>
                  <a:pt x="0" y="0"/>
                </a:moveTo>
                <a:lnTo>
                  <a:pt x="2620054" y="0"/>
                </a:lnTo>
                <a:lnTo>
                  <a:pt x="2620054" y="1214752"/>
                </a:lnTo>
                <a:lnTo>
                  <a:pt x="0" y="12147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490945" y="3139148"/>
            <a:ext cx="2620054" cy="1214752"/>
          </a:xfrm>
          <a:custGeom>
            <a:avLst/>
            <a:gdLst/>
            <a:ahLst/>
            <a:cxnLst/>
            <a:rect r="r" b="b" t="t" l="l"/>
            <a:pathLst>
              <a:path h="1214752" w="2620054">
                <a:moveTo>
                  <a:pt x="0" y="0"/>
                </a:moveTo>
                <a:lnTo>
                  <a:pt x="2620054" y="0"/>
                </a:lnTo>
                <a:lnTo>
                  <a:pt x="2620054" y="1214752"/>
                </a:lnTo>
                <a:lnTo>
                  <a:pt x="0" y="12147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04246" y="813743"/>
            <a:ext cx="2770337" cy="378761"/>
            <a:chOff x="0" y="0"/>
            <a:chExt cx="3693782" cy="5050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357" cy="505014"/>
            </a:xfrm>
            <a:custGeom>
              <a:avLst/>
              <a:gdLst/>
              <a:ahLst/>
              <a:cxnLst/>
              <a:rect r="r" b="b" t="t" l="l"/>
              <a:pathLst>
                <a:path h="505014" w="658357">
                  <a:moveTo>
                    <a:pt x="0" y="0"/>
                  </a:moveTo>
                  <a:lnTo>
                    <a:pt x="658357" y="0"/>
                  </a:lnTo>
                  <a:lnTo>
                    <a:pt x="658357" y="505014"/>
                  </a:lnTo>
                  <a:lnTo>
                    <a:pt x="0" y="50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930695" y="-57441"/>
              <a:ext cx="2763087" cy="560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>
                  <a:solidFill>
                    <a:srgbClr val="FFFFFF"/>
                  </a:solidFill>
                  <a:latin typeface="Jua"/>
                  <a:ea typeface="Jua"/>
                  <a:cs typeface="Jua"/>
                  <a:sym typeface="Jua"/>
                </a:rPr>
                <a:t>MundiPets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143063" y="4299258"/>
            <a:ext cx="12882603" cy="1555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75"/>
              </a:lnSpc>
            </a:pPr>
            <a:r>
              <a:rPr lang="en-US" sz="12500" b="true">
                <a:solidFill>
                  <a:srgbClr val="FFFFFF"/>
                </a:solidFill>
                <a:latin typeface="Balsamiq Sans Bold"/>
                <a:ea typeface="Balsamiq Sans Bold"/>
                <a:cs typeface="Balsamiq Sans Bold"/>
                <a:sym typeface="Balsamiq Sans Bold"/>
              </a:rPr>
              <a:t>Muchas 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DAHT4kZ3B1s</dc:identifier>
  <dcterms:modified xsi:type="dcterms:W3CDTF">2011-08-01T06:04:30Z</dcterms:modified>
  <cp:revision>1</cp:revision>
  <dc:title>Presentación</dc:title>
</cp:coreProperties>
</file>